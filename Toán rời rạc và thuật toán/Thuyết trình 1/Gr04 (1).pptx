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Mokoto" charset="1" panose="00000000000000000000"/>
      <p:regular r:id="rId24"/>
    </p:embeddedFont>
    <p:embeddedFont>
      <p:font typeface="Times New Roman" charset="1" panose="02020603050405020304"/>
      <p:regular r:id="rId25"/>
    </p:embeddedFont>
    <p:embeddedFont>
      <p:font typeface="Canva Sans Bold" charset="1" panose="020B0803030501040103"/>
      <p:regular r:id="rId26"/>
    </p:embeddedFont>
    <p:embeddedFont>
      <p:font typeface="Roboto" charset="1" panose="02000000000000000000"/>
      <p:regular r:id="rId27"/>
    </p:embeddedFont>
    <p:embeddedFont>
      <p:font typeface="Arimo Bold" charset="1" panose="020B0704020202020204"/>
      <p:regular r:id="rId31"/>
    </p:embeddedFont>
    <p:embeddedFont>
      <p:font typeface="Arimo" charset="1" panose="020B0604020202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Bình thường sẽ lấy dữ liệu trong database nhưng ở đây nhóm e sẽ dùng file excel</a:t>
            </a:r>
          </a:p>
          <a:p>
            <a:r>
              <a:rPr lang="en-US"/>
              <a:t/>
            </a:r>
          </a:p>
          <a:p>
            <a:r>
              <a:rPr lang="en-US"/>
              <a:t>Dữ liệu ban đầu gồm 3 bảng</a:t>
            </a:r>
          </a:p>
          <a:p>
            <a:r>
              <a:rPr lang="en-US"/>
              <a:t>=&gt; Môn học và tên sinh viên học môn đó</a:t>
            </a:r>
          </a:p>
          <a:p>
            <a:r>
              <a:rPr lang="en-US"/>
              <a:t/>
            </a:r>
          </a:p>
          <a:p>
            <a:r>
              <a:rPr lang="en-US"/>
              <a:t>=&gt; tính tỉ lệ trùng =&gt; ma trận kề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Code để ở trong file trên link classroom</a:t>
            </a:r>
          </a:p>
          <a:p>
            <a:r>
              <a:rPr lang="en-US"/>
              <a:t/>
            </a:r>
          </a:p>
          <a:p>
            <a:r>
              <a:rPr lang="en-US"/>
              <a:t>Màu càng đậm thể hiện cho tỉ lệ trùng càng cao, = 0 là ko có xung đột</a:t>
            </a:r>
          </a:p>
          <a:p>
            <a:r>
              <a:rPr lang="en-US"/>
              <a:t/>
            </a:r>
          </a:p>
          <a:p>
            <a:r>
              <a:rPr lang="en-US"/>
              <a:t>=&gt; đồ thị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p>
          <a:p>
            <a:r>
              <a:rPr lang="en-US"/>
              <a:t>=&gt; Sắp xếp đỉnh theo bậc</a:t>
            </a:r>
          </a:p>
          <a:p>
            <a:r>
              <a:rPr lang="en-US"/>
              <a:t/>
            </a:r>
          </a:p>
          <a:p>
            <a:r>
              <a:rPr lang="en-US"/>
              <a:t>Môn học có bậc càng cao thì sẽ càng trùng nhiều sinh viên và càng khó sắp xếp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áp dụng tô màu đồ thị</a:t>
            </a:r>
          </a:p>
          <a:p>
            <a:r>
              <a:rPr lang="en-US"/>
              <a:t/>
            </a:r>
          </a:p>
          <a:p>
            <a:r>
              <a:rPr lang="en-US"/>
              <a:t>=&gt; sang 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CS220 =&gt; CS219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CS217 =&gt; CS302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CS211 =&gt; SE110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Vẽ đồ thị để có cái nhìn trực quan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file code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8944306" y="5180427"/>
            <a:ext cx="399388" cy="8135684"/>
          </a:xfrm>
          <a:custGeom>
            <a:avLst/>
            <a:gdLst/>
            <a:ahLst/>
            <a:cxnLst/>
            <a:rect r="r" b="b" t="t" l="l"/>
            <a:pathLst>
              <a:path h="8135684" w="399388">
                <a:moveTo>
                  <a:pt x="0" y="0"/>
                </a:moveTo>
                <a:lnTo>
                  <a:pt x="399388" y="0"/>
                </a:lnTo>
                <a:lnTo>
                  <a:pt x="399388" y="8135683"/>
                </a:lnTo>
                <a:lnTo>
                  <a:pt x="0" y="8135683"/>
                </a:lnTo>
                <a:lnTo>
                  <a:pt x="0" y="0"/>
                </a:lnTo>
                <a:close/>
              </a:path>
            </a:pathLst>
          </a:custGeom>
          <a:blipFill>
            <a:blip r:embed="rId3">
              <a:alphaModFix amt="65999"/>
            </a:blip>
            <a:stretch>
              <a:fillRect l="0" t="0" r="0" b="0"/>
            </a:stretch>
          </a:blipFill>
        </p:spPr>
      </p:sp>
      <p:sp>
        <p:nvSpPr>
          <p:cNvPr name="Freeform 7" id="7"/>
          <p:cNvSpPr/>
          <p:nvPr/>
        </p:nvSpPr>
        <p:spPr>
          <a:xfrm flipH="false" flipV="false" rot="-10800000">
            <a:off x="-895973" y="-128681"/>
            <a:ext cx="3775893" cy="3604261"/>
          </a:xfrm>
          <a:custGeom>
            <a:avLst/>
            <a:gdLst/>
            <a:ahLst/>
            <a:cxnLst/>
            <a:rect r="r" b="b" t="t" l="l"/>
            <a:pathLst>
              <a:path h="3604261" w="3775893">
                <a:moveTo>
                  <a:pt x="0" y="0"/>
                </a:moveTo>
                <a:lnTo>
                  <a:pt x="3775893" y="0"/>
                </a:lnTo>
                <a:lnTo>
                  <a:pt x="3775893" y="3604262"/>
                </a:lnTo>
                <a:lnTo>
                  <a:pt x="0" y="36042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0800000">
            <a:off x="15576737" y="7107131"/>
            <a:ext cx="3775893" cy="3604261"/>
          </a:xfrm>
          <a:custGeom>
            <a:avLst/>
            <a:gdLst/>
            <a:ahLst/>
            <a:cxnLst/>
            <a:rect r="r" b="b" t="t" l="l"/>
            <a:pathLst>
              <a:path h="3604261" w="3775893">
                <a:moveTo>
                  <a:pt x="0" y="0"/>
                </a:moveTo>
                <a:lnTo>
                  <a:pt x="3775893" y="0"/>
                </a:lnTo>
                <a:lnTo>
                  <a:pt x="3775893" y="3604261"/>
                </a:lnTo>
                <a:lnTo>
                  <a:pt x="0" y="3604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2044192" y="3628209"/>
            <a:ext cx="14567046" cy="1875095"/>
          </a:xfrm>
          <a:prstGeom prst="rect">
            <a:avLst/>
          </a:prstGeom>
        </p:spPr>
        <p:txBody>
          <a:bodyPr anchor="t" rtlCol="false" tIns="0" lIns="0" bIns="0" rIns="0">
            <a:spAutoFit/>
          </a:bodyPr>
          <a:lstStyle/>
          <a:p>
            <a:pPr algn="ctr">
              <a:lnSpc>
                <a:spcPts val="15298"/>
              </a:lnSpc>
            </a:pPr>
            <a:r>
              <a:rPr lang="en-US" sz="10927" spc="-109">
                <a:solidFill>
                  <a:srgbClr val="348BFF"/>
                </a:solidFill>
                <a:latin typeface="Mokoto"/>
                <a:ea typeface="Mokoto"/>
                <a:cs typeface="Mokoto"/>
                <a:sym typeface="Mokoto"/>
              </a:rPr>
              <a:t>NHÓM 4</a:t>
            </a:r>
          </a:p>
        </p:txBody>
      </p:sp>
      <p:sp>
        <p:nvSpPr>
          <p:cNvPr name="TextBox 10" id="10"/>
          <p:cNvSpPr txBox="true"/>
          <p:nvPr/>
        </p:nvSpPr>
        <p:spPr>
          <a:xfrm rot="0">
            <a:off x="2547853" y="6025093"/>
            <a:ext cx="13927155" cy="1082038"/>
          </a:xfrm>
          <a:prstGeom prst="rect">
            <a:avLst/>
          </a:prstGeom>
        </p:spPr>
        <p:txBody>
          <a:bodyPr anchor="t" rtlCol="false" tIns="0" lIns="0" bIns="0" rIns="0">
            <a:spAutoFit/>
          </a:bodyPr>
          <a:lstStyle/>
          <a:p>
            <a:pPr algn="ctr">
              <a:lnSpc>
                <a:spcPts val="8610"/>
              </a:lnSpc>
            </a:pPr>
            <a:r>
              <a:rPr lang="en-US" sz="6150">
                <a:solidFill>
                  <a:srgbClr val="348BFF"/>
                </a:solidFill>
                <a:latin typeface="Times New Roman"/>
                <a:ea typeface="Times New Roman"/>
                <a:cs typeface="Times New Roman"/>
                <a:sym typeface="Times New Roman"/>
              </a:rPr>
              <a:t>Bài toán xếp lịch thi sử dụng tô màu đồ thị</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407264">
            <a:off x="13760017" y="6817824"/>
            <a:ext cx="4768277" cy="4551537"/>
          </a:xfrm>
          <a:custGeom>
            <a:avLst/>
            <a:gdLst/>
            <a:ahLst/>
            <a:cxnLst/>
            <a:rect r="r" b="b" t="t" l="l"/>
            <a:pathLst>
              <a:path h="4551537" w="4768277">
                <a:moveTo>
                  <a:pt x="4768277" y="0"/>
                </a:moveTo>
                <a:lnTo>
                  <a:pt x="0" y="0"/>
                </a:lnTo>
                <a:lnTo>
                  <a:pt x="0" y="4551537"/>
                </a:lnTo>
                <a:lnTo>
                  <a:pt x="4768277" y="4551537"/>
                </a:lnTo>
                <a:lnTo>
                  <a:pt x="47682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275">
            <a:off x="12646576" y="-298239"/>
            <a:ext cx="6995160" cy="5246370"/>
            <a:chOff x="0" y="0"/>
            <a:chExt cx="812800" cy="609600"/>
          </a:xfrm>
        </p:grpSpPr>
        <p:sp>
          <p:nvSpPr>
            <p:cNvPr name="Freeform 8" id="8"/>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5"/>
              <a:stretch>
                <a:fillRect l="0" t="0" r="-13324" b="0"/>
              </a:stretch>
            </a:blipFill>
          </p:spPr>
        </p:sp>
      </p:grpSp>
      <p:grpSp>
        <p:nvGrpSpPr>
          <p:cNvPr name="Group 9" id="9"/>
          <p:cNvGrpSpPr/>
          <p:nvPr/>
        </p:nvGrpSpPr>
        <p:grpSpPr>
          <a:xfrm rot="3275">
            <a:off x="9023612" y="5146831"/>
            <a:ext cx="6995160" cy="5246370"/>
            <a:chOff x="0" y="0"/>
            <a:chExt cx="812800" cy="609600"/>
          </a:xfrm>
        </p:grpSpPr>
        <p:sp>
          <p:nvSpPr>
            <p:cNvPr name="Freeform 10" id="10"/>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6"/>
              <a:stretch>
                <a:fillRect l="-6739" t="0" r="-5619" b="0"/>
              </a:stretch>
            </a:blipFill>
          </p:spPr>
        </p:sp>
      </p:grpSp>
      <p:sp>
        <p:nvSpPr>
          <p:cNvPr name="Freeform 11" id="11"/>
          <p:cNvSpPr/>
          <p:nvPr/>
        </p:nvSpPr>
        <p:spPr>
          <a:xfrm flipH="true" flipV="false" rot="-10792239">
            <a:off x="-724606" y="8954135"/>
            <a:ext cx="2702689" cy="2579840"/>
          </a:xfrm>
          <a:custGeom>
            <a:avLst/>
            <a:gdLst/>
            <a:ahLst/>
            <a:cxnLst/>
            <a:rect r="r" b="b" t="t" l="l"/>
            <a:pathLst>
              <a:path h="2579840" w="2702689">
                <a:moveTo>
                  <a:pt x="2702689" y="0"/>
                </a:moveTo>
                <a:lnTo>
                  <a:pt x="0" y="0"/>
                </a:lnTo>
                <a:lnTo>
                  <a:pt x="0" y="2579840"/>
                </a:lnTo>
                <a:lnTo>
                  <a:pt x="2702689" y="2579840"/>
                </a:lnTo>
                <a:lnTo>
                  <a:pt x="27026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626738" y="550533"/>
            <a:ext cx="2291645" cy="652047"/>
            <a:chOff x="0" y="0"/>
            <a:chExt cx="3055526" cy="869397"/>
          </a:xfrm>
        </p:grpSpPr>
        <p:grpSp>
          <p:nvGrpSpPr>
            <p:cNvPr name="Group 13" id="13"/>
            <p:cNvGrpSpPr/>
            <p:nvPr/>
          </p:nvGrpSpPr>
          <p:grpSpPr>
            <a:xfrm rot="0">
              <a:off x="0" y="0"/>
              <a:ext cx="747138" cy="869397"/>
              <a:chOff x="0" y="0"/>
              <a:chExt cx="698500" cy="812800"/>
            </a:xfrm>
          </p:grpSpPr>
          <p:sp>
            <p:nvSpPr>
              <p:cNvPr name="Freeform 14" id="14"/>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5" id="15"/>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6" id="16"/>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TextBox 17" id="17"/>
          <p:cNvSpPr txBox="true"/>
          <p:nvPr/>
        </p:nvSpPr>
        <p:spPr>
          <a:xfrm rot="0">
            <a:off x="525140" y="3896137"/>
            <a:ext cx="5756523" cy="887095"/>
          </a:xfrm>
          <a:prstGeom prst="rect">
            <a:avLst/>
          </a:prstGeom>
        </p:spPr>
        <p:txBody>
          <a:bodyPr anchor="t" rtlCol="false" tIns="0" lIns="0" bIns="0" rIns="0">
            <a:spAutoFit/>
          </a:bodyPr>
          <a:lstStyle/>
          <a:p>
            <a:pPr algn="ctr" marL="1122679" indent="-561340" lvl="1">
              <a:lnSpc>
                <a:spcPts val="7279"/>
              </a:lnSpc>
              <a:buFont typeface="Arial"/>
              <a:buChar char="•"/>
            </a:pPr>
            <a:r>
              <a:rPr lang="en-US" b="true" sz="5199">
                <a:solidFill>
                  <a:srgbClr val="FFFFFF"/>
                </a:solidFill>
                <a:latin typeface="Canva Sans Bold"/>
                <a:ea typeface="Canva Sans Bold"/>
                <a:cs typeface="Canva Sans Bold"/>
                <a:sym typeface="Canva Sans Bold"/>
              </a:rPr>
              <a:t>Mô tả bài toán</a:t>
            </a:r>
          </a:p>
        </p:txBody>
      </p:sp>
      <p:sp>
        <p:nvSpPr>
          <p:cNvPr name="TextBox 18" id="18"/>
          <p:cNvSpPr txBox="true"/>
          <p:nvPr/>
        </p:nvSpPr>
        <p:spPr>
          <a:xfrm rot="0">
            <a:off x="525140" y="5325825"/>
            <a:ext cx="7513141" cy="887095"/>
          </a:xfrm>
          <a:prstGeom prst="rect">
            <a:avLst/>
          </a:prstGeom>
        </p:spPr>
        <p:txBody>
          <a:bodyPr anchor="t" rtlCol="false" tIns="0" lIns="0" bIns="0" rIns="0">
            <a:spAutoFit/>
          </a:bodyPr>
          <a:lstStyle/>
          <a:p>
            <a:pPr algn="ctr" marL="1122679" indent="-561340" lvl="1">
              <a:lnSpc>
                <a:spcPts val="7279"/>
              </a:lnSpc>
              <a:buFont typeface="Arial"/>
              <a:buChar char="•"/>
            </a:pPr>
            <a:r>
              <a:rPr lang="en-US" b="true" sz="5199">
                <a:solidFill>
                  <a:srgbClr val="FFFFFF"/>
                </a:solidFill>
                <a:latin typeface="Canva Sans Bold"/>
                <a:ea typeface="Canva Sans Bold"/>
                <a:cs typeface="Canva Sans Bold"/>
                <a:sym typeface="Canva Sans Bold"/>
              </a:rPr>
              <a:t>Các bước thực hiện</a:t>
            </a:r>
          </a:p>
        </p:txBody>
      </p:sp>
      <p:sp>
        <p:nvSpPr>
          <p:cNvPr name="TextBox 19" id="19"/>
          <p:cNvSpPr txBox="true"/>
          <p:nvPr/>
        </p:nvSpPr>
        <p:spPr>
          <a:xfrm rot="0">
            <a:off x="525140" y="6704569"/>
            <a:ext cx="7378601" cy="887095"/>
          </a:xfrm>
          <a:prstGeom prst="rect">
            <a:avLst/>
          </a:prstGeom>
        </p:spPr>
        <p:txBody>
          <a:bodyPr anchor="t" rtlCol="false" tIns="0" lIns="0" bIns="0" rIns="0">
            <a:spAutoFit/>
          </a:bodyPr>
          <a:lstStyle/>
          <a:p>
            <a:pPr algn="ctr" marL="1122679" indent="-561340" lvl="1">
              <a:lnSpc>
                <a:spcPts val="7279"/>
              </a:lnSpc>
              <a:buFont typeface="Arial"/>
              <a:buChar char="•"/>
            </a:pPr>
            <a:r>
              <a:rPr lang="en-US" b="true" sz="5199">
                <a:solidFill>
                  <a:srgbClr val="FFFFFF"/>
                </a:solidFill>
                <a:latin typeface="Canva Sans Bold"/>
                <a:ea typeface="Canva Sans Bold"/>
                <a:cs typeface="Canva Sans Bold"/>
                <a:sym typeface="Canva Sans Bold"/>
              </a:rPr>
              <a:t>Áp dụng thuật toán</a:t>
            </a:r>
          </a:p>
        </p:txBody>
      </p:sp>
      <p:sp>
        <p:nvSpPr>
          <p:cNvPr name="TextBox 20" id="20"/>
          <p:cNvSpPr txBox="true"/>
          <p:nvPr/>
        </p:nvSpPr>
        <p:spPr>
          <a:xfrm rot="0">
            <a:off x="0" y="1729518"/>
            <a:ext cx="13053478"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Bài toán xếp lịch thi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626738" y="2489079"/>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TextBox 14" id="14"/>
          <p:cNvSpPr txBox="true"/>
          <p:nvPr/>
        </p:nvSpPr>
        <p:spPr>
          <a:xfrm rot="0">
            <a:off x="1079181" y="3064496"/>
            <a:ext cx="14494969" cy="11988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Giả sử một trường đại học cần xếp lịch thi cho n môn học. Mục tiêu là xếp các môn vào các ca thi sao cho có các ràng buộc sau đây</a:t>
            </a:r>
          </a:p>
          <a:p>
            <a:pPr algn="l">
              <a:lnSpc>
                <a:spcPts val="3220"/>
              </a:lnSpc>
            </a:pPr>
          </a:p>
        </p:txBody>
      </p:sp>
      <p:sp>
        <p:nvSpPr>
          <p:cNvPr name="TextBox 15" id="15"/>
          <p:cNvSpPr txBox="true"/>
          <p:nvPr/>
        </p:nvSpPr>
        <p:spPr>
          <a:xfrm rot="0">
            <a:off x="1028700" y="4696781"/>
            <a:ext cx="6492240" cy="19989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Ràng buộc cứng:</a:t>
            </a:r>
          </a:p>
          <a:p>
            <a:pPr algn="l" marL="496571" indent="-248285" lvl="1">
              <a:lnSpc>
                <a:spcPts val="3220"/>
              </a:lnSpc>
              <a:buFont typeface="Arial"/>
              <a:buChar char="•"/>
            </a:pPr>
            <a:r>
              <a:rPr lang="en-US" sz="2300">
                <a:solidFill>
                  <a:srgbClr val="FFFFFF"/>
                </a:solidFill>
                <a:latin typeface="Roboto"/>
                <a:ea typeface="Roboto"/>
                <a:cs typeface="Roboto"/>
                <a:sym typeface="Roboto"/>
              </a:rPr>
              <a:t>Một ngày có 2 ca thi</a:t>
            </a:r>
          </a:p>
          <a:p>
            <a:pPr algn="l" marL="496571" indent="-248285" lvl="1">
              <a:lnSpc>
                <a:spcPts val="3220"/>
              </a:lnSpc>
              <a:buFont typeface="Arial"/>
              <a:buChar char="•"/>
            </a:pPr>
            <a:r>
              <a:rPr lang="en-US" sz="2300">
                <a:solidFill>
                  <a:srgbClr val="FFFFFF"/>
                </a:solidFill>
                <a:latin typeface="Roboto"/>
                <a:ea typeface="Roboto"/>
                <a:cs typeface="Roboto"/>
                <a:sym typeface="Roboto"/>
              </a:rPr>
              <a:t>Một ca thi có tối đa 2 môn thi</a:t>
            </a:r>
          </a:p>
          <a:p>
            <a:pPr algn="l" marL="496571" indent="-248285" lvl="1">
              <a:lnSpc>
                <a:spcPts val="3220"/>
              </a:lnSpc>
              <a:buFont typeface="Arial"/>
              <a:buChar char="•"/>
            </a:pPr>
            <a:r>
              <a:rPr lang="en-US" sz="2300">
                <a:solidFill>
                  <a:srgbClr val="FFFFFF"/>
                </a:solidFill>
                <a:latin typeface="Roboto"/>
                <a:ea typeface="Roboto"/>
                <a:cs typeface="Roboto"/>
                <a:sym typeface="Roboto"/>
              </a:rPr>
              <a:t>Một sinh viên không thể thi hai môn cùng lúc</a:t>
            </a:r>
          </a:p>
          <a:p>
            <a:pPr algn="l">
              <a:lnSpc>
                <a:spcPts val="3220"/>
              </a:lnSpc>
            </a:pPr>
          </a:p>
        </p:txBody>
      </p:sp>
      <p:sp>
        <p:nvSpPr>
          <p:cNvPr name="TextBox 16" id="16"/>
          <p:cNvSpPr txBox="true"/>
          <p:nvPr/>
        </p:nvSpPr>
        <p:spPr>
          <a:xfrm rot="0">
            <a:off x="8594832" y="4696781"/>
            <a:ext cx="7768107" cy="11988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Ràng buộc mềm:</a:t>
            </a:r>
          </a:p>
          <a:p>
            <a:pPr algn="l" marL="496571" indent="-248285" lvl="1">
              <a:lnSpc>
                <a:spcPts val="3220"/>
              </a:lnSpc>
              <a:buFont typeface="Arial"/>
              <a:buChar char="•"/>
            </a:pPr>
            <a:r>
              <a:rPr lang="en-US" sz="2300">
                <a:solidFill>
                  <a:srgbClr val="FFFFFF"/>
                </a:solidFill>
                <a:latin typeface="Roboto"/>
                <a:ea typeface="Roboto"/>
                <a:cs typeface="Roboto"/>
                <a:sym typeface="Roboto"/>
              </a:rPr>
              <a:t>Ưu tiên xếp các môn thi có đông người trùng thi trước</a:t>
            </a:r>
          </a:p>
          <a:p>
            <a:pPr algn="l">
              <a:lnSpc>
                <a:spcPts val="3220"/>
              </a:lnSpc>
            </a:pPr>
          </a:p>
        </p:txBody>
      </p:sp>
      <p:sp>
        <p:nvSpPr>
          <p:cNvPr name="TextBox 17" id="17"/>
          <p:cNvSpPr txBox="true"/>
          <p:nvPr/>
        </p:nvSpPr>
        <p:spPr>
          <a:xfrm rot="0">
            <a:off x="626738" y="1281827"/>
            <a:ext cx="8907614"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MÔ TẢ BÀI TOÁN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TextBox 14" id="14"/>
          <p:cNvSpPr txBox="true"/>
          <p:nvPr/>
        </p:nvSpPr>
        <p:spPr>
          <a:xfrm rot="0">
            <a:off x="392179" y="3055784"/>
            <a:ext cx="15316624" cy="1998980"/>
          </a:xfrm>
          <a:prstGeom prst="rect">
            <a:avLst/>
          </a:prstGeom>
        </p:spPr>
        <p:txBody>
          <a:bodyPr anchor="t" rtlCol="false" tIns="0" lIns="0" bIns="0" rIns="0">
            <a:spAutoFit/>
          </a:bodyPr>
          <a:lstStyle/>
          <a:p>
            <a:pPr algn="just">
              <a:lnSpc>
                <a:spcPts val="3220"/>
              </a:lnSpc>
            </a:pPr>
            <a:r>
              <a:rPr lang="en-US" sz="2300">
                <a:solidFill>
                  <a:srgbClr val="FFFFFF"/>
                </a:solidFill>
                <a:latin typeface="Roboto"/>
                <a:ea typeface="Roboto"/>
                <a:cs typeface="Roboto"/>
                <a:sym typeface="Roboto"/>
              </a:rPr>
              <a:t>Đỉnh (V): Mỗi môn học là một đỉnh của đồ thị.</a:t>
            </a:r>
          </a:p>
          <a:p>
            <a:pPr algn="just">
              <a:lnSpc>
                <a:spcPts val="3220"/>
              </a:lnSpc>
            </a:pPr>
            <a:r>
              <a:rPr lang="en-US" sz="2300">
                <a:solidFill>
                  <a:srgbClr val="FFFFFF"/>
                </a:solidFill>
                <a:latin typeface="Roboto"/>
                <a:ea typeface="Roboto"/>
                <a:cs typeface="Roboto"/>
                <a:sym typeface="Roboto"/>
              </a:rPr>
              <a:t>Cạnh (E): Nối giữa hai môn thi khi có sinh viên đăng ký học cả hai môn đó (Xung đột)</a:t>
            </a:r>
          </a:p>
          <a:p>
            <a:pPr algn="just">
              <a:lnSpc>
                <a:spcPts val="3220"/>
              </a:lnSpc>
            </a:pPr>
            <a:r>
              <a:rPr lang="en-US" sz="2300">
                <a:solidFill>
                  <a:srgbClr val="FFFFFF"/>
                </a:solidFill>
                <a:latin typeface="Roboto"/>
                <a:ea typeface="Roboto"/>
                <a:cs typeface="Roboto"/>
                <a:sym typeface="Roboto"/>
              </a:rPr>
              <a:t>Màu sắc: Mỗi màu đại diện cho một ca thi (buổi thi) khác nhau.</a:t>
            </a:r>
          </a:p>
          <a:p>
            <a:pPr algn="just">
              <a:lnSpc>
                <a:spcPts val="3220"/>
              </a:lnSpc>
            </a:pPr>
            <a:r>
              <a:rPr lang="en-US" sz="2300">
                <a:solidFill>
                  <a:srgbClr val="FFFFFF"/>
                </a:solidFill>
                <a:latin typeface="Roboto"/>
                <a:ea typeface="Roboto"/>
                <a:cs typeface="Roboto"/>
                <a:sym typeface="Roboto"/>
              </a:rPr>
              <a:t>Mục tiêu: Dùng tô màu đồ thị để sắp xếp được lịch thi cho các môn sao cho thỏa mãn các ràng buộc của đề bài</a:t>
            </a:r>
          </a:p>
          <a:p>
            <a:pPr algn="just">
              <a:lnSpc>
                <a:spcPts val="3220"/>
              </a:lnSpc>
            </a:pPr>
          </a:p>
        </p:txBody>
      </p:sp>
      <p:sp>
        <p:nvSpPr>
          <p:cNvPr name="TextBox 15" id="15"/>
          <p:cNvSpPr txBox="true"/>
          <p:nvPr/>
        </p:nvSpPr>
        <p:spPr>
          <a:xfrm rot="0">
            <a:off x="392179" y="1207823"/>
            <a:ext cx="10057931" cy="194715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CHUYỂN ĐỔI SANG ĐỒ THỊ</a:t>
            </a:r>
          </a:p>
          <a:p>
            <a:pPr algn="l">
              <a:lnSpc>
                <a:spcPts val="7651"/>
              </a:lnSpc>
            </a:pPr>
          </a:p>
        </p:txBody>
      </p:sp>
      <p:sp>
        <p:nvSpPr>
          <p:cNvPr name="TextBox 16" id="16"/>
          <p:cNvSpPr txBox="true"/>
          <p:nvPr/>
        </p:nvSpPr>
        <p:spPr>
          <a:xfrm rot="0">
            <a:off x="392179" y="4997614"/>
            <a:ext cx="7954590" cy="19989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INPUT: Input của bài toán gồm 3 file csv</a:t>
            </a:r>
          </a:p>
          <a:p>
            <a:pPr algn="l" marL="496571" indent="-248285" lvl="1">
              <a:lnSpc>
                <a:spcPts val="3220"/>
              </a:lnSpc>
              <a:buFont typeface="Arial"/>
              <a:buChar char="•"/>
            </a:pPr>
            <a:r>
              <a:rPr lang="en-US" sz="2300">
                <a:solidFill>
                  <a:srgbClr val="FFFFFF"/>
                </a:solidFill>
                <a:latin typeface="Roboto"/>
                <a:ea typeface="Roboto"/>
                <a:cs typeface="Roboto"/>
                <a:sym typeface="Roboto"/>
              </a:rPr>
              <a:t>Bảng danh sách tên sinh viên</a:t>
            </a:r>
          </a:p>
          <a:p>
            <a:pPr algn="l" marL="496571" indent="-248285" lvl="1">
              <a:lnSpc>
                <a:spcPts val="3220"/>
              </a:lnSpc>
              <a:buFont typeface="Arial"/>
              <a:buChar char="•"/>
            </a:pPr>
            <a:r>
              <a:rPr lang="en-US" sz="2300">
                <a:solidFill>
                  <a:srgbClr val="FFFFFF"/>
                </a:solidFill>
                <a:latin typeface="Roboto"/>
                <a:ea typeface="Roboto"/>
                <a:cs typeface="Roboto"/>
                <a:sym typeface="Roboto"/>
              </a:rPr>
              <a:t>Bảng danh sách môn học</a:t>
            </a:r>
          </a:p>
          <a:p>
            <a:pPr algn="l" marL="496571" indent="-248285" lvl="1">
              <a:lnSpc>
                <a:spcPts val="3220"/>
              </a:lnSpc>
              <a:buFont typeface="Arial"/>
              <a:buChar char="•"/>
            </a:pPr>
            <a:r>
              <a:rPr lang="en-US" sz="2300">
                <a:solidFill>
                  <a:srgbClr val="FFFFFF"/>
                </a:solidFill>
                <a:latin typeface="Roboto"/>
                <a:ea typeface="Roboto"/>
                <a:cs typeface="Roboto"/>
                <a:sym typeface="Roboto"/>
              </a:rPr>
              <a:t>Bảng danh sách sinh viên đăng ký môn học</a:t>
            </a:r>
          </a:p>
          <a:p>
            <a:pPr algn="l">
              <a:lnSpc>
                <a:spcPts val="3220"/>
              </a:lnSpc>
            </a:pPr>
          </a:p>
        </p:txBody>
      </p:sp>
      <p:sp>
        <p:nvSpPr>
          <p:cNvPr name="TextBox 17" id="17"/>
          <p:cNvSpPr txBox="true"/>
          <p:nvPr/>
        </p:nvSpPr>
        <p:spPr>
          <a:xfrm rot="0">
            <a:off x="9144000" y="4997614"/>
            <a:ext cx="7954590" cy="239903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OUTPUT: Bảng các ca thi đã được sắp xếp</a:t>
            </a:r>
          </a:p>
          <a:p>
            <a:pPr algn="l" marL="496571" indent="-248285" lvl="1">
              <a:lnSpc>
                <a:spcPts val="3220"/>
              </a:lnSpc>
              <a:buFont typeface="Arial"/>
              <a:buChar char="•"/>
            </a:pPr>
            <a:r>
              <a:rPr lang="en-US" sz="2300">
                <a:solidFill>
                  <a:srgbClr val="FFFFFF"/>
                </a:solidFill>
                <a:latin typeface="Roboto"/>
                <a:ea typeface="Roboto"/>
                <a:cs typeface="Roboto"/>
                <a:sym typeface="Roboto"/>
              </a:rPr>
              <a:t>Danh sách các ca thi</a:t>
            </a:r>
          </a:p>
          <a:p>
            <a:pPr algn="l" marL="496571" indent="-248285" lvl="1">
              <a:lnSpc>
                <a:spcPts val="3220"/>
              </a:lnSpc>
              <a:buFont typeface="Arial"/>
              <a:buChar char="•"/>
            </a:pPr>
            <a:r>
              <a:rPr lang="en-US" sz="2300">
                <a:solidFill>
                  <a:srgbClr val="FFFFFF"/>
                </a:solidFill>
                <a:latin typeface="Roboto"/>
                <a:ea typeface="Roboto"/>
                <a:cs typeface="Roboto"/>
                <a:sym typeface="Roboto"/>
              </a:rPr>
              <a:t>Mỗi ca gồm tối đa 2 môn</a:t>
            </a:r>
          </a:p>
          <a:p>
            <a:pPr algn="l" marL="496571" indent="-248285" lvl="1">
              <a:lnSpc>
                <a:spcPts val="3220"/>
              </a:lnSpc>
              <a:buFont typeface="Arial"/>
              <a:buChar char="•"/>
            </a:pPr>
            <a:r>
              <a:rPr lang="en-US" sz="2300">
                <a:solidFill>
                  <a:srgbClr val="FFFFFF"/>
                </a:solidFill>
                <a:latin typeface="Roboto"/>
                <a:ea typeface="Roboto"/>
                <a:cs typeface="Roboto"/>
                <a:sym typeface="Roboto"/>
              </a:rPr>
              <a:t>Không có xung đột sinh viên</a:t>
            </a:r>
          </a:p>
          <a:p>
            <a:pPr algn="l">
              <a:lnSpc>
                <a:spcPts val="3220"/>
              </a:lnSpc>
            </a:pPr>
          </a:p>
          <a:p>
            <a:pPr algn="l">
              <a:lnSpc>
                <a:spcPts val="32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TextBox 14" id="14"/>
          <p:cNvSpPr txBox="true"/>
          <p:nvPr/>
        </p:nvSpPr>
        <p:spPr>
          <a:xfrm rot="0">
            <a:off x="392179" y="2781158"/>
            <a:ext cx="15316624" cy="11988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B1: Đọc file dữ liệu và xử lý</a:t>
            </a:r>
          </a:p>
          <a:p>
            <a:pPr algn="l" marL="496571" indent="-248285" lvl="1">
              <a:lnSpc>
                <a:spcPts val="3220"/>
              </a:lnSpc>
              <a:buFont typeface="Arial"/>
              <a:buChar char="•"/>
            </a:pPr>
            <a:r>
              <a:rPr lang="en-US" sz="2300">
                <a:solidFill>
                  <a:srgbClr val="FFFFFF"/>
                </a:solidFill>
                <a:latin typeface="Roboto"/>
                <a:ea typeface="Roboto"/>
                <a:cs typeface="Roboto"/>
                <a:sym typeface="Roboto"/>
              </a:rPr>
              <a:t> Đọc các bảng sinh viên, môn học, và sinh viên đăng ký môn học</a:t>
            </a:r>
          </a:p>
          <a:p>
            <a:pPr algn="l" marL="496571" indent="-248285" lvl="1">
              <a:lnSpc>
                <a:spcPts val="3220"/>
              </a:lnSpc>
              <a:buFont typeface="Arial"/>
              <a:buChar char="•"/>
            </a:pPr>
            <a:r>
              <a:rPr lang="en-US" sz="2300">
                <a:solidFill>
                  <a:srgbClr val="FFFFFF"/>
                </a:solidFill>
                <a:latin typeface="Roboto"/>
                <a:ea typeface="Roboto"/>
                <a:cs typeface="Roboto"/>
                <a:sym typeface="Roboto"/>
              </a:rPr>
              <a:t>Xử lý số liệu đã đọc và tổng hợp lại từng môn học có những sinh viên nào học</a:t>
            </a:r>
          </a:p>
        </p:txBody>
      </p:sp>
      <p:sp>
        <p:nvSpPr>
          <p:cNvPr name="TextBox 15" id="15"/>
          <p:cNvSpPr txBox="true"/>
          <p:nvPr/>
        </p:nvSpPr>
        <p:spPr>
          <a:xfrm rot="0">
            <a:off x="392179" y="1207823"/>
            <a:ext cx="12227102" cy="194715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CÁC BƯỚC THỰC HIỆN BÀI TOÁN</a:t>
            </a:r>
          </a:p>
          <a:p>
            <a:pPr algn="l">
              <a:lnSpc>
                <a:spcPts val="7651"/>
              </a:lnSpc>
            </a:pPr>
          </a:p>
        </p:txBody>
      </p:sp>
      <p:sp>
        <p:nvSpPr>
          <p:cNvPr name="TextBox 16" id="16"/>
          <p:cNvSpPr txBox="true"/>
          <p:nvPr/>
        </p:nvSpPr>
        <p:spPr>
          <a:xfrm rot="0">
            <a:off x="392179" y="4684888"/>
            <a:ext cx="16217119" cy="399923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B2: Xây dựng ma trận kề</a:t>
            </a:r>
          </a:p>
          <a:p>
            <a:pPr algn="l">
              <a:lnSpc>
                <a:spcPts val="3220"/>
              </a:lnSpc>
            </a:pPr>
            <a:r>
              <a:rPr lang="en-US" sz="2300">
                <a:solidFill>
                  <a:srgbClr val="FFFFFF"/>
                </a:solidFill>
                <a:latin typeface="Roboto"/>
                <a:ea typeface="Roboto"/>
                <a:cs typeface="Roboto"/>
                <a:sym typeface="Roboto"/>
              </a:rPr>
              <a:t>Từ số liệu môn học và sinh viên đã xử lý ở trên, ta tính toán từng môn có bao nhiêu sinh viên đăng ký trùng bằng công thức: </a:t>
            </a:r>
          </a:p>
          <a:p>
            <a:pPr algn="ctr">
              <a:lnSpc>
                <a:spcPts val="3220"/>
              </a:lnSpc>
            </a:pPr>
            <a:r>
              <a:rPr lang="en-US" sz="2300">
                <a:solidFill>
                  <a:srgbClr val="FFFFFF"/>
                </a:solidFill>
                <a:latin typeface="Roboto"/>
                <a:ea typeface="Roboto"/>
                <a:cs typeface="Roboto"/>
                <a:sym typeface="Roboto"/>
              </a:rPr>
              <a:t>P12 = (T12/L1) * 100</a:t>
            </a:r>
          </a:p>
          <a:p>
            <a:pPr algn="ctr">
              <a:lnSpc>
                <a:spcPts val="3220"/>
              </a:lnSpc>
            </a:pPr>
          </a:p>
          <a:p>
            <a:pPr algn="l">
              <a:lnSpc>
                <a:spcPts val="3220"/>
              </a:lnSpc>
            </a:pPr>
            <a:r>
              <a:rPr lang="en-US" sz="2300">
                <a:solidFill>
                  <a:srgbClr val="FFFFFF"/>
                </a:solidFill>
                <a:latin typeface="Roboto"/>
                <a:ea typeface="Roboto"/>
                <a:cs typeface="Roboto"/>
                <a:sym typeface="Roboto"/>
              </a:rPr>
              <a:t>Trong đó:</a:t>
            </a:r>
          </a:p>
          <a:p>
            <a:pPr algn="l">
              <a:lnSpc>
                <a:spcPts val="3220"/>
              </a:lnSpc>
            </a:pPr>
            <a:r>
              <a:rPr lang="en-US" sz="2300">
                <a:solidFill>
                  <a:srgbClr val="FFFFFF"/>
                </a:solidFill>
                <a:latin typeface="Roboto"/>
                <a:ea typeface="Roboto"/>
                <a:cs typeface="Roboto"/>
                <a:sym typeface="Roboto"/>
              </a:rPr>
              <a:t>         P12: Tỉ lệ sinh viên học trùng giữa môn học 1 và 2</a:t>
            </a:r>
          </a:p>
          <a:p>
            <a:pPr algn="l">
              <a:lnSpc>
                <a:spcPts val="3220"/>
              </a:lnSpc>
            </a:pPr>
            <a:r>
              <a:rPr lang="en-US" sz="2300">
                <a:solidFill>
                  <a:srgbClr val="FFFFFF"/>
                </a:solidFill>
                <a:latin typeface="Roboto"/>
                <a:ea typeface="Roboto"/>
                <a:cs typeface="Roboto"/>
                <a:sym typeface="Roboto"/>
              </a:rPr>
              <a:t>         T12: Số lượng sinh viên học trùng giữa 2 môn học</a:t>
            </a:r>
          </a:p>
          <a:p>
            <a:pPr algn="l">
              <a:lnSpc>
                <a:spcPts val="3220"/>
              </a:lnSpc>
            </a:pPr>
            <a:r>
              <a:rPr lang="en-US" sz="2300">
                <a:solidFill>
                  <a:srgbClr val="FFFFFF"/>
                </a:solidFill>
                <a:latin typeface="Roboto"/>
                <a:ea typeface="Roboto"/>
                <a:cs typeface="Roboto"/>
                <a:sym typeface="Roboto"/>
              </a:rPr>
              <a:t>         L1: Tổng số sinh viên học môn thứ 1</a:t>
            </a:r>
          </a:p>
          <a:p>
            <a:pPr algn="l">
              <a:lnSpc>
                <a:spcPts val="3220"/>
              </a:lnSpc>
            </a:pPr>
            <a:r>
              <a:rPr lang="en-US" sz="2300">
                <a:solidFill>
                  <a:srgbClr val="FFFFFF"/>
                </a:solidFill>
                <a:latin typeface="Roboto"/>
                <a:ea typeface="Roboto"/>
                <a:cs typeface="Roboto"/>
                <a:sym typeface="Roboto"/>
              </a:rPr>
              <a:t>Sau khi tính toán được tỉ lệ sinh viên đăng ký trùng thì ta có thể tìm được ma trận kề và vẽ được đồ thị</a:t>
            </a:r>
          </a:p>
          <a:p>
            <a:pPr algn="l">
              <a:lnSpc>
                <a:spcPts val="32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TextBox 14" id="14"/>
          <p:cNvSpPr txBox="true"/>
          <p:nvPr/>
        </p:nvSpPr>
        <p:spPr>
          <a:xfrm rot="0">
            <a:off x="392179" y="2781158"/>
            <a:ext cx="15316624" cy="19989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B3: Sắp xếp lại các đỉnh của đồ thị</a:t>
            </a:r>
          </a:p>
          <a:p>
            <a:pPr algn="l" marL="496571" indent="-248285" lvl="1">
              <a:lnSpc>
                <a:spcPts val="3220"/>
              </a:lnSpc>
              <a:buFont typeface="Arial"/>
              <a:buChar char="•"/>
            </a:pPr>
            <a:r>
              <a:rPr lang="en-US" sz="2300">
                <a:solidFill>
                  <a:srgbClr val="FFFFFF"/>
                </a:solidFill>
                <a:latin typeface="Roboto"/>
                <a:ea typeface="Roboto"/>
                <a:cs typeface="Roboto"/>
                <a:sym typeface="Roboto"/>
              </a:rPr>
              <a:t>Vì các môn có càng nhiều xung đột sẽ càng khó để sắp xếp nên ta sẽ sắp xếp lại để có thể ưu tiên xếp các môn này lên các ca thi phía trước.</a:t>
            </a:r>
          </a:p>
          <a:p>
            <a:pPr algn="l" marL="496571" indent="-248285" lvl="1">
              <a:lnSpc>
                <a:spcPts val="3220"/>
              </a:lnSpc>
              <a:buFont typeface="Arial"/>
              <a:buChar char="•"/>
            </a:pPr>
            <a:r>
              <a:rPr lang="en-US" sz="2300">
                <a:solidFill>
                  <a:srgbClr val="FFFFFF"/>
                </a:solidFill>
                <a:latin typeface="Roboto"/>
                <a:ea typeface="Roboto"/>
                <a:cs typeface="Roboto"/>
                <a:sym typeface="Roboto"/>
              </a:rPr>
              <a:t>Đỉnh nào có càng nhiều bậc thì sẽ được cho lên đầu</a:t>
            </a:r>
          </a:p>
          <a:p>
            <a:pPr algn="l">
              <a:lnSpc>
                <a:spcPts val="3220"/>
              </a:lnSpc>
            </a:pPr>
          </a:p>
        </p:txBody>
      </p:sp>
      <p:sp>
        <p:nvSpPr>
          <p:cNvPr name="TextBox 15" id="15"/>
          <p:cNvSpPr txBox="true"/>
          <p:nvPr/>
        </p:nvSpPr>
        <p:spPr>
          <a:xfrm rot="0">
            <a:off x="392179" y="1207823"/>
            <a:ext cx="12227102" cy="194715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CÁC BƯỚC THỰC HIỆN BÀI TOÁN</a:t>
            </a:r>
          </a:p>
          <a:p>
            <a:pPr algn="l">
              <a:lnSpc>
                <a:spcPts val="7651"/>
              </a:lnSpc>
            </a:pPr>
          </a:p>
        </p:txBody>
      </p:sp>
      <p:sp>
        <p:nvSpPr>
          <p:cNvPr name="TextBox 16" id="16"/>
          <p:cNvSpPr txBox="true"/>
          <p:nvPr/>
        </p:nvSpPr>
        <p:spPr>
          <a:xfrm rot="0">
            <a:off x="392179" y="4722988"/>
            <a:ext cx="16217119" cy="239903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B4: Áp dụng tô màu đồ thị và chia ca thi</a:t>
            </a:r>
          </a:p>
          <a:p>
            <a:pPr algn="l" marL="496571" indent="-248285" lvl="1">
              <a:lnSpc>
                <a:spcPts val="3220"/>
              </a:lnSpc>
              <a:buFont typeface="Arial"/>
              <a:buChar char="•"/>
            </a:pPr>
            <a:r>
              <a:rPr lang="en-US" sz="2300">
                <a:solidFill>
                  <a:srgbClr val="FFFFFF"/>
                </a:solidFill>
                <a:latin typeface="Roboto"/>
                <a:ea typeface="Roboto"/>
                <a:cs typeface="Roboto"/>
                <a:sym typeface="Roboto"/>
              </a:rPr>
              <a:t>Tô đỉnh đầu tiên bằng màu 1</a:t>
            </a:r>
          </a:p>
          <a:p>
            <a:pPr algn="l" marL="496571" indent="-248285" lvl="1">
              <a:lnSpc>
                <a:spcPts val="3220"/>
              </a:lnSpc>
              <a:buFont typeface="Arial"/>
              <a:buChar char="•"/>
            </a:pPr>
            <a:r>
              <a:rPr lang="en-US" sz="2300">
                <a:solidFill>
                  <a:srgbClr val="FFFFFF"/>
                </a:solidFill>
                <a:latin typeface="Roboto"/>
                <a:ea typeface="Roboto"/>
                <a:cs typeface="Roboto"/>
                <a:sym typeface="Roboto"/>
              </a:rPr>
              <a:t>Duyệt các đỉnh tiếp theo: Nếu không xung đột thì tô cùng màu</a:t>
            </a:r>
          </a:p>
          <a:p>
            <a:pPr algn="l" marL="496571" indent="-248285" lvl="1">
              <a:lnSpc>
                <a:spcPts val="3220"/>
              </a:lnSpc>
              <a:buFont typeface="Arial"/>
              <a:buChar char="•"/>
            </a:pPr>
            <a:r>
              <a:rPr lang="en-US" sz="2300">
                <a:solidFill>
                  <a:srgbClr val="FFFFFF"/>
                </a:solidFill>
                <a:latin typeface="Roboto"/>
                <a:ea typeface="Roboto"/>
                <a:cs typeface="Roboto"/>
                <a:sym typeface="Roboto"/>
              </a:rPr>
              <a:t>Nếu đủ 2 môn thì chuyển màu mới</a:t>
            </a:r>
          </a:p>
          <a:p>
            <a:pPr algn="l" marL="496571" indent="-248285" lvl="1">
              <a:lnSpc>
                <a:spcPts val="3220"/>
              </a:lnSpc>
              <a:buFont typeface="Arial"/>
              <a:buChar char="•"/>
            </a:pPr>
            <a:r>
              <a:rPr lang="en-US" sz="2300">
                <a:solidFill>
                  <a:srgbClr val="FFFFFF"/>
                </a:solidFill>
                <a:latin typeface="Roboto"/>
                <a:ea typeface="Roboto"/>
                <a:cs typeface="Roboto"/>
                <a:sym typeface="Roboto"/>
              </a:rPr>
              <a:t>Lặp đến khi tô hết các đỉnh</a:t>
            </a:r>
          </a:p>
          <a:p>
            <a:pPr algn="l">
              <a:lnSpc>
                <a:spcPts val="3220"/>
              </a:lnSpc>
            </a:pPr>
          </a:p>
        </p:txBody>
      </p:sp>
      <p:sp>
        <p:nvSpPr>
          <p:cNvPr name="TextBox 17" id="17"/>
          <p:cNvSpPr txBox="true"/>
          <p:nvPr/>
        </p:nvSpPr>
        <p:spPr>
          <a:xfrm rot="0">
            <a:off x="392179" y="6859270"/>
            <a:ext cx="16217119" cy="239903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Ràng buộc </a:t>
            </a:r>
          </a:p>
          <a:p>
            <a:pPr algn="l" marL="496571" indent="-248285" lvl="1">
              <a:lnSpc>
                <a:spcPts val="3220"/>
              </a:lnSpc>
              <a:buFont typeface="Arial"/>
              <a:buChar char="•"/>
            </a:pPr>
            <a:r>
              <a:rPr lang="en-US" sz="2300">
                <a:solidFill>
                  <a:srgbClr val="FFFFFF"/>
                </a:solidFill>
                <a:latin typeface="Roboto"/>
                <a:ea typeface="Roboto"/>
                <a:cs typeface="Roboto"/>
                <a:sym typeface="Roboto"/>
              </a:rPr>
              <a:t>M</a:t>
            </a:r>
            <a:r>
              <a:rPr lang="en-US" sz="2300">
                <a:solidFill>
                  <a:srgbClr val="FFFFFF"/>
                </a:solidFill>
                <a:latin typeface="Roboto"/>
                <a:ea typeface="Roboto"/>
                <a:cs typeface="Roboto"/>
                <a:sym typeface="Roboto"/>
              </a:rPr>
              <a:t>ột màu gán với một ca thi</a:t>
            </a:r>
          </a:p>
          <a:p>
            <a:pPr algn="l" marL="496571" indent="-248285" lvl="1">
              <a:lnSpc>
                <a:spcPts val="3220"/>
              </a:lnSpc>
              <a:buFont typeface="Arial"/>
              <a:buChar char="•"/>
            </a:pPr>
            <a:r>
              <a:rPr lang="en-US" sz="2300">
                <a:solidFill>
                  <a:srgbClr val="FFFFFF"/>
                </a:solidFill>
                <a:latin typeface="Roboto"/>
                <a:ea typeface="Roboto"/>
                <a:cs typeface="Roboto"/>
                <a:sym typeface="Roboto"/>
              </a:rPr>
              <a:t>Tối đa 2 môn mỗi màu</a:t>
            </a:r>
          </a:p>
          <a:p>
            <a:pPr algn="l" marL="496571" indent="-248285" lvl="1">
              <a:lnSpc>
                <a:spcPts val="3220"/>
              </a:lnSpc>
              <a:buFont typeface="Arial"/>
              <a:buChar char="•"/>
            </a:pPr>
            <a:r>
              <a:rPr lang="en-US" sz="2300">
                <a:solidFill>
                  <a:srgbClr val="FFFFFF"/>
                </a:solidFill>
                <a:latin typeface="Roboto"/>
                <a:ea typeface="Roboto"/>
                <a:cs typeface="Roboto"/>
                <a:sym typeface="Roboto"/>
              </a:rPr>
              <a:t>Hai môn nối cạnh không cùng màu</a:t>
            </a:r>
          </a:p>
          <a:p>
            <a:pPr algn="l">
              <a:lnSpc>
                <a:spcPts val="3220"/>
              </a:lnSpc>
            </a:pPr>
          </a:p>
          <a:p>
            <a:pPr algn="l">
              <a:lnSpc>
                <a:spcPts val="322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7557980" y="2684958"/>
            <a:ext cx="7468092" cy="5732139"/>
          </a:xfrm>
          <a:custGeom>
            <a:avLst/>
            <a:gdLst/>
            <a:ahLst/>
            <a:cxnLst/>
            <a:rect r="r" b="b" t="t" l="l"/>
            <a:pathLst>
              <a:path h="5732139" w="7468092">
                <a:moveTo>
                  <a:pt x="0" y="0"/>
                </a:moveTo>
                <a:lnTo>
                  <a:pt x="7468092" y="0"/>
                </a:lnTo>
                <a:lnTo>
                  <a:pt x="7468092" y="5732140"/>
                </a:lnTo>
                <a:lnTo>
                  <a:pt x="0" y="5732140"/>
                </a:lnTo>
                <a:lnTo>
                  <a:pt x="0" y="0"/>
                </a:lnTo>
                <a:close/>
              </a:path>
            </a:pathLst>
          </a:custGeom>
          <a:blipFill>
            <a:blip r:embed="rId5"/>
            <a:stretch>
              <a:fillRect l="0" t="0" r="0" b="0"/>
            </a:stretch>
          </a:blipFill>
        </p:spPr>
      </p:sp>
      <p:sp>
        <p:nvSpPr>
          <p:cNvPr name="TextBox 15" id="15"/>
          <p:cNvSpPr txBox="true"/>
          <p:nvPr/>
        </p:nvSpPr>
        <p:spPr>
          <a:xfrm rot="0">
            <a:off x="392179" y="2781158"/>
            <a:ext cx="7165801" cy="19989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Input:</a:t>
            </a:r>
          </a:p>
          <a:p>
            <a:pPr algn="l" marL="496571" indent="-248285" lvl="1">
              <a:lnSpc>
                <a:spcPts val="3220"/>
              </a:lnSpc>
              <a:buFont typeface="Arial"/>
              <a:buChar char="•"/>
            </a:pPr>
            <a:r>
              <a:rPr lang="en-US" sz="2300">
                <a:solidFill>
                  <a:srgbClr val="FFFFFF"/>
                </a:solidFill>
                <a:latin typeface="Roboto"/>
                <a:ea typeface="Roboto"/>
                <a:cs typeface="Roboto"/>
                <a:sym typeface="Roboto"/>
              </a:rPr>
              <a:t>Graph G = (V, E)</a:t>
            </a:r>
          </a:p>
          <a:p>
            <a:pPr algn="l" marL="993141" indent="-331047" lvl="2">
              <a:lnSpc>
                <a:spcPts val="3220"/>
              </a:lnSpc>
              <a:buFont typeface="Arial"/>
              <a:buChar char="⚬"/>
            </a:pPr>
            <a:r>
              <a:rPr lang="en-US" sz="2300">
                <a:solidFill>
                  <a:srgbClr val="FFFFFF"/>
                </a:solidFill>
                <a:latin typeface="Roboto"/>
                <a:ea typeface="Roboto"/>
                <a:cs typeface="Roboto"/>
                <a:sym typeface="Roboto"/>
              </a:rPr>
              <a:t>V: tập các môn học</a:t>
            </a:r>
          </a:p>
          <a:p>
            <a:pPr algn="l" marL="993141" indent="-331047" lvl="2">
              <a:lnSpc>
                <a:spcPts val="3220"/>
              </a:lnSpc>
              <a:buFont typeface="Arial"/>
              <a:buChar char="⚬"/>
            </a:pPr>
            <a:r>
              <a:rPr lang="en-US" sz="2300">
                <a:solidFill>
                  <a:srgbClr val="FFFFFF"/>
                </a:solidFill>
                <a:latin typeface="Roboto"/>
                <a:ea typeface="Roboto"/>
                <a:cs typeface="Roboto"/>
                <a:sym typeface="Roboto"/>
              </a:rPr>
              <a:t>E: tập cạnh biểu diễn xung đột</a:t>
            </a:r>
          </a:p>
          <a:p>
            <a:pPr algn="l">
              <a:lnSpc>
                <a:spcPts val="3220"/>
              </a:lnSpc>
            </a:pPr>
          </a:p>
        </p:txBody>
      </p:sp>
      <p:sp>
        <p:nvSpPr>
          <p:cNvPr name="TextBox 16" id="16"/>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MÃ GIẢ</a:t>
            </a:r>
          </a:p>
        </p:txBody>
      </p:sp>
      <p:sp>
        <p:nvSpPr>
          <p:cNvPr name="TextBox 17" id="17"/>
          <p:cNvSpPr txBox="true"/>
          <p:nvPr/>
        </p:nvSpPr>
        <p:spPr>
          <a:xfrm rot="0">
            <a:off x="392179" y="4722988"/>
            <a:ext cx="7165801" cy="159893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Output:</a:t>
            </a:r>
          </a:p>
          <a:p>
            <a:pPr algn="l" marL="496571" indent="-248285" lvl="1">
              <a:lnSpc>
                <a:spcPts val="3220"/>
              </a:lnSpc>
              <a:buFont typeface="Arial"/>
              <a:buChar char="•"/>
            </a:pPr>
            <a:r>
              <a:rPr lang="en-US" sz="2300">
                <a:solidFill>
                  <a:srgbClr val="FFFFFF"/>
                </a:solidFill>
                <a:latin typeface="Roboto"/>
                <a:ea typeface="Roboto"/>
                <a:cs typeface="Roboto"/>
                <a:sym typeface="Roboto"/>
              </a:rPr>
              <a:t>result_colors[]: mảng gán ca thi cho từng môn</a:t>
            </a:r>
          </a:p>
          <a:p>
            <a:pPr algn="l">
              <a:lnSpc>
                <a:spcPts val="3220"/>
              </a:lnSpc>
            </a:pPr>
          </a:p>
          <a:p>
            <a:pPr algn="l">
              <a:lnSpc>
                <a:spcPts val="3220"/>
              </a:lnSpc>
            </a:pPr>
          </a:p>
        </p:txBody>
      </p:sp>
      <p:sp>
        <p:nvSpPr>
          <p:cNvPr name="TextBox 18" id="18"/>
          <p:cNvSpPr txBox="true"/>
          <p:nvPr/>
        </p:nvSpPr>
        <p:spPr>
          <a:xfrm rot="0">
            <a:off x="392179" y="5932663"/>
            <a:ext cx="7165801" cy="2799080"/>
          </a:xfrm>
          <a:prstGeom prst="rect">
            <a:avLst/>
          </a:prstGeom>
        </p:spPr>
        <p:txBody>
          <a:bodyPr anchor="t" rtlCol="false" tIns="0" lIns="0" bIns="0" rIns="0">
            <a:spAutoFit/>
          </a:bodyPr>
          <a:lstStyle/>
          <a:p>
            <a:pPr algn="l">
              <a:lnSpc>
                <a:spcPts val="3220"/>
              </a:lnSpc>
            </a:pPr>
            <a:r>
              <a:rPr lang="en-US" sz="2300">
                <a:solidFill>
                  <a:srgbClr val="FFFFFF"/>
                </a:solidFill>
                <a:latin typeface="Roboto"/>
                <a:ea typeface="Roboto"/>
                <a:cs typeface="Roboto"/>
                <a:sym typeface="Roboto"/>
              </a:rPr>
              <a:t>Độ phức tạp :</a:t>
            </a:r>
          </a:p>
          <a:p>
            <a:pPr algn="l" marL="496571" indent="-248285" lvl="1">
              <a:lnSpc>
                <a:spcPts val="3220"/>
              </a:lnSpc>
              <a:buFont typeface="Arial"/>
              <a:buChar char="•"/>
            </a:pPr>
            <a:r>
              <a:rPr lang="en-US" sz="2300">
                <a:solidFill>
                  <a:srgbClr val="FFFFFF"/>
                </a:solidFill>
                <a:latin typeface="Roboto"/>
                <a:ea typeface="Roboto"/>
                <a:cs typeface="Roboto"/>
                <a:sym typeface="Roboto"/>
              </a:rPr>
              <a:t>n = |V| : số môn học (số đỉnh)</a:t>
            </a:r>
          </a:p>
          <a:p>
            <a:pPr algn="l" marL="496571" indent="-248285" lvl="1">
              <a:lnSpc>
                <a:spcPts val="3220"/>
              </a:lnSpc>
              <a:buFont typeface="Arial"/>
              <a:buChar char="•"/>
            </a:pPr>
            <a:r>
              <a:rPr lang="en-US" sz="2300">
                <a:solidFill>
                  <a:srgbClr val="FFFFFF"/>
                </a:solidFill>
                <a:latin typeface="Roboto"/>
                <a:ea typeface="Roboto"/>
                <a:cs typeface="Roboto"/>
                <a:sym typeface="Roboto"/>
              </a:rPr>
              <a:t>m = |E| : số xung đột (số cạnh)</a:t>
            </a:r>
          </a:p>
          <a:p>
            <a:pPr algn="l" marL="496571" indent="-248285" lvl="1">
              <a:lnSpc>
                <a:spcPts val="3220"/>
              </a:lnSpc>
              <a:buFont typeface="Arial"/>
              <a:buChar char="•"/>
            </a:pPr>
            <a:r>
              <a:rPr lang="en-US" sz="2300">
                <a:solidFill>
                  <a:srgbClr val="FFFFFF"/>
                </a:solidFill>
                <a:latin typeface="Roboto"/>
                <a:ea typeface="Roboto"/>
                <a:cs typeface="Roboto"/>
                <a:sym typeface="Roboto"/>
              </a:rPr>
              <a:t>Tốt và trung bình : O(n log n + m)</a:t>
            </a:r>
          </a:p>
          <a:p>
            <a:pPr algn="l" marL="496571" indent="-248285" lvl="1">
              <a:lnSpc>
                <a:spcPts val="3220"/>
              </a:lnSpc>
              <a:buFont typeface="Arial"/>
              <a:buChar char="•"/>
            </a:pPr>
            <a:r>
              <a:rPr lang="en-US" sz="2300">
                <a:solidFill>
                  <a:srgbClr val="FFFFFF"/>
                </a:solidFill>
                <a:latin typeface="Roboto"/>
                <a:ea typeface="Roboto"/>
                <a:cs typeface="Roboto"/>
                <a:sym typeface="Roboto"/>
              </a:rPr>
              <a:t>Xấu : O(n</a:t>
            </a:r>
            <a:r>
              <a:rPr lang="en-US" sz="2300">
                <a:solidFill>
                  <a:srgbClr val="FFFFFF"/>
                </a:solidFill>
                <a:latin typeface="Roboto"/>
                <a:ea typeface="Roboto"/>
                <a:cs typeface="Roboto"/>
                <a:sym typeface="Roboto"/>
              </a:rPr>
              <a:t>2</a:t>
            </a:r>
            <a:r>
              <a:rPr lang="en-US" sz="2300">
                <a:solidFill>
                  <a:srgbClr val="FFFFFF"/>
                </a:solidFill>
                <a:latin typeface="Roboto"/>
                <a:ea typeface="Roboto"/>
                <a:cs typeface="Roboto"/>
                <a:sym typeface="Roboto"/>
              </a:rPr>
              <a:t> + m)</a:t>
            </a:r>
          </a:p>
          <a:p>
            <a:pPr algn="l">
              <a:lnSpc>
                <a:spcPts val="3220"/>
              </a:lnSpc>
            </a:pPr>
          </a:p>
          <a:p>
            <a:pPr algn="l">
              <a:lnSpc>
                <a:spcPts val="322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graphicFrame>
        <p:nvGraphicFramePr>
          <p:cNvPr name="Table 14" id="14"/>
          <p:cNvGraphicFramePr>
            <a:graphicFrameLocks noGrp="true"/>
          </p:cNvGraphicFramePr>
          <p:nvPr/>
        </p:nvGraphicFramePr>
        <p:xfrm>
          <a:off x="392179" y="4293888"/>
          <a:ext cx="2091442" cy="2076450"/>
        </p:xfrm>
        <a:graphic>
          <a:graphicData uri="http://schemas.openxmlformats.org/drawingml/2006/table">
            <a:tbl>
              <a:tblPr/>
              <a:tblGrid>
                <a:gridCol w="578113"/>
              </a:tblGrid>
              <a:tr h="1038225">
                <a:tc>
                  <a:txBody>
                    <a:bodyPr anchor="t" rtlCol="false"/>
                    <a:lstStyle/>
                    <a:p>
                      <a:pPr algn="ctr">
                        <a:lnSpc>
                          <a:spcPts val="3359"/>
                        </a:lnSpc>
                        <a:defRPr/>
                      </a:pPr>
                      <a:r>
                        <a:rPr lang="en-US" b="true" sz="2399">
                          <a:solidFill>
                            <a:srgbClr val="020511"/>
                          </a:solidFill>
                          <a:latin typeface="Arimo Bold"/>
                          <a:ea typeface="Arimo Bold"/>
                          <a:cs typeface="Arimo Bold"/>
                          <a:sym typeface="Arimo Bold"/>
                        </a:rPr>
                        <a:t>Students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1038225">
                <a:tc>
                  <a:txBody>
                    <a:bodyPr anchor="t" rtlCol="false"/>
                    <a:lstStyle/>
                    <a:p>
                      <a:pPr algn="ctr">
                        <a:lnSpc>
                          <a:spcPts val="2519"/>
                        </a:lnSpc>
                        <a:defRPr/>
                      </a:pPr>
                      <a:r>
                        <a:rPr lang="en-US" sz="1799">
                          <a:solidFill>
                            <a:srgbClr val="FFFFFF"/>
                          </a:solidFill>
                          <a:latin typeface="Arimo"/>
                          <a:ea typeface="Arimo"/>
                          <a:cs typeface="Arimo"/>
                          <a:sym typeface="Arimo"/>
                        </a:rPr>
                        <a:t>Student Name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graphicFrame>
        <p:nvGraphicFramePr>
          <p:cNvPr name="Table 15" id="15"/>
          <p:cNvGraphicFramePr>
            <a:graphicFrameLocks noGrp="true"/>
          </p:cNvGraphicFramePr>
          <p:nvPr/>
        </p:nvGraphicFramePr>
        <p:xfrm>
          <a:off x="392179" y="6782928"/>
          <a:ext cx="2091442" cy="3095625"/>
        </p:xfrm>
        <a:graphic>
          <a:graphicData uri="http://schemas.openxmlformats.org/drawingml/2006/table">
            <a:tbl>
              <a:tblPr/>
              <a:tblGrid>
                <a:gridCol w="578113"/>
              </a:tblGrid>
              <a:tr h="1031875">
                <a:tc>
                  <a:txBody>
                    <a:bodyPr anchor="t" rtlCol="false"/>
                    <a:lstStyle/>
                    <a:p>
                      <a:pPr algn="ctr">
                        <a:lnSpc>
                          <a:spcPts val="3359"/>
                        </a:lnSpc>
                        <a:defRPr/>
                      </a:pPr>
                      <a:r>
                        <a:rPr lang="en-US" sz="2399" b="true">
                          <a:solidFill>
                            <a:srgbClr val="020511"/>
                          </a:solidFill>
                          <a:latin typeface="Arimo Bold"/>
                          <a:ea typeface="Arimo Bold"/>
                          <a:cs typeface="Arimo Bold"/>
                          <a:sym typeface="Arimo Bold"/>
                        </a:rPr>
                        <a:t>Co</a:t>
                      </a:r>
                      <a:r>
                        <a:rPr lang="en-US" b="true" sz="2399">
                          <a:solidFill>
                            <a:srgbClr val="020511"/>
                          </a:solidFill>
                          <a:latin typeface="Arimo Bold"/>
                          <a:ea typeface="Arimo Bold"/>
                          <a:cs typeface="Arimo Bold"/>
                          <a:sym typeface="Arimo Bold"/>
                        </a:rPr>
                        <a:t>urses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1031875">
                <a:tc>
                  <a:txBody>
                    <a:bodyPr anchor="t" rtlCol="false"/>
                    <a:lstStyle/>
                    <a:p>
                      <a:pPr algn="ctr">
                        <a:lnSpc>
                          <a:spcPts val="2519"/>
                        </a:lnSpc>
                        <a:defRPr/>
                      </a:pPr>
                      <a:r>
                        <a:rPr lang="en-US" sz="1799">
                          <a:solidFill>
                            <a:srgbClr val="FFFFFF"/>
                          </a:solidFill>
                          <a:latin typeface="Arimo"/>
                          <a:ea typeface="Arimo"/>
                          <a:cs typeface="Arimo"/>
                          <a:sym typeface="Arimo"/>
                        </a:rPr>
                        <a:t>Co</a:t>
                      </a:r>
                      <a:r>
                        <a:rPr lang="en-US" sz="1799">
                          <a:solidFill>
                            <a:srgbClr val="FFFFFF"/>
                          </a:solidFill>
                          <a:latin typeface="Arimo"/>
                          <a:ea typeface="Arimo"/>
                          <a:cs typeface="Arimo"/>
                          <a:sym typeface="Arimo"/>
                        </a:rPr>
                        <a:t>urse Code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031875">
                <a:tc>
                  <a:txBody>
                    <a:bodyPr anchor="t" rtlCol="false"/>
                    <a:lstStyle/>
                    <a:p>
                      <a:pPr algn="ctr">
                        <a:lnSpc>
                          <a:spcPts val="2519"/>
                        </a:lnSpc>
                        <a:defRPr/>
                      </a:pPr>
                      <a:r>
                        <a:rPr lang="en-US" sz="1799">
                          <a:solidFill>
                            <a:srgbClr val="FFFFFF"/>
                          </a:solidFill>
                          <a:latin typeface="Arimo"/>
                          <a:ea typeface="Arimo"/>
                          <a:cs typeface="Arimo"/>
                          <a:sym typeface="Arimo"/>
                        </a:rPr>
                        <a:t>Course Name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graphicFrame>
        <p:nvGraphicFramePr>
          <p:cNvPr name="Table 16" id="16"/>
          <p:cNvGraphicFramePr>
            <a:graphicFrameLocks noGrp="true"/>
          </p:cNvGraphicFramePr>
          <p:nvPr/>
        </p:nvGraphicFramePr>
        <p:xfrm>
          <a:off x="2918383" y="5493869"/>
          <a:ext cx="2832720" cy="3095625"/>
        </p:xfrm>
        <a:graphic>
          <a:graphicData uri="http://schemas.openxmlformats.org/drawingml/2006/table">
            <a:tbl>
              <a:tblPr/>
              <a:tblGrid>
                <a:gridCol w="1065693"/>
              </a:tblGrid>
              <a:tr h="1031875">
                <a:tc>
                  <a:txBody>
                    <a:bodyPr anchor="t" rtlCol="false"/>
                    <a:lstStyle/>
                    <a:p>
                      <a:pPr algn="ctr">
                        <a:lnSpc>
                          <a:spcPts val="3359"/>
                        </a:lnSpc>
                        <a:defRPr/>
                      </a:pPr>
                      <a:r>
                        <a:rPr lang="en-US" sz="2399" b="true">
                          <a:solidFill>
                            <a:srgbClr val="020511"/>
                          </a:solidFill>
                          <a:latin typeface="Arimo Bold"/>
                          <a:ea typeface="Arimo Bold"/>
                          <a:cs typeface="Arimo Bold"/>
                          <a:sym typeface="Arimo Bold"/>
                        </a:rPr>
                        <a:t>Student_Co</a:t>
                      </a:r>
                      <a:r>
                        <a:rPr lang="en-US" b="true" sz="2399">
                          <a:solidFill>
                            <a:srgbClr val="020511"/>
                          </a:solidFill>
                          <a:latin typeface="Arimo Bold"/>
                          <a:ea typeface="Arimo Bold"/>
                          <a:cs typeface="Arimo Bold"/>
                          <a:sym typeface="Arimo Bold"/>
                        </a:rPr>
                        <a:t>urse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1031875">
                <a:tc>
                  <a:txBody>
                    <a:bodyPr anchor="t" rtlCol="false"/>
                    <a:lstStyle/>
                    <a:p>
                      <a:pPr algn="ctr">
                        <a:lnSpc>
                          <a:spcPts val="2519"/>
                        </a:lnSpc>
                        <a:defRPr/>
                      </a:pPr>
                      <a:r>
                        <a:rPr lang="en-US" sz="1799">
                          <a:solidFill>
                            <a:srgbClr val="FFFFFF"/>
                          </a:solidFill>
                          <a:latin typeface="Arimo"/>
                          <a:ea typeface="Arimo"/>
                          <a:cs typeface="Arimo"/>
                          <a:sym typeface="Arimo"/>
                        </a:rPr>
                        <a:t>St</a:t>
                      </a:r>
                      <a:r>
                        <a:rPr lang="en-US" sz="1799">
                          <a:solidFill>
                            <a:srgbClr val="FFFFFF"/>
                          </a:solidFill>
                          <a:latin typeface="Arimo"/>
                          <a:ea typeface="Arimo"/>
                          <a:cs typeface="Arimo"/>
                          <a:sym typeface="Arimo"/>
                        </a:rPr>
                        <a:t>udent Name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031875">
                <a:tc>
                  <a:txBody>
                    <a:bodyPr anchor="t" rtlCol="false"/>
                    <a:lstStyle/>
                    <a:p>
                      <a:pPr algn="ctr">
                        <a:lnSpc>
                          <a:spcPts val="2519"/>
                        </a:lnSpc>
                        <a:defRPr/>
                      </a:pPr>
                      <a:r>
                        <a:rPr lang="en-US" sz="1799">
                          <a:solidFill>
                            <a:srgbClr val="FFFFFF"/>
                          </a:solidFill>
                          <a:latin typeface="Arimo"/>
                          <a:ea typeface="Arimo"/>
                          <a:cs typeface="Arimo"/>
                          <a:sym typeface="Arimo"/>
                        </a:rPr>
                        <a:t>Course Code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Freeform 17" id="17"/>
          <p:cNvSpPr/>
          <p:nvPr/>
        </p:nvSpPr>
        <p:spPr>
          <a:xfrm flipH="false" flipV="false" rot="0">
            <a:off x="6684553" y="3894966"/>
            <a:ext cx="11178873" cy="5775923"/>
          </a:xfrm>
          <a:custGeom>
            <a:avLst/>
            <a:gdLst/>
            <a:ahLst/>
            <a:cxnLst/>
            <a:rect r="r" b="b" t="t" l="l"/>
            <a:pathLst>
              <a:path h="5775923" w="11178873">
                <a:moveTo>
                  <a:pt x="0" y="0"/>
                </a:moveTo>
                <a:lnTo>
                  <a:pt x="11178873" y="0"/>
                </a:lnTo>
                <a:lnTo>
                  <a:pt x="11178873" y="5775923"/>
                </a:lnTo>
                <a:lnTo>
                  <a:pt x="0" y="5775923"/>
                </a:lnTo>
                <a:lnTo>
                  <a:pt x="0" y="0"/>
                </a:lnTo>
                <a:close/>
              </a:path>
            </a:pathLst>
          </a:custGeom>
          <a:blipFill>
            <a:blip r:embed="rId6"/>
            <a:stretch>
              <a:fillRect l="0" t="-79" r="0" b="-79"/>
            </a:stretch>
          </a:blipFill>
        </p:spPr>
      </p:sp>
      <p:sp>
        <p:nvSpPr>
          <p:cNvPr name="TextBox 18" id="18"/>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9" id="19"/>
          <p:cNvSpPr txBox="true"/>
          <p:nvPr/>
        </p:nvSpPr>
        <p:spPr>
          <a:xfrm rot="0">
            <a:off x="0" y="2747486"/>
            <a:ext cx="8573056"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B1: Đọc và xử lý số liệu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8640155" y="422793"/>
            <a:ext cx="9323396" cy="9441413"/>
          </a:xfrm>
          <a:custGeom>
            <a:avLst/>
            <a:gdLst/>
            <a:ahLst/>
            <a:cxnLst/>
            <a:rect r="r" b="b" t="t" l="l"/>
            <a:pathLst>
              <a:path h="9441413" w="9323396">
                <a:moveTo>
                  <a:pt x="0" y="0"/>
                </a:moveTo>
                <a:lnTo>
                  <a:pt x="9323396" y="0"/>
                </a:lnTo>
                <a:lnTo>
                  <a:pt x="9323396" y="9441414"/>
                </a:lnTo>
                <a:lnTo>
                  <a:pt x="0" y="9441414"/>
                </a:lnTo>
                <a:lnTo>
                  <a:pt x="0" y="0"/>
                </a:lnTo>
                <a:close/>
              </a:path>
            </a:pathLst>
          </a:custGeom>
          <a:blipFill>
            <a:blip r:embed="rId6"/>
            <a:stretch>
              <a:fillRect l="0" t="0" r="0" b="0"/>
            </a:stretch>
          </a:blipFill>
        </p:spPr>
      </p:sp>
      <p:sp>
        <p:nvSpPr>
          <p:cNvPr name="TextBox 15" id="15"/>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6" id="16"/>
          <p:cNvSpPr txBox="true"/>
          <p:nvPr/>
        </p:nvSpPr>
        <p:spPr>
          <a:xfrm rot="0">
            <a:off x="211794" y="2717230"/>
            <a:ext cx="7937676"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B2: Xây dựng ma trận kề</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9046138" y="1028700"/>
            <a:ext cx="8591403" cy="8548121"/>
          </a:xfrm>
          <a:custGeom>
            <a:avLst/>
            <a:gdLst/>
            <a:ahLst/>
            <a:cxnLst/>
            <a:rect r="r" b="b" t="t" l="l"/>
            <a:pathLst>
              <a:path h="8548121" w="8591403">
                <a:moveTo>
                  <a:pt x="0" y="0"/>
                </a:moveTo>
                <a:lnTo>
                  <a:pt x="8591403" y="0"/>
                </a:lnTo>
                <a:lnTo>
                  <a:pt x="8591403" y="8548121"/>
                </a:lnTo>
                <a:lnTo>
                  <a:pt x="0" y="8548121"/>
                </a:lnTo>
                <a:lnTo>
                  <a:pt x="0" y="0"/>
                </a:lnTo>
                <a:close/>
              </a:path>
            </a:pathLst>
          </a:custGeom>
          <a:blipFill>
            <a:blip r:embed="rId6"/>
            <a:stretch>
              <a:fillRect l="0" t="0" r="0" b="0"/>
            </a:stretch>
          </a:blipFill>
        </p:spPr>
      </p:sp>
      <p:sp>
        <p:nvSpPr>
          <p:cNvPr name="TextBox 15" id="15"/>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6" id="16"/>
          <p:cNvSpPr txBox="true"/>
          <p:nvPr/>
        </p:nvSpPr>
        <p:spPr>
          <a:xfrm rot="0">
            <a:off x="211794" y="2717230"/>
            <a:ext cx="7937676"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B2: Xây dựng ma trận kề</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9046138" y="1028700"/>
            <a:ext cx="8591403" cy="8548121"/>
          </a:xfrm>
          <a:custGeom>
            <a:avLst/>
            <a:gdLst/>
            <a:ahLst/>
            <a:cxnLst/>
            <a:rect r="r" b="b" t="t" l="l"/>
            <a:pathLst>
              <a:path h="8548121" w="8591403">
                <a:moveTo>
                  <a:pt x="0" y="0"/>
                </a:moveTo>
                <a:lnTo>
                  <a:pt x="8591403" y="0"/>
                </a:lnTo>
                <a:lnTo>
                  <a:pt x="8591403" y="8548121"/>
                </a:lnTo>
                <a:lnTo>
                  <a:pt x="0" y="8548121"/>
                </a:lnTo>
                <a:lnTo>
                  <a:pt x="0" y="0"/>
                </a:lnTo>
                <a:close/>
              </a:path>
            </a:pathLst>
          </a:custGeom>
          <a:blipFill>
            <a:blip r:embed="rId6"/>
            <a:stretch>
              <a:fillRect l="0" t="0" r="0" b="0"/>
            </a:stretch>
          </a:blipFill>
        </p:spPr>
      </p:sp>
      <p:sp>
        <p:nvSpPr>
          <p:cNvPr name="Freeform 15" id="15"/>
          <p:cNvSpPr/>
          <p:nvPr/>
        </p:nvSpPr>
        <p:spPr>
          <a:xfrm flipH="false" flipV="false" rot="0">
            <a:off x="1606338" y="5054764"/>
            <a:ext cx="5632686" cy="4856754"/>
          </a:xfrm>
          <a:custGeom>
            <a:avLst/>
            <a:gdLst/>
            <a:ahLst/>
            <a:cxnLst/>
            <a:rect r="r" b="b" t="t" l="l"/>
            <a:pathLst>
              <a:path h="4856754" w="5632686">
                <a:moveTo>
                  <a:pt x="0" y="0"/>
                </a:moveTo>
                <a:lnTo>
                  <a:pt x="5632686" y="0"/>
                </a:lnTo>
                <a:lnTo>
                  <a:pt x="5632686" y="4856754"/>
                </a:lnTo>
                <a:lnTo>
                  <a:pt x="0" y="4856754"/>
                </a:lnTo>
                <a:lnTo>
                  <a:pt x="0" y="0"/>
                </a:lnTo>
                <a:close/>
              </a:path>
            </a:pathLst>
          </a:custGeom>
          <a:blipFill>
            <a:blip r:embed="rId7"/>
            <a:stretch>
              <a:fillRect l="0" t="0" r="0" b="0"/>
            </a:stretch>
          </a:blipFill>
        </p:spPr>
      </p:sp>
      <p:sp>
        <p:nvSpPr>
          <p:cNvPr name="TextBox 16" id="16"/>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7" id="17"/>
          <p:cNvSpPr txBox="true"/>
          <p:nvPr/>
        </p:nvSpPr>
        <p:spPr>
          <a:xfrm rot="0">
            <a:off x="211794" y="2717230"/>
            <a:ext cx="7937676" cy="1811020"/>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B3: Sắp xếp lại các đỉnh theo bậc của đồ thị</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12074487" y="6528852"/>
            <a:ext cx="4152736" cy="3580676"/>
          </a:xfrm>
          <a:custGeom>
            <a:avLst/>
            <a:gdLst/>
            <a:ahLst/>
            <a:cxnLst/>
            <a:rect r="r" b="b" t="t" l="l"/>
            <a:pathLst>
              <a:path h="3580676" w="4152736">
                <a:moveTo>
                  <a:pt x="0" y="0"/>
                </a:moveTo>
                <a:lnTo>
                  <a:pt x="4152736" y="0"/>
                </a:lnTo>
                <a:lnTo>
                  <a:pt x="4152736" y="3580675"/>
                </a:lnTo>
                <a:lnTo>
                  <a:pt x="0" y="3580675"/>
                </a:lnTo>
                <a:lnTo>
                  <a:pt x="0" y="0"/>
                </a:lnTo>
                <a:close/>
              </a:path>
            </a:pathLst>
          </a:custGeom>
          <a:blipFill>
            <a:blip r:embed="rId6"/>
            <a:stretch>
              <a:fillRect l="0" t="0" r="0" b="0"/>
            </a:stretch>
          </a:blipFill>
        </p:spPr>
      </p:sp>
      <p:sp>
        <p:nvSpPr>
          <p:cNvPr name="Freeform 15" id="15"/>
          <p:cNvSpPr/>
          <p:nvPr/>
        </p:nvSpPr>
        <p:spPr>
          <a:xfrm flipH="false" flipV="false" rot="0">
            <a:off x="211794" y="4506754"/>
            <a:ext cx="11301259" cy="5509364"/>
          </a:xfrm>
          <a:custGeom>
            <a:avLst/>
            <a:gdLst/>
            <a:ahLst/>
            <a:cxnLst/>
            <a:rect r="r" b="b" t="t" l="l"/>
            <a:pathLst>
              <a:path h="5509364" w="11301259">
                <a:moveTo>
                  <a:pt x="0" y="0"/>
                </a:moveTo>
                <a:lnTo>
                  <a:pt x="11301259" y="0"/>
                </a:lnTo>
                <a:lnTo>
                  <a:pt x="11301259" y="5509364"/>
                </a:lnTo>
                <a:lnTo>
                  <a:pt x="0" y="5509364"/>
                </a:lnTo>
                <a:lnTo>
                  <a:pt x="0" y="0"/>
                </a:lnTo>
                <a:close/>
              </a:path>
            </a:pathLst>
          </a:custGeom>
          <a:blipFill>
            <a:blip r:embed="rId7"/>
            <a:stretch>
              <a:fillRect l="0" t="0" r="0" b="0"/>
            </a:stretch>
          </a:blipFill>
        </p:spPr>
      </p:sp>
      <p:sp>
        <p:nvSpPr>
          <p:cNvPr name="Freeform 16" id="16"/>
          <p:cNvSpPr/>
          <p:nvPr/>
        </p:nvSpPr>
        <p:spPr>
          <a:xfrm flipH="false" flipV="false" rot="0">
            <a:off x="9144000" y="65596"/>
            <a:ext cx="9011633" cy="6285614"/>
          </a:xfrm>
          <a:custGeom>
            <a:avLst/>
            <a:gdLst/>
            <a:ahLst/>
            <a:cxnLst/>
            <a:rect r="r" b="b" t="t" l="l"/>
            <a:pathLst>
              <a:path h="6285614" w="9011633">
                <a:moveTo>
                  <a:pt x="0" y="0"/>
                </a:moveTo>
                <a:lnTo>
                  <a:pt x="9011633" y="0"/>
                </a:lnTo>
                <a:lnTo>
                  <a:pt x="9011633" y="6285613"/>
                </a:lnTo>
                <a:lnTo>
                  <a:pt x="0" y="6285613"/>
                </a:lnTo>
                <a:lnTo>
                  <a:pt x="0" y="0"/>
                </a:lnTo>
                <a:close/>
              </a:path>
            </a:pathLst>
          </a:custGeom>
          <a:blipFill>
            <a:blip r:embed="rId8"/>
            <a:stretch>
              <a:fillRect l="0" t="0" r="0" b="0"/>
            </a:stretch>
          </a:blipFill>
        </p:spPr>
      </p:sp>
      <p:sp>
        <p:nvSpPr>
          <p:cNvPr name="TextBox 17" id="17"/>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8" id="18"/>
          <p:cNvSpPr txBox="true"/>
          <p:nvPr/>
        </p:nvSpPr>
        <p:spPr>
          <a:xfrm rot="0">
            <a:off x="211794" y="2717230"/>
            <a:ext cx="8512544"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B4: Áp dụng tô màu đồ thị</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12074487" y="6528852"/>
            <a:ext cx="4152736" cy="3580676"/>
          </a:xfrm>
          <a:custGeom>
            <a:avLst/>
            <a:gdLst/>
            <a:ahLst/>
            <a:cxnLst/>
            <a:rect r="r" b="b" t="t" l="l"/>
            <a:pathLst>
              <a:path h="3580676" w="4152736">
                <a:moveTo>
                  <a:pt x="0" y="0"/>
                </a:moveTo>
                <a:lnTo>
                  <a:pt x="4152736" y="0"/>
                </a:lnTo>
                <a:lnTo>
                  <a:pt x="4152736" y="3580675"/>
                </a:lnTo>
                <a:lnTo>
                  <a:pt x="0" y="3580675"/>
                </a:lnTo>
                <a:lnTo>
                  <a:pt x="0" y="0"/>
                </a:lnTo>
                <a:close/>
              </a:path>
            </a:pathLst>
          </a:custGeom>
          <a:blipFill>
            <a:blip r:embed="rId6"/>
            <a:stretch>
              <a:fillRect l="0" t="0" r="0" b="0"/>
            </a:stretch>
          </a:blipFill>
        </p:spPr>
      </p:sp>
      <p:sp>
        <p:nvSpPr>
          <p:cNvPr name="Freeform 15" id="15"/>
          <p:cNvSpPr/>
          <p:nvPr/>
        </p:nvSpPr>
        <p:spPr>
          <a:xfrm flipH="false" flipV="false" rot="0">
            <a:off x="211794" y="4506754"/>
            <a:ext cx="11301259" cy="5509364"/>
          </a:xfrm>
          <a:custGeom>
            <a:avLst/>
            <a:gdLst/>
            <a:ahLst/>
            <a:cxnLst/>
            <a:rect r="r" b="b" t="t" l="l"/>
            <a:pathLst>
              <a:path h="5509364" w="11301259">
                <a:moveTo>
                  <a:pt x="0" y="0"/>
                </a:moveTo>
                <a:lnTo>
                  <a:pt x="11301259" y="0"/>
                </a:lnTo>
                <a:lnTo>
                  <a:pt x="11301259" y="5509364"/>
                </a:lnTo>
                <a:lnTo>
                  <a:pt x="0" y="5509364"/>
                </a:lnTo>
                <a:lnTo>
                  <a:pt x="0" y="0"/>
                </a:lnTo>
                <a:close/>
              </a:path>
            </a:pathLst>
          </a:custGeom>
          <a:blipFill>
            <a:blip r:embed="rId7"/>
            <a:stretch>
              <a:fillRect l="0" t="0" r="0" b="0"/>
            </a:stretch>
          </a:blipFill>
        </p:spPr>
      </p:sp>
      <p:sp>
        <p:nvSpPr>
          <p:cNvPr name="Freeform 16" id="16"/>
          <p:cNvSpPr/>
          <p:nvPr/>
        </p:nvSpPr>
        <p:spPr>
          <a:xfrm flipH="false" flipV="false" rot="0">
            <a:off x="9013094" y="147069"/>
            <a:ext cx="8950457" cy="6242944"/>
          </a:xfrm>
          <a:custGeom>
            <a:avLst/>
            <a:gdLst/>
            <a:ahLst/>
            <a:cxnLst/>
            <a:rect r="r" b="b" t="t" l="l"/>
            <a:pathLst>
              <a:path h="6242944" w="8950457">
                <a:moveTo>
                  <a:pt x="0" y="0"/>
                </a:moveTo>
                <a:lnTo>
                  <a:pt x="8950457" y="0"/>
                </a:lnTo>
                <a:lnTo>
                  <a:pt x="8950457" y="6242943"/>
                </a:lnTo>
                <a:lnTo>
                  <a:pt x="0" y="6242943"/>
                </a:lnTo>
                <a:lnTo>
                  <a:pt x="0" y="0"/>
                </a:lnTo>
                <a:close/>
              </a:path>
            </a:pathLst>
          </a:custGeom>
          <a:blipFill>
            <a:blip r:embed="rId8"/>
            <a:stretch>
              <a:fillRect l="0" t="0" r="0" b="0"/>
            </a:stretch>
          </a:blipFill>
        </p:spPr>
      </p:sp>
      <p:sp>
        <p:nvSpPr>
          <p:cNvPr name="TextBox 17" id="17"/>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8" id="18"/>
          <p:cNvSpPr txBox="true"/>
          <p:nvPr/>
        </p:nvSpPr>
        <p:spPr>
          <a:xfrm rot="0">
            <a:off x="211794" y="2717230"/>
            <a:ext cx="8512544"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B4: Áp dụng tô màu đồ thị</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12074487" y="6528852"/>
            <a:ext cx="4152736" cy="3580676"/>
          </a:xfrm>
          <a:custGeom>
            <a:avLst/>
            <a:gdLst/>
            <a:ahLst/>
            <a:cxnLst/>
            <a:rect r="r" b="b" t="t" l="l"/>
            <a:pathLst>
              <a:path h="3580676" w="4152736">
                <a:moveTo>
                  <a:pt x="0" y="0"/>
                </a:moveTo>
                <a:lnTo>
                  <a:pt x="4152736" y="0"/>
                </a:lnTo>
                <a:lnTo>
                  <a:pt x="4152736" y="3580675"/>
                </a:lnTo>
                <a:lnTo>
                  <a:pt x="0" y="3580675"/>
                </a:lnTo>
                <a:lnTo>
                  <a:pt x="0" y="0"/>
                </a:lnTo>
                <a:close/>
              </a:path>
            </a:pathLst>
          </a:custGeom>
          <a:blipFill>
            <a:blip r:embed="rId6"/>
            <a:stretch>
              <a:fillRect l="0" t="0" r="0" b="0"/>
            </a:stretch>
          </a:blipFill>
        </p:spPr>
      </p:sp>
      <p:sp>
        <p:nvSpPr>
          <p:cNvPr name="Freeform 15" id="15"/>
          <p:cNvSpPr/>
          <p:nvPr/>
        </p:nvSpPr>
        <p:spPr>
          <a:xfrm flipH="false" flipV="false" rot="0">
            <a:off x="211794" y="4506754"/>
            <a:ext cx="11301259" cy="5509364"/>
          </a:xfrm>
          <a:custGeom>
            <a:avLst/>
            <a:gdLst/>
            <a:ahLst/>
            <a:cxnLst/>
            <a:rect r="r" b="b" t="t" l="l"/>
            <a:pathLst>
              <a:path h="5509364" w="11301259">
                <a:moveTo>
                  <a:pt x="0" y="0"/>
                </a:moveTo>
                <a:lnTo>
                  <a:pt x="11301259" y="0"/>
                </a:lnTo>
                <a:lnTo>
                  <a:pt x="11301259" y="5509364"/>
                </a:lnTo>
                <a:lnTo>
                  <a:pt x="0" y="5509364"/>
                </a:lnTo>
                <a:lnTo>
                  <a:pt x="0" y="0"/>
                </a:lnTo>
                <a:close/>
              </a:path>
            </a:pathLst>
          </a:custGeom>
          <a:blipFill>
            <a:blip r:embed="rId7"/>
            <a:stretch>
              <a:fillRect l="0" t="0" r="0" b="0"/>
            </a:stretch>
          </a:blipFill>
        </p:spPr>
      </p:sp>
      <p:sp>
        <p:nvSpPr>
          <p:cNvPr name="Freeform 16" id="16"/>
          <p:cNvSpPr/>
          <p:nvPr/>
        </p:nvSpPr>
        <p:spPr>
          <a:xfrm flipH="false" flipV="false" rot="0">
            <a:off x="8892070" y="117713"/>
            <a:ext cx="9071482" cy="6327358"/>
          </a:xfrm>
          <a:custGeom>
            <a:avLst/>
            <a:gdLst/>
            <a:ahLst/>
            <a:cxnLst/>
            <a:rect r="r" b="b" t="t" l="l"/>
            <a:pathLst>
              <a:path h="6327358" w="9071482">
                <a:moveTo>
                  <a:pt x="0" y="0"/>
                </a:moveTo>
                <a:lnTo>
                  <a:pt x="9071481" y="0"/>
                </a:lnTo>
                <a:lnTo>
                  <a:pt x="9071481" y="6327359"/>
                </a:lnTo>
                <a:lnTo>
                  <a:pt x="0" y="6327359"/>
                </a:lnTo>
                <a:lnTo>
                  <a:pt x="0" y="0"/>
                </a:lnTo>
                <a:close/>
              </a:path>
            </a:pathLst>
          </a:custGeom>
          <a:blipFill>
            <a:blip r:embed="rId8"/>
            <a:stretch>
              <a:fillRect l="0" t="0" r="0" b="0"/>
            </a:stretch>
          </a:blipFill>
        </p:spPr>
      </p:sp>
      <p:sp>
        <p:nvSpPr>
          <p:cNvPr name="TextBox 17" id="17"/>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8" id="18"/>
          <p:cNvSpPr txBox="true"/>
          <p:nvPr/>
        </p:nvSpPr>
        <p:spPr>
          <a:xfrm rot="0">
            <a:off x="211794" y="2717230"/>
            <a:ext cx="8512544"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B4: Áp dụng tô màu đồ thị</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12074487" y="6528852"/>
            <a:ext cx="4152736" cy="3580676"/>
          </a:xfrm>
          <a:custGeom>
            <a:avLst/>
            <a:gdLst/>
            <a:ahLst/>
            <a:cxnLst/>
            <a:rect r="r" b="b" t="t" l="l"/>
            <a:pathLst>
              <a:path h="3580676" w="4152736">
                <a:moveTo>
                  <a:pt x="0" y="0"/>
                </a:moveTo>
                <a:lnTo>
                  <a:pt x="4152736" y="0"/>
                </a:lnTo>
                <a:lnTo>
                  <a:pt x="4152736" y="3580675"/>
                </a:lnTo>
                <a:lnTo>
                  <a:pt x="0" y="3580675"/>
                </a:lnTo>
                <a:lnTo>
                  <a:pt x="0" y="0"/>
                </a:lnTo>
                <a:close/>
              </a:path>
            </a:pathLst>
          </a:custGeom>
          <a:blipFill>
            <a:blip r:embed="rId6"/>
            <a:stretch>
              <a:fillRect l="0" t="0" r="0" b="0"/>
            </a:stretch>
          </a:blipFill>
        </p:spPr>
      </p:sp>
      <p:sp>
        <p:nvSpPr>
          <p:cNvPr name="Freeform 15" id="15"/>
          <p:cNvSpPr/>
          <p:nvPr/>
        </p:nvSpPr>
        <p:spPr>
          <a:xfrm flipH="false" flipV="false" rot="0">
            <a:off x="211794" y="4506754"/>
            <a:ext cx="11301259" cy="5509364"/>
          </a:xfrm>
          <a:custGeom>
            <a:avLst/>
            <a:gdLst/>
            <a:ahLst/>
            <a:cxnLst/>
            <a:rect r="r" b="b" t="t" l="l"/>
            <a:pathLst>
              <a:path h="5509364" w="11301259">
                <a:moveTo>
                  <a:pt x="0" y="0"/>
                </a:moveTo>
                <a:lnTo>
                  <a:pt x="11301259" y="0"/>
                </a:lnTo>
                <a:lnTo>
                  <a:pt x="11301259" y="5509364"/>
                </a:lnTo>
                <a:lnTo>
                  <a:pt x="0" y="5509364"/>
                </a:lnTo>
                <a:lnTo>
                  <a:pt x="0" y="0"/>
                </a:lnTo>
                <a:close/>
              </a:path>
            </a:pathLst>
          </a:custGeom>
          <a:blipFill>
            <a:blip r:embed="rId7"/>
            <a:stretch>
              <a:fillRect l="0" t="0" r="0" b="0"/>
            </a:stretch>
          </a:blipFill>
        </p:spPr>
      </p:sp>
      <p:sp>
        <p:nvSpPr>
          <p:cNvPr name="Freeform 16" id="16"/>
          <p:cNvSpPr/>
          <p:nvPr/>
        </p:nvSpPr>
        <p:spPr>
          <a:xfrm flipH="false" flipV="false" rot="0">
            <a:off x="8944940" y="63162"/>
            <a:ext cx="9018611" cy="6290481"/>
          </a:xfrm>
          <a:custGeom>
            <a:avLst/>
            <a:gdLst/>
            <a:ahLst/>
            <a:cxnLst/>
            <a:rect r="r" b="b" t="t" l="l"/>
            <a:pathLst>
              <a:path h="6290481" w="9018611">
                <a:moveTo>
                  <a:pt x="0" y="0"/>
                </a:moveTo>
                <a:lnTo>
                  <a:pt x="9018611" y="0"/>
                </a:lnTo>
                <a:lnTo>
                  <a:pt x="9018611" y="6290481"/>
                </a:lnTo>
                <a:lnTo>
                  <a:pt x="0" y="6290481"/>
                </a:lnTo>
                <a:lnTo>
                  <a:pt x="0" y="0"/>
                </a:lnTo>
                <a:close/>
              </a:path>
            </a:pathLst>
          </a:custGeom>
          <a:blipFill>
            <a:blip r:embed="rId8"/>
            <a:stretch>
              <a:fillRect l="0" t="0" r="0" b="0"/>
            </a:stretch>
          </a:blipFill>
        </p:spPr>
      </p:sp>
      <p:sp>
        <p:nvSpPr>
          <p:cNvPr name="TextBox 17" id="17"/>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8" id="18"/>
          <p:cNvSpPr txBox="true"/>
          <p:nvPr/>
        </p:nvSpPr>
        <p:spPr>
          <a:xfrm rot="0">
            <a:off x="211794" y="2717230"/>
            <a:ext cx="8512544"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B4: Áp dụng tô màu đồ thị</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12074487" y="6528852"/>
            <a:ext cx="4152736" cy="3580676"/>
          </a:xfrm>
          <a:custGeom>
            <a:avLst/>
            <a:gdLst/>
            <a:ahLst/>
            <a:cxnLst/>
            <a:rect r="r" b="b" t="t" l="l"/>
            <a:pathLst>
              <a:path h="3580676" w="4152736">
                <a:moveTo>
                  <a:pt x="0" y="0"/>
                </a:moveTo>
                <a:lnTo>
                  <a:pt x="4152736" y="0"/>
                </a:lnTo>
                <a:lnTo>
                  <a:pt x="4152736" y="3580675"/>
                </a:lnTo>
                <a:lnTo>
                  <a:pt x="0" y="3580675"/>
                </a:lnTo>
                <a:lnTo>
                  <a:pt x="0" y="0"/>
                </a:lnTo>
                <a:close/>
              </a:path>
            </a:pathLst>
          </a:custGeom>
          <a:blipFill>
            <a:blip r:embed="rId6"/>
            <a:stretch>
              <a:fillRect l="0" t="0" r="0" b="0"/>
            </a:stretch>
          </a:blipFill>
        </p:spPr>
      </p:sp>
      <p:sp>
        <p:nvSpPr>
          <p:cNvPr name="Freeform 15" id="15"/>
          <p:cNvSpPr/>
          <p:nvPr/>
        </p:nvSpPr>
        <p:spPr>
          <a:xfrm flipH="false" flipV="false" rot="0">
            <a:off x="211794" y="4506754"/>
            <a:ext cx="11301259" cy="5509364"/>
          </a:xfrm>
          <a:custGeom>
            <a:avLst/>
            <a:gdLst/>
            <a:ahLst/>
            <a:cxnLst/>
            <a:rect r="r" b="b" t="t" l="l"/>
            <a:pathLst>
              <a:path h="5509364" w="11301259">
                <a:moveTo>
                  <a:pt x="0" y="0"/>
                </a:moveTo>
                <a:lnTo>
                  <a:pt x="11301259" y="0"/>
                </a:lnTo>
                <a:lnTo>
                  <a:pt x="11301259" y="5509364"/>
                </a:lnTo>
                <a:lnTo>
                  <a:pt x="0" y="5509364"/>
                </a:lnTo>
                <a:lnTo>
                  <a:pt x="0" y="0"/>
                </a:lnTo>
                <a:close/>
              </a:path>
            </a:pathLst>
          </a:custGeom>
          <a:blipFill>
            <a:blip r:embed="rId7"/>
            <a:stretch>
              <a:fillRect l="0" t="0" r="0" b="0"/>
            </a:stretch>
          </a:blipFill>
        </p:spPr>
      </p:sp>
      <p:sp>
        <p:nvSpPr>
          <p:cNvPr name="Freeform 16" id="16"/>
          <p:cNvSpPr/>
          <p:nvPr/>
        </p:nvSpPr>
        <p:spPr>
          <a:xfrm flipH="false" flipV="false" rot="0">
            <a:off x="8952582" y="160896"/>
            <a:ext cx="8936254" cy="6233037"/>
          </a:xfrm>
          <a:custGeom>
            <a:avLst/>
            <a:gdLst/>
            <a:ahLst/>
            <a:cxnLst/>
            <a:rect r="r" b="b" t="t" l="l"/>
            <a:pathLst>
              <a:path h="6233037" w="8936254">
                <a:moveTo>
                  <a:pt x="0" y="0"/>
                </a:moveTo>
                <a:lnTo>
                  <a:pt x="8936254" y="0"/>
                </a:lnTo>
                <a:lnTo>
                  <a:pt x="8936254" y="6233037"/>
                </a:lnTo>
                <a:lnTo>
                  <a:pt x="0" y="6233037"/>
                </a:lnTo>
                <a:lnTo>
                  <a:pt x="0" y="0"/>
                </a:lnTo>
                <a:close/>
              </a:path>
            </a:pathLst>
          </a:custGeom>
          <a:blipFill>
            <a:blip r:embed="rId8"/>
            <a:stretch>
              <a:fillRect l="0" t="0" r="0" b="0"/>
            </a:stretch>
          </a:blipFill>
        </p:spPr>
      </p:sp>
      <p:sp>
        <p:nvSpPr>
          <p:cNvPr name="TextBox 17" id="17"/>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8" id="18"/>
          <p:cNvSpPr txBox="true"/>
          <p:nvPr/>
        </p:nvSpPr>
        <p:spPr>
          <a:xfrm rot="0">
            <a:off x="211794" y="2717230"/>
            <a:ext cx="8512544"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B4: Áp dụng tô màu đồ thị</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28575" y="0"/>
            <a:ext cx="18288000" cy="10109527"/>
            <a:chOff x="0" y="0"/>
            <a:chExt cx="4816593" cy="2662592"/>
          </a:xfrm>
        </p:grpSpPr>
        <p:sp>
          <p:nvSpPr>
            <p:cNvPr name="Freeform 4" id="4"/>
            <p:cNvSpPr/>
            <p:nvPr/>
          </p:nvSpPr>
          <p:spPr>
            <a:xfrm flipH="false" flipV="false" rot="0">
              <a:off x="0" y="0"/>
              <a:ext cx="4816592" cy="2662592"/>
            </a:xfrm>
            <a:custGeom>
              <a:avLst/>
              <a:gdLst/>
              <a:ahLst/>
              <a:cxnLst/>
              <a:rect r="r" b="b" t="t" l="l"/>
              <a:pathLst>
                <a:path h="2662592" w="4816592">
                  <a:moveTo>
                    <a:pt x="0" y="0"/>
                  </a:moveTo>
                  <a:lnTo>
                    <a:pt x="4816592" y="0"/>
                  </a:lnTo>
                  <a:lnTo>
                    <a:pt x="4816592" y="2662592"/>
                  </a:lnTo>
                  <a:lnTo>
                    <a:pt x="0" y="2662592"/>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816593" cy="27006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392179" y="2419526"/>
            <a:ext cx="6492240" cy="0"/>
          </a:xfrm>
          <a:prstGeom prst="line">
            <a:avLst/>
          </a:prstGeom>
          <a:ln cap="flat" w="19050">
            <a:solidFill>
              <a:srgbClr val="40597C"/>
            </a:solidFill>
            <a:prstDash val="solid"/>
            <a:headEnd type="none" len="sm" w="sm"/>
            <a:tailEnd type="none" len="sm" w="sm"/>
          </a:ln>
        </p:spPr>
      </p:sp>
      <p:sp>
        <p:nvSpPr>
          <p:cNvPr name="Freeform 7" id="7"/>
          <p:cNvSpPr/>
          <p:nvPr/>
        </p:nvSpPr>
        <p:spPr>
          <a:xfrm flipH="true" flipV="true" rot="-10792239">
            <a:off x="-724606" y="8954135"/>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10792239">
            <a:off x="16612207" y="-936064"/>
            <a:ext cx="2702689" cy="2579840"/>
          </a:xfrm>
          <a:custGeom>
            <a:avLst/>
            <a:gdLst/>
            <a:ahLst/>
            <a:cxnLst/>
            <a:rect r="r" b="b" t="t" l="l"/>
            <a:pathLst>
              <a:path h="2579840" w="2702689">
                <a:moveTo>
                  <a:pt x="2702689" y="2579840"/>
                </a:moveTo>
                <a:lnTo>
                  <a:pt x="0" y="2579840"/>
                </a:lnTo>
                <a:lnTo>
                  <a:pt x="0" y="0"/>
                </a:lnTo>
                <a:lnTo>
                  <a:pt x="2702689" y="0"/>
                </a:lnTo>
                <a:lnTo>
                  <a:pt x="2702689" y="257984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626738" y="550533"/>
            <a:ext cx="2291645" cy="652047"/>
            <a:chOff x="0" y="0"/>
            <a:chExt cx="3055526" cy="869397"/>
          </a:xfrm>
        </p:grpSpPr>
        <p:grpSp>
          <p:nvGrpSpPr>
            <p:cNvPr name="Group 10" id="10"/>
            <p:cNvGrpSpPr/>
            <p:nvPr/>
          </p:nvGrpSpPr>
          <p:grpSpPr>
            <a:xfrm rot="0">
              <a:off x="0" y="0"/>
              <a:ext cx="747138" cy="869397"/>
              <a:chOff x="0" y="0"/>
              <a:chExt cx="698500" cy="812800"/>
            </a:xfrm>
          </p:grpSpPr>
          <p:sp>
            <p:nvSpPr>
              <p:cNvPr name="Freeform 11" id="1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95250" cap="sq">
                <a:solidFill>
                  <a:srgbClr val="348BFF"/>
                </a:solidFill>
                <a:prstDash val="solid"/>
                <a:miter/>
              </a:ln>
            </p:spPr>
          </p:sp>
          <p:sp>
            <p:nvSpPr>
              <p:cNvPr name="TextBox 12" id="12"/>
              <p:cNvSpPr txBox="true"/>
              <p:nvPr/>
            </p:nvSpPr>
            <p:spPr>
              <a:xfrm>
                <a:off x="0" y="101600"/>
                <a:ext cx="698500" cy="571500"/>
              </a:xfrm>
              <a:prstGeom prst="rect">
                <a:avLst/>
              </a:prstGeom>
            </p:spPr>
            <p:txBody>
              <a:bodyPr anchor="ctr" rtlCol="false" tIns="27034" lIns="27034" bIns="27034" rIns="27034"/>
              <a:lstStyle/>
              <a:p>
                <a:pPr algn="ctr">
                  <a:lnSpc>
                    <a:spcPts val="2659"/>
                  </a:lnSpc>
                </a:pPr>
              </a:p>
            </p:txBody>
          </p:sp>
        </p:grpSp>
        <p:sp>
          <p:nvSpPr>
            <p:cNvPr name="TextBox 13" id="13"/>
            <p:cNvSpPr txBox="true"/>
            <p:nvPr/>
          </p:nvSpPr>
          <p:spPr>
            <a:xfrm rot="0">
              <a:off x="954234" y="93383"/>
              <a:ext cx="2101293" cy="397532"/>
            </a:xfrm>
            <a:prstGeom prst="rect">
              <a:avLst/>
            </a:prstGeom>
          </p:spPr>
          <p:txBody>
            <a:bodyPr anchor="t" rtlCol="false" tIns="0" lIns="0" bIns="0" rIns="0">
              <a:spAutoFit/>
            </a:bodyPr>
            <a:lstStyle/>
            <a:p>
              <a:pPr algn="l">
                <a:lnSpc>
                  <a:spcPts val="2235"/>
                </a:lnSpc>
              </a:pPr>
              <a:r>
                <a:rPr lang="en-US" sz="1862">
                  <a:solidFill>
                    <a:srgbClr val="FFFFFF"/>
                  </a:solidFill>
                  <a:latin typeface="Mokoto"/>
                  <a:ea typeface="Mokoto"/>
                  <a:cs typeface="Mokoto"/>
                  <a:sym typeface="Mokoto"/>
                </a:rPr>
                <a:t>Gr04</a:t>
              </a:r>
            </a:p>
          </p:txBody>
        </p:sp>
      </p:grpSp>
      <p:sp>
        <p:nvSpPr>
          <p:cNvPr name="Freeform 14" id="14"/>
          <p:cNvSpPr/>
          <p:nvPr/>
        </p:nvSpPr>
        <p:spPr>
          <a:xfrm flipH="false" flipV="false" rot="0">
            <a:off x="6021070" y="3604325"/>
            <a:ext cx="9230503" cy="4993013"/>
          </a:xfrm>
          <a:custGeom>
            <a:avLst/>
            <a:gdLst/>
            <a:ahLst/>
            <a:cxnLst/>
            <a:rect r="r" b="b" t="t" l="l"/>
            <a:pathLst>
              <a:path h="4993013" w="9230503">
                <a:moveTo>
                  <a:pt x="0" y="0"/>
                </a:moveTo>
                <a:lnTo>
                  <a:pt x="9230503" y="0"/>
                </a:lnTo>
                <a:lnTo>
                  <a:pt x="9230503" y="4993012"/>
                </a:lnTo>
                <a:lnTo>
                  <a:pt x="0" y="4993012"/>
                </a:lnTo>
                <a:lnTo>
                  <a:pt x="0" y="0"/>
                </a:lnTo>
                <a:close/>
              </a:path>
            </a:pathLst>
          </a:custGeom>
          <a:blipFill>
            <a:blip r:embed="rId6"/>
            <a:stretch>
              <a:fillRect l="0" t="0" r="0" b="0"/>
            </a:stretch>
          </a:blipFill>
        </p:spPr>
      </p:sp>
      <p:sp>
        <p:nvSpPr>
          <p:cNvPr name="TextBox 15" id="15"/>
          <p:cNvSpPr txBox="true"/>
          <p:nvPr/>
        </p:nvSpPr>
        <p:spPr>
          <a:xfrm rot="0">
            <a:off x="392179" y="1207823"/>
            <a:ext cx="12227102" cy="975606"/>
          </a:xfrm>
          <a:prstGeom prst="rect">
            <a:avLst/>
          </a:prstGeom>
        </p:spPr>
        <p:txBody>
          <a:bodyPr anchor="t" rtlCol="false" tIns="0" lIns="0" bIns="0" rIns="0">
            <a:spAutoFit/>
          </a:bodyPr>
          <a:lstStyle/>
          <a:p>
            <a:pPr algn="l">
              <a:lnSpc>
                <a:spcPts val="7651"/>
              </a:lnSpc>
            </a:pPr>
            <a:r>
              <a:rPr lang="en-US" sz="5465" spc="-54">
                <a:solidFill>
                  <a:srgbClr val="348BFF"/>
                </a:solidFill>
                <a:latin typeface="Times New Roman"/>
                <a:ea typeface="Times New Roman"/>
                <a:cs typeface="Times New Roman"/>
                <a:sym typeface="Times New Roman"/>
              </a:rPr>
              <a:t>ÁP DỤNG VÀO BÀI TOÁN</a:t>
            </a:r>
          </a:p>
        </p:txBody>
      </p:sp>
      <p:sp>
        <p:nvSpPr>
          <p:cNvPr name="TextBox 16" id="16"/>
          <p:cNvSpPr txBox="true"/>
          <p:nvPr/>
        </p:nvSpPr>
        <p:spPr>
          <a:xfrm rot="0">
            <a:off x="211794" y="2717230"/>
            <a:ext cx="5184359" cy="887095"/>
          </a:xfrm>
          <a:prstGeom prst="rect">
            <a:avLst/>
          </a:prstGeom>
        </p:spPr>
        <p:txBody>
          <a:bodyPr anchor="t" rtlCol="false" tIns="0" lIns="0" bIns="0" rIns="0">
            <a:spAutoFit/>
          </a:bodyPr>
          <a:lstStyle/>
          <a:p>
            <a:pPr algn="ctr">
              <a:lnSpc>
                <a:spcPts val="7279"/>
              </a:lnSpc>
            </a:pPr>
            <a:r>
              <a:rPr lang="en-US" sz="5199" b="true">
                <a:solidFill>
                  <a:srgbClr val="FDFEFD"/>
                </a:solidFill>
                <a:latin typeface="Canva Sans Bold"/>
                <a:ea typeface="Canva Sans Bold"/>
                <a:cs typeface="Canva Sans Bold"/>
                <a:sym typeface="Canva Sans Bold"/>
              </a:rPr>
              <a:t>Kết quả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000000">
                <a:alpha val="69804"/>
              </a:srgbClr>
            </a:solidFill>
            <a:ln w="123825" cap="sq">
              <a:solidFill>
                <a:srgbClr val="000000">
                  <a:alpha val="69804"/>
                </a:srgbClr>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8944306" y="5180427"/>
            <a:ext cx="399388" cy="8135684"/>
          </a:xfrm>
          <a:custGeom>
            <a:avLst/>
            <a:gdLst/>
            <a:ahLst/>
            <a:cxnLst/>
            <a:rect r="r" b="b" t="t" l="l"/>
            <a:pathLst>
              <a:path h="8135684" w="399388">
                <a:moveTo>
                  <a:pt x="0" y="0"/>
                </a:moveTo>
                <a:lnTo>
                  <a:pt x="399388" y="0"/>
                </a:lnTo>
                <a:lnTo>
                  <a:pt x="399388" y="8135683"/>
                </a:lnTo>
                <a:lnTo>
                  <a:pt x="0" y="8135683"/>
                </a:lnTo>
                <a:lnTo>
                  <a:pt x="0" y="0"/>
                </a:lnTo>
                <a:close/>
              </a:path>
            </a:pathLst>
          </a:custGeom>
          <a:blipFill>
            <a:blip r:embed="rId3">
              <a:alphaModFix amt="65999"/>
            </a:blip>
            <a:stretch>
              <a:fillRect l="0" t="0" r="0" b="0"/>
            </a:stretch>
          </a:blipFill>
        </p:spPr>
      </p:sp>
      <p:sp>
        <p:nvSpPr>
          <p:cNvPr name="Freeform 7" id="7"/>
          <p:cNvSpPr/>
          <p:nvPr/>
        </p:nvSpPr>
        <p:spPr>
          <a:xfrm flipH="true" flipV="false" rot="-10800000">
            <a:off x="-895973" y="-128681"/>
            <a:ext cx="3775893" cy="3604261"/>
          </a:xfrm>
          <a:custGeom>
            <a:avLst/>
            <a:gdLst/>
            <a:ahLst/>
            <a:cxnLst/>
            <a:rect r="r" b="b" t="t" l="l"/>
            <a:pathLst>
              <a:path h="3604261" w="3775893">
                <a:moveTo>
                  <a:pt x="3775893" y="0"/>
                </a:moveTo>
                <a:lnTo>
                  <a:pt x="0" y="0"/>
                </a:lnTo>
                <a:lnTo>
                  <a:pt x="0" y="3604262"/>
                </a:lnTo>
                <a:lnTo>
                  <a:pt x="3775893" y="3604262"/>
                </a:lnTo>
                <a:lnTo>
                  <a:pt x="37758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10800000">
            <a:off x="15576737" y="7107131"/>
            <a:ext cx="3775893" cy="3604261"/>
          </a:xfrm>
          <a:custGeom>
            <a:avLst/>
            <a:gdLst/>
            <a:ahLst/>
            <a:cxnLst/>
            <a:rect r="r" b="b" t="t" l="l"/>
            <a:pathLst>
              <a:path h="3604261" w="3775893">
                <a:moveTo>
                  <a:pt x="3775893" y="0"/>
                </a:moveTo>
                <a:lnTo>
                  <a:pt x="0" y="0"/>
                </a:lnTo>
                <a:lnTo>
                  <a:pt x="0" y="3604261"/>
                </a:lnTo>
                <a:lnTo>
                  <a:pt x="3775893" y="3604261"/>
                </a:lnTo>
                <a:lnTo>
                  <a:pt x="37758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756839" y="4198358"/>
            <a:ext cx="14774323" cy="1982991"/>
          </a:xfrm>
          <a:prstGeom prst="rect">
            <a:avLst/>
          </a:prstGeom>
        </p:spPr>
        <p:txBody>
          <a:bodyPr anchor="t" rtlCol="false" tIns="0" lIns="0" bIns="0" rIns="0">
            <a:spAutoFit/>
          </a:bodyPr>
          <a:lstStyle/>
          <a:p>
            <a:pPr algn="ctr">
              <a:lnSpc>
                <a:spcPts val="16295"/>
              </a:lnSpc>
            </a:pPr>
            <a:r>
              <a:rPr lang="en-US" sz="11639" spc="-116">
                <a:solidFill>
                  <a:srgbClr val="348BFF"/>
                </a:solidFill>
                <a:latin typeface="Mokoto"/>
                <a:ea typeface="Mokoto"/>
                <a:cs typeface="Mokoto"/>
                <a:sym typeface="Mokoto"/>
              </a:rPr>
              <a:t>THANK YOU</a:t>
            </a:r>
          </a:p>
        </p:txBody>
      </p:sp>
      <p:sp>
        <p:nvSpPr>
          <p:cNvPr name="TextBox 10" id="10"/>
          <p:cNvSpPr txBox="true"/>
          <p:nvPr/>
        </p:nvSpPr>
        <p:spPr>
          <a:xfrm rot="0">
            <a:off x="6390246" y="8394911"/>
            <a:ext cx="5507508" cy="422275"/>
          </a:xfrm>
          <a:prstGeom prst="rect">
            <a:avLst/>
          </a:prstGeom>
        </p:spPr>
        <p:txBody>
          <a:bodyPr anchor="t" rtlCol="false" tIns="0" lIns="0" bIns="0" rIns="0">
            <a:spAutoFit/>
          </a:bodyPr>
          <a:lstStyle/>
          <a:p>
            <a:pPr algn="ctr">
              <a:lnSpc>
                <a:spcPts val="3499"/>
              </a:lnSpc>
            </a:pPr>
            <a:r>
              <a:rPr lang="en-US" sz="2499">
                <a:solidFill>
                  <a:srgbClr val="FFFFFF"/>
                </a:solidFill>
                <a:latin typeface="Roboto"/>
                <a:ea typeface="Roboto"/>
                <a:cs typeface="Roboto"/>
                <a:sym typeface="Roboto"/>
              </a:rPr>
              <a:t>www.reallygreatsite.com</a:t>
            </a:r>
          </a:p>
        </p:txBody>
      </p:sp>
      <p:grpSp>
        <p:nvGrpSpPr>
          <p:cNvPr name="Group 11" id="11"/>
          <p:cNvGrpSpPr/>
          <p:nvPr/>
        </p:nvGrpSpPr>
        <p:grpSpPr>
          <a:xfrm rot="0">
            <a:off x="7514097" y="2037196"/>
            <a:ext cx="3259806" cy="927521"/>
            <a:chOff x="0" y="0"/>
            <a:chExt cx="4346408" cy="1236694"/>
          </a:xfrm>
        </p:grpSpPr>
        <p:grpSp>
          <p:nvGrpSpPr>
            <p:cNvPr name="Group 12" id="12"/>
            <p:cNvGrpSpPr/>
            <p:nvPr/>
          </p:nvGrpSpPr>
          <p:grpSpPr>
            <a:xfrm rot="0">
              <a:off x="0" y="0"/>
              <a:ext cx="1062784" cy="1236694"/>
              <a:chOff x="0" y="0"/>
              <a:chExt cx="698500" cy="812800"/>
            </a:xfrm>
          </p:grpSpPr>
          <p:sp>
            <p:nvSpPr>
              <p:cNvPr name="Freeform 13" id="13"/>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ln w="142875" cap="sq">
                <a:solidFill>
                  <a:srgbClr val="348BFF"/>
                </a:solidFill>
                <a:prstDash val="solid"/>
                <a:miter/>
              </a:ln>
            </p:spPr>
          </p:sp>
          <p:sp>
            <p:nvSpPr>
              <p:cNvPr name="TextBox 14" id="14"/>
              <p:cNvSpPr txBox="true"/>
              <p:nvPr/>
            </p:nvSpPr>
            <p:spPr>
              <a:xfrm>
                <a:off x="0" y="101600"/>
                <a:ext cx="698500" cy="571500"/>
              </a:xfrm>
              <a:prstGeom prst="rect">
                <a:avLst/>
              </a:prstGeom>
            </p:spPr>
            <p:txBody>
              <a:bodyPr anchor="ctr" rtlCol="false" tIns="38456" lIns="38456" bIns="38456" rIns="38456"/>
              <a:lstStyle/>
              <a:p>
                <a:pPr algn="ctr">
                  <a:lnSpc>
                    <a:spcPts val="2659"/>
                  </a:lnSpc>
                </a:pPr>
              </a:p>
            </p:txBody>
          </p:sp>
        </p:grpSp>
        <p:sp>
          <p:nvSpPr>
            <p:cNvPr name="TextBox 15" id="15"/>
            <p:cNvSpPr txBox="true"/>
            <p:nvPr/>
          </p:nvSpPr>
          <p:spPr>
            <a:xfrm rot="0">
              <a:off x="1357373" y="150408"/>
              <a:ext cx="2989035" cy="1086287"/>
            </a:xfrm>
            <a:prstGeom prst="rect">
              <a:avLst/>
            </a:prstGeom>
          </p:spPr>
          <p:txBody>
            <a:bodyPr anchor="t" rtlCol="false" tIns="0" lIns="0" bIns="0" rIns="0">
              <a:spAutoFit/>
            </a:bodyPr>
            <a:lstStyle/>
            <a:p>
              <a:pPr algn="l">
                <a:lnSpc>
                  <a:spcPts val="3179"/>
                </a:lnSpc>
              </a:pPr>
              <a:r>
                <a:rPr lang="en-US" sz="2649">
                  <a:solidFill>
                    <a:srgbClr val="FFFFFF"/>
                  </a:solidFill>
                  <a:latin typeface="Mokoto"/>
                  <a:ea typeface="Mokoto"/>
                  <a:cs typeface="Mokoto"/>
                  <a:sym typeface="Mokoto"/>
                </a:rPr>
                <a:t>Company</a:t>
              </a:r>
            </a:p>
            <a:p>
              <a:pPr algn="l">
                <a:lnSpc>
                  <a:spcPts val="3179"/>
                </a:lnSpc>
              </a:pPr>
              <a:r>
                <a:rPr lang="en-US" sz="2649">
                  <a:solidFill>
                    <a:srgbClr val="FFFFFF"/>
                  </a:solidFill>
                  <a:latin typeface="Mokoto"/>
                  <a:ea typeface="Mokoto"/>
                  <a:cs typeface="Mokoto"/>
                  <a:sym typeface="Mokoto"/>
                </a:rPr>
                <a:t>Logo</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DAG_0lUoXdo</dc:identifier>
  <dcterms:modified xsi:type="dcterms:W3CDTF">2011-08-01T06:04:30Z</dcterms:modified>
  <cp:revision>1</cp:revision>
  <dc:title>Gr04</dc:title>
</cp:coreProperties>
</file>