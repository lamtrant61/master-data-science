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8288000" cy="10287000"/>
  <p:notesSz cx="6858000" cy="9144000"/>
  <p:embeddedFontLst>
    <p:embeddedFont>
      <p:font typeface="Arimo" panose="020B0604020202020204" charset="0"/>
      <p:regular r:id="rId36"/>
    </p:embeddedFont>
    <p:embeddedFont>
      <p:font typeface="Arimo Bold" panose="020B0604020202020204" charset="0"/>
      <p:regular r:id="rId37"/>
    </p:embeddedFont>
    <p:embeddedFont>
      <p:font typeface="Canva Sans" panose="020B0604020202020204" charset="0"/>
      <p:regular r:id="rId38"/>
    </p:embeddedFont>
    <p:embeddedFont>
      <p:font typeface="Canva Sans Bold" panose="020B0604020202020204" charset="0"/>
      <p:regular r:id="rId39"/>
    </p:embeddedFont>
    <p:embeddedFont>
      <p:font typeface="Canva Sans Italics" panose="020B0604020202020204" charset="0"/>
      <p:regular r:id="rId40"/>
    </p:embeddedFont>
    <p:embeddedFont>
      <p:font typeface="Mokoto" panose="020B0604020202020204" charset="0"/>
      <p:regular r:id="rId41"/>
    </p:embeddedFont>
    <p:embeddedFont>
      <p:font typeface="Roboto" panose="02000000000000000000" pitchFamily="2" charset="0"/>
      <p:regular r:id="rId42"/>
    </p:embeddedFont>
    <p:embeddedFont>
      <p:font typeface="Roboto Bold" panose="020B0604020202020204" charset="0"/>
      <p:regular r:id="rId43"/>
    </p:embeddedFont>
    <p:embeddedFont>
      <p:font typeface="Roboto Italics" panose="020B0604020202020204"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bài toán phức tạp</a:t>
            </a:r>
          </a:p>
          <a:p>
            <a:r>
              <a:rPr lang="en-US"/>
              <a:t>-&gt; cần thuật toán tự động hóa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cạnh nối giữa 2 môn thể hiện sinh viên đăng ký cả 2 môn đó, đây là xung đột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sử dụng chiến thuật tham lam và dùng heuristic để tối ưu hóa các ràng buộc</a:t>
            </a:r>
          </a:p>
          <a:p>
            <a:endParaRPr lang="en-US"/>
          </a:p>
          <a:p>
            <a:r>
              <a:rPr lang="en-US"/>
              <a:t>dsatur sẽ ưu tiên dùng bậc bão hòa để xét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sắp xếp theo bậc giảm dần</a:t>
            </a:r>
          </a:p>
          <a:p>
            <a:r>
              <a:rPr lang="en-US"/>
              <a:t>- gán result_color = -1</a:t>
            </a:r>
          </a:p>
          <a:p>
            <a:r>
              <a:rPr lang="en-US"/>
              <a:t>- chạy vòng lặp cho đến khi không còn đỉnh nào chưa tô màu</a:t>
            </a:r>
          </a:p>
          <a:p>
            <a:r>
              <a:rPr lang="en-US"/>
              <a:t>- chạy vòng lặp thứ với các đỉnh được sắp xếp</a:t>
            </a:r>
          </a:p>
          <a:p>
            <a:r>
              <a:rPr lang="en-US"/>
              <a:t>- chọn ra đỉnh chưa tô màu và ko bị xung đột màu với các đỉnh hàng xóm </a:t>
            </a:r>
          </a:p>
          <a:p>
            <a:r>
              <a:rPr lang="en-US"/>
              <a:t>- nếu thỏa mãn ràng buộc thì sẽ xếp vào màu hiện tại</a:t>
            </a:r>
          </a:p>
          <a:p>
            <a:r>
              <a:rPr lang="en-US"/>
              <a:t>- nếu không còn đỉnh nào thỏa mãn trong danh sách đã sắp xếp thì cộng màu hiện tại lên 1</a:t>
            </a:r>
          </a:p>
          <a:p>
            <a:r>
              <a:rPr lang="en-US"/>
              <a:t>- tiếp tục chạy cho đến khi tất cả các đỉnh được tô màu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bậc bão hòa là bậc các đỉnh hàng xóm được tô màu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tạo mảng màu result_color = -1</a:t>
            </a:r>
          </a:p>
          <a:p>
            <a:r>
              <a:rPr lang="en-US"/>
              <a:t>- tính bậc của đỉnh và bậc bão hòa của từng đỉnh chưa tô màu =&gt; tìm ra đỉnh có bậc bão hòa lớn nhất hoặc nếu bậc bão hòa bằng nhau thì tìm đỉnh có bậc cao nhất </a:t>
            </a:r>
          </a:p>
          <a:p>
            <a:r>
              <a:rPr lang="en-US"/>
              <a:t>- khởi tạo biến màu hiện tại = 0</a:t>
            </a:r>
          </a:p>
          <a:p>
            <a:r>
              <a:rPr lang="en-US"/>
              <a:t>- chạy vòng lặp với màu hiện tại. nếu đỉnh được chọn xung đột với màu hiện tại thì sẽ + màu lên 1, cho tới khi thỏa mãn thì gán màu vào mảng kết quả</a:t>
            </a:r>
          </a:p>
          <a:p>
            <a:r>
              <a:rPr lang="en-US"/>
              <a:t>- lặp lại từ bước tính bậc bão hòa cho đến khi tất cả các đỉnh được tô màu</a:t>
            </a:r>
          </a:p>
          <a:p>
            <a:r>
              <a:rPr lang="en-US"/>
              <a:t>- cuối cùng trả ra mảng màu là kết quả lịch thi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Bình thường sẽ lấy dữ liệu trong database nhưng ở đây nhóm e sẽ dùng file excel</a:t>
            </a:r>
          </a:p>
          <a:p>
            <a:endParaRPr lang="en-US"/>
          </a:p>
          <a:p>
            <a:r>
              <a:rPr lang="en-US"/>
              <a:t>Dữ liệu ban đầu gồm 3 bảng</a:t>
            </a:r>
          </a:p>
          <a:p>
            <a:r>
              <a:rPr lang="en-US"/>
              <a:t>=&gt; Môn học và tên sinh viên học môn đó</a:t>
            </a:r>
          </a:p>
          <a:p>
            <a:endParaRPr lang="en-US"/>
          </a:p>
          <a:p>
            <a:r>
              <a:rPr lang="en-US"/>
              <a:t>=&gt; tính tỉ lệ trùng =&gt; ma trận kề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Bình thường sẽ lấy dữ liệu trong database nhưng ở đây nhóm e sẽ dùng file excel</a:t>
            </a:r>
          </a:p>
          <a:p>
            <a:endParaRPr lang="en-US"/>
          </a:p>
          <a:p>
            <a:r>
              <a:rPr lang="en-US"/>
              <a:t>Dữ liệu ban đầu gồm 3 bảng</a:t>
            </a:r>
          </a:p>
          <a:p>
            <a:r>
              <a:rPr lang="en-US"/>
              <a:t>=&gt; Môn học và tên sinh viên học môn đó</a:t>
            </a:r>
          </a:p>
          <a:p>
            <a:endParaRPr lang="en-US"/>
          </a:p>
          <a:p>
            <a:r>
              <a:rPr lang="en-US"/>
              <a:t>=&gt; tính tỉ lệ trùng =&gt; ma trận kề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p>
          <a:p>
            <a:r>
              <a:rPr lang="en-US"/>
              <a:t>=&gt; Sắp xếp đỉnh theo bậc</a:t>
            </a:r>
          </a:p>
          <a:p>
            <a:endParaRPr lang="en-US"/>
          </a:p>
          <a:p>
            <a:r>
              <a:rPr lang="en-US"/>
              <a:t>Môn học có bậc càng cao thì sẽ càng trùng nhiều sinh viên và càng khó sắp xếp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p>
          <a:p>
            <a:r>
              <a:rPr lang="en-US"/>
              <a:t>=&gt; Sắp xếp đỉnh theo bậc</a:t>
            </a:r>
          </a:p>
          <a:p>
            <a:endParaRPr lang="en-US"/>
          </a:p>
          <a:p>
            <a:r>
              <a:rPr lang="en-US"/>
              <a:t>Môn học có bậc càng cao thì sẽ càng trùng nhiều sinh viên và càng khó sắp xếp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p>
          <a:p>
            <a:r>
              <a:rPr lang="en-US"/>
              <a:t>=&gt; Sắp xếp đỉnh theo bậc</a:t>
            </a:r>
          </a:p>
          <a:p>
            <a:endParaRPr lang="en-US"/>
          </a:p>
          <a:p>
            <a:r>
              <a:rPr lang="en-US"/>
              <a:t>Môn học có bậc càng cao thì sẽ càng trùng nhiều sinh viên và càng khó sắp xếp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p>
          <a:p>
            <a:r>
              <a:rPr lang="en-US"/>
              <a:t>=&gt; Sắp xếp đỉnh theo bậc</a:t>
            </a:r>
          </a:p>
          <a:p>
            <a:endParaRPr lang="en-US"/>
          </a:p>
          <a:p>
            <a:r>
              <a:rPr lang="en-US"/>
              <a:t>Môn học có bậc càng cao thì sẽ càng trùng nhiều sinh viên và càng khó sắp xếp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pgs.ts"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oleObject" Target="../embeddings/oleObject1.bin"/><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4.sv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sv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4.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sv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4.sv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8944306" y="5180427"/>
            <a:ext cx="399388" cy="8135684"/>
          </a:xfrm>
          <a:custGeom>
            <a:avLst/>
            <a:gdLst/>
            <a:ahLst/>
            <a:cxnLst/>
            <a:rect l="l" t="t" r="r" b="b"/>
            <a:pathLst>
              <a:path w="399388" h="8135684">
                <a:moveTo>
                  <a:pt x="0" y="0"/>
                </a:moveTo>
                <a:lnTo>
                  <a:pt x="399388" y="0"/>
                </a:lnTo>
                <a:lnTo>
                  <a:pt x="399388" y="8135683"/>
                </a:lnTo>
                <a:lnTo>
                  <a:pt x="0" y="8135683"/>
                </a:lnTo>
                <a:lnTo>
                  <a:pt x="0" y="0"/>
                </a:lnTo>
                <a:close/>
              </a:path>
            </a:pathLst>
          </a:custGeom>
          <a:blipFill>
            <a:blip r:embed="rId3">
              <a:alphaModFix amt="65999"/>
            </a:blip>
            <a:stretch>
              <a:fillRect/>
            </a:stretch>
          </a:blipFill>
        </p:spPr>
      </p:sp>
      <p:sp>
        <p:nvSpPr>
          <p:cNvPr id="7" name="Freeform 7"/>
          <p:cNvSpPr/>
          <p:nvPr/>
        </p:nvSpPr>
        <p:spPr>
          <a:xfrm rot="-10800000">
            <a:off x="-895973" y="-128681"/>
            <a:ext cx="3775893" cy="3604261"/>
          </a:xfrm>
          <a:custGeom>
            <a:avLst/>
            <a:gdLst/>
            <a:ahLst/>
            <a:cxnLst/>
            <a:rect l="l" t="t" r="r" b="b"/>
            <a:pathLst>
              <a:path w="3775893" h="3604261">
                <a:moveTo>
                  <a:pt x="0" y="0"/>
                </a:moveTo>
                <a:lnTo>
                  <a:pt x="3775893" y="0"/>
                </a:lnTo>
                <a:lnTo>
                  <a:pt x="3775893" y="3604262"/>
                </a:lnTo>
                <a:lnTo>
                  <a:pt x="0" y="36042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800000">
            <a:off x="15576737" y="7107131"/>
            <a:ext cx="3775893" cy="3604261"/>
          </a:xfrm>
          <a:custGeom>
            <a:avLst/>
            <a:gdLst/>
            <a:ahLst/>
            <a:cxnLst/>
            <a:rect l="l" t="t" r="r" b="b"/>
            <a:pathLst>
              <a:path w="3775893" h="3604261">
                <a:moveTo>
                  <a:pt x="0" y="0"/>
                </a:moveTo>
                <a:lnTo>
                  <a:pt x="3775893" y="0"/>
                </a:lnTo>
                <a:lnTo>
                  <a:pt x="3775893" y="3604261"/>
                </a:lnTo>
                <a:lnTo>
                  <a:pt x="0" y="36042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6117919" y="0"/>
            <a:ext cx="1999367" cy="1771663"/>
          </a:xfrm>
          <a:custGeom>
            <a:avLst/>
            <a:gdLst/>
            <a:ahLst/>
            <a:cxnLst/>
            <a:rect l="l" t="t" r="r" b="b"/>
            <a:pathLst>
              <a:path w="1999367" h="1771663">
                <a:moveTo>
                  <a:pt x="0" y="0"/>
                </a:moveTo>
                <a:lnTo>
                  <a:pt x="1999367" y="0"/>
                </a:lnTo>
                <a:lnTo>
                  <a:pt x="1999367" y="1771663"/>
                </a:lnTo>
                <a:lnTo>
                  <a:pt x="0" y="1771663"/>
                </a:lnTo>
                <a:lnTo>
                  <a:pt x="0" y="0"/>
                </a:lnTo>
                <a:close/>
              </a:path>
            </a:pathLst>
          </a:custGeom>
          <a:blipFill>
            <a:blip r:embed="rId6"/>
            <a:stretch>
              <a:fillRect b="-12852"/>
            </a:stretch>
          </a:blipFill>
        </p:spPr>
      </p:sp>
      <p:sp>
        <p:nvSpPr>
          <p:cNvPr id="10" name="TextBox 10"/>
          <p:cNvSpPr txBox="1"/>
          <p:nvPr/>
        </p:nvSpPr>
        <p:spPr>
          <a:xfrm>
            <a:off x="2080866" y="2951934"/>
            <a:ext cx="14567046" cy="1875095"/>
          </a:xfrm>
          <a:prstGeom prst="rect">
            <a:avLst/>
          </a:prstGeom>
        </p:spPr>
        <p:txBody>
          <a:bodyPr lIns="0" tIns="0" rIns="0" bIns="0" rtlCol="0" anchor="t">
            <a:spAutoFit/>
          </a:bodyPr>
          <a:lstStyle/>
          <a:p>
            <a:pPr algn="ctr">
              <a:lnSpc>
                <a:spcPts val="15298"/>
              </a:lnSpc>
            </a:pPr>
            <a:r>
              <a:rPr lang="en-US" sz="10927" spc="-109">
                <a:solidFill>
                  <a:srgbClr val="348BFF"/>
                </a:solidFill>
                <a:latin typeface="Mokoto"/>
                <a:ea typeface="Mokoto"/>
                <a:cs typeface="Mokoto"/>
                <a:sym typeface="Mokoto"/>
              </a:rPr>
              <a:t>NHÓM 4</a:t>
            </a:r>
          </a:p>
        </p:txBody>
      </p:sp>
      <p:sp>
        <p:nvSpPr>
          <p:cNvPr id="11" name="TextBox 11"/>
          <p:cNvSpPr txBox="1"/>
          <p:nvPr/>
        </p:nvSpPr>
        <p:spPr>
          <a:xfrm>
            <a:off x="1877861" y="5025309"/>
            <a:ext cx="14532278" cy="1082038"/>
          </a:xfrm>
          <a:prstGeom prst="rect">
            <a:avLst/>
          </a:prstGeom>
        </p:spPr>
        <p:txBody>
          <a:bodyPr lIns="0" tIns="0" rIns="0" bIns="0" rtlCol="0" anchor="t">
            <a:spAutoFit/>
          </a:bodyPr>
          <a:lstStyle/>
          <a:p>
            <a:pPr algn="ctr">
              <a:lnSpc>
                <a:spcPts val="8610"/>
              </a:lnSpc>
            </a:pPr>
            <a:r>
              <a:rPr lang="en-US" sz="6150">
                <a:solidFill>
                  <a:srgbClr val="FFFFFF"/>
                </a:solidFill>
                <a:latin typeface="Times New Roman"/>
                <a:ea typeface="Times New Roman"/>
                <a:cs typeface="Times New Roman"/>
                <a:sym typeface="Times New Roman"/>
              </a:rPr>
              <a:t>Bài toán xếp lịch thi sử dụng tô màu đồ thị</a:t>
            </a:r>
          </a:p>
        </p:txBody>
      </p:sp>
      <p:sp>
        <p:nvSpPr>
          <p:cNvPr id="12" name="TextBox 12"/>
          <p:cNvSpPr txBox="1"/>
          <p:nvPr/>
        </p:nvSpPr>
        <p:spPr>
          <a:xfrm>
            <a:off x="695810" y="8468475"/>
            <a:ext cx="13927155" cy="1863725"/>
          </a:xfrm>
          <a:prstGeom prst="rect">
            <a:avLst/>
          </a:prstGeom>
        </p:spPr>
        <p:txBody>
          <a:bodyPr lIns="0" tIns="0" rIns="0" bIns="0" rtlCol="0" anchor="t">
            <a:spAutoFit/>
          </a:bodyPr>
          <a:lstStyle/>
          <a:p>
            <a:pPr algn="l">
              <a:lnSpc>
                <a:spcPts val="4900"/>
              </a:lnSpc>
            </a:pPr>
            <a:r>
              <a:rPr lang="en-US" sz="3500">
                <a:solidFill>
                  <a:srgbClr val="348BFF"/>
                </a:solidFill>
                <a:latin typeface="Times New Roman"/>
                <a:ea typeface="Times New Roman"/>
                <a:cs typeface="Times New Roman"/>
                <a:sym typeface="Times New Roman"/>
              </a:rPr>
              <a:t>Toán rời rạc và Thuật toán</a:t>
            </a:r>
          </a:p>
          <a:p>
            <a:pPr algn="l">
              <a:lnSpc>
                <a:spcPts val="4900"/>
              </a:lnSpc>
            </a:pPr>
            <a:r>
              <a:rPr lang="en-US" sz="3500">
                <a:solidFill>
                  <a:srgbClr val="348BFF"/>
                </a:solidFill>
                <a:latin typeface="Times New Roman"/>
                <a:ea typeface="Times New Roman"/>
                <a:cs typeface="Times New Roman"/>
                <a:sym typeface="Times New Roman"/>
              </a:rPr>
              <a:t>GVHD: </a:t>
            </a:r>
            <a:r>
              <a:rPr lang="en-US" sz="3500" u="sng">
                <a:solidFill>
                  <a:srgbClr val="348BFF"/>
                </a:solidFill>
                <a:latin typeface="Times New Roman"/>
                <a:ea typeface="Times New Roman"/>
                <a:cs typeface="Times New Roman"/>
                <a:sym typeface="Times New Roman"/>
                <a:hlinkClick r:id="rId7" tooltip="http://pgs.ts"/>
              </a:rPr>
              <a:t>PGS.TS</a:t>
            </a:r>
            <a:r>
              <a:rPr lang="en-US" sz="3500">
                <a:solidFill>
                  <a:srgbClr val="348BFF"/>
                </a:solidFill>
                <a:latin typeface="Times New Roman"/>
                <a:ea typeface="Times New Roman"/>
                <a:cs typeface="Times New Roman"/>
                <a:sym typeface="Times New Roman"/>
              </a:rPr>
              <a:t> Nguyễn Thị Hồng Minh</a:t>
            </a:r>
          </a:p>
          <a:p>
            <a:pPr algn="l">
              <a:lnSpc>
                <a:spcPts val="4900"/>
              </a:lnSpc>
            </a:pPr>
            <a:endParaRPr lang="en-US" sz="3500">
              <a:solidFill>
                <a:srgbClr val="348BFF"/>
              </a:solidFill>
              <a:latin typeface="Times New Roman"/>
              <a:ea typeface="Times New Roman"/>
              <a:cs typeface="Times New Roman"/>
              <a:sym typeface="Times New Roman"/>
            </a:endParaRPr>
          </a:p>
        </p:txBody>
      </p:sp>
      <p:sp>
        <p:nvSpPr>
          <p:cNvPr id="13" name="TextBox 13"/>
          <p:cNvSpPr txBox="1"/>
          <p:nvPr/>
        </p:nvSpPr>
        <p:spPr>
          <a:xfrm>
            <a:off x="1877861" y="1154444"/>
            <a:ext cx="14532278" cy="1082038"/>
          </a:xfrm>
          <a:prstGeom prst="rect">
            <a:avLst/>
          </a:prstGeom>
        </p:spPr>
        <p:txBody>
          <a:bodyPr lIns="0" tIns="0" rIns="0" bIns="0" rtlCol="0" anchor="t">
            <a:spAutoFit/>
          </a:bodyPr>
          <a:lstStyle/>
          <a:p>
            <a:pPr algn="ctr">
              <a:lnSpc>
                <a:spcPts val="8610"/>
              </a:lnSpc>
            </a:pPr>
            <a:r>
              <a:rPr lang="en-US" sz="6150">
                <a:solidFill>
                  <a:srgbClr val="348BFF"/>
                </a:solidFill>
                <a:latin typeface="Times New Roman"/>
                <a:ea typeface="Times New Roman"/>
                <a:cs typeface="Times New Roman"/>
                <a:sym typeface="Times New Roman"/>
              </a:rPr>
              <a:t>Báo cáo hết môn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407264" flipH="1">
            <a:off x="13760017" y="6817824"/>
            <a:ext cx="4768277" cy="4551537"/>
          </a:xfrm>
          <a:custGeom>
            <a:avLst/>
            <a:gdLst/>
            <a:ahLst/>
            <a:cxnLst/>
            <a:rect l="l" t="t" r="r" b="b"/>
            <a:pathLst>
              <a:path w="4768277" h="455153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3275">
            <a:off x="12646576" y="-298239"/>
            <a:ext cx="6995160" cy="5246370"/>
            <a:chOff x="0" y="0"/>
            <a:chExt cx="812800" cy="609600"/>
          </a:xfrm>
        </p:grpSpPr>
        <p:sp>
          <p:nvSpPr>
            <p:cNvPr id="8" name="Freeform 8"/>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5"/>
              <a:stretch>
                <a:fillRect r="-13324"/>
              </a:stretch>
            </a:blipFill>
          </p:spPr>
        </p:sp>
      </p:grpSp>
      <p:grpSp>
        <p:nvGrpSpPr>
          <p:cNvPr id="9" name="Group 9"/>
          <p:cNvGrpSpPr/>
          <p:nvPr/>
        </p:nvGrpSpPr>
        <p:grpSpPr>
          <a:xfrm rot="3275">
            <a:off x="9023612" y="5146831"/>
            <a:ext cx="6995160" cy="5246370"/>
            <a:chOff x="0" y="0"/>
            <a:chExt cx="812800" cy="609600"/>
          </a:xfrm>
        </p:grpSpPr>
        <p:sp>
          <p:nvSpPr>
            <p:cNvPr id="10" name="Freeform 1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6"/>
              <a:stretch>
                <a:fillRect l="-6739" r="-5619"/>
              </a:stretch>
            </a:blipFill>
          </p:spPr>
        </p:sp>
      </p:grpSp>
      <p:sp>
        <p:nvSpPr>
          <p:cNvPr id="11" name="Freeform 11"/>
          <p:cNvSpPr/>
          <p:nvPr/>
        </p:nvSpPr>
        <p:spPr>
          <a:xfrm rot="-10792239" flipH="1">
            <a:off x="-724606" y="8954135"/>
            <a:ext cx="2702689" cy="2579840"/>
          </a:xfrm>
          <a:custGeom>
            <a:avLst/>
            <a:gdLst/>
            <a:ahLst/>
            <a:cxnLst/>
            <a:rect l="l" t="t" r="r" b="b"/>
            <a:pathLst>
              <a:path w="2702689" h="2579840">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626738" y="550533"/>
            <a:ext cx="2291645" cy="652047"/>
            <a:chOff x="0" y="0"/>
            <a:chExt cx="3055526" cy="869397"/>
          </a:xfrm>
        </p:grpSpPr>
        <p:grpSp>
          <p:nvGrpSpPr>
            <p:cNvPr id="13" name="Group 13"/>
            <p:cNvGrpSpPr/>
            <p:nvPr/>
          </p:nvGrpSpPr>
          <p:grpSpPr>
            <a:xfrm>
              <a:off x="0" y="0"/>
              <a:ext cx="747138" cy="869397"/>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5" name="TextBox 15"/>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6" name="TextBox 16"/>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7" name="TextBox 17"/>
          <p:cNvSpPr txBox="1"/>
          <p:nvPr/>
        </p:nvSpPr>
        <p:spPr>
          <a:xfrm>
            <a:off x="753644" y="2746789"/>
            <a:ext cx="12876367" cy="5159378"/>
          </a:xfrm>
          <a:prstGeom prst="rect">
            <a:avLst/>
          </a:prstGeom>
        </p:spPr>
        <p:txBody>
          <a:bodyPr lIns="0" tIns="0" rIns="0" bIns="0" rtlCol="0" anchor="t">
            <a:spAutoFit/>
          </a:bodyPr>
          <a:lstStyle/>
          <a:p>
            <a:pPr marL="1079494" lvl="1" indent="-539747" algn="l">
              <a:lnSpc>
                <a:spcPts val="10449"/>
              </a:lnSpc>
              <a:buAutoNum type="arabicPeriod"/>
            </a:pPr>
            <a:r>
              <a:rPr lang="en-US" sz="4999" b="1">
                <a:solidFill>
                  <a:srgbClr val="FFFFFF"/>
                </a:solidFill>
                <a:latin typeface="Canva Sans Bold"/>
                <a:ea typeface="Canva Sans Bold"/>
                <a:cs typeface="Canva Sans Bold"/>
                <a:sym typeface="Canva Sans Bold"/>
              </a:rPr>
              <a:t> Bài toán xếp lịch thi</a:t>
            </a:r>
          </a:p>
          <a:p>
            <a:pPr marL="1079494" lvl="1" indent="-539747" algn="l">
              <a:lnSpc>
                <a:spcPts val="10449"/>
              </a:lnSpc>
              <a:buAutoNum type="arabicPeriod"/>
            </a:pPr>
            <a:r>
              <a:rPr lang="en-US" sz="4999" b="1">
                <a:solidFill>
                  <a:srgbClr val="FFFFFF"/>
                </a:solidFill>
                <a:latin typeface="Canva Sans Bold"/>
                <a:ea typeface="Canva Sans Bold"/>
                <a:cs typeface="Canva Sans Bold"/>
                <a:sym typeface="Canva Sans Bold"/>
              </a:rPr>
              <a:t> Các thuật toán áp dụng</a:t>
            </a:r>
          </a:p>
          <a:p>
            <a:pPr marL="1079494" lvl="1" indent="-539747" algn="l">
              <a:lnSpc>
                <a:spcPts val="10449"/>
              </a:lnSpc>
              <a:buAutoNum type="arabicPeriod"/>
            </a:pPr>
            <a:r>
              <a:rPr lang="en-US" sz="4999" b="1">
                <a:solidFill>
                  <a:srgbClr val="FFFFFF"/>
                </a:solidFill>
                <a:latin typeface="Canva Sans Bold"/>
                <a:ea typeface="Canva Sans Bold"/>
                <a:cs typeface="Canva Sans Bold"/>
                <a:sym typeface="Canva Sans Bold"/>
              </a:rPr>
              <a:t> Dữ liệu và thực nghiệm</a:t>
            </a:r>
          </a:p>
          <a:p>
            <a:pPr marL="1079494" lvl="1" indent="-539747" algn="l">
              <a:lnSpc>
                <a:spcPts val="10449"/>
              </a:lnSpc>
              <a:buAutoNum type="arabicPeriod"/>
            </a:pPr>
            <a:r>
              <a:rPr lang="en-US" sz="4999" b="1">
                <a:solidFill>
                  <a:srgbClr val="FFFFFF"/>
                </a:solidFill>
                <a:latin typeface="Canva Sans Bold"/>
                <a:ea typeface="Canva Sans Bold"/>
                <a:cs typeface="Canva Sans Bold"/>
                <a:sym typeface="Canva Sans Bold"/>
              </a:rPr>
              <a:t> Đánh giá và Kết luận</a:t>
            </a:r>
          </a:p>
        </p:txBody>
      </p:sp>
      <p:sp>
        <p:nvSpPr>
          <p:cNvPr id="18" name="TextBox 18"/>
          <p:cNvSpPr txBox="1"/>
          <p:nvPr/>
        </p:nvSpPr>
        <p:spPr>
          <a:xfrm>
            <a:off x="1028700" y="1031130"/>
            <a:ext cx="13053478" cy="1566544"/>
          </a:xfrm>
          <a:prstGeom prst="rect">
            <a:avLst/>
          </a:prstGeom>
        </p:spPr>
        <p:txBody>
          <a:bodyPr lIns="0" tIns="0" rIns="0" bIns="0" rtlCol="0" anchor="t">
            <a:spAutoFit/>
          </a:bodyPr>
          <a:lstStyle/>
          <a:p>
            <a:pPr algn="l">
              <a:lnSpc>
                <a:spcPts val="12880"/>
              </a:lnSpc>
            </a:pPr>
            <a:r>
              <a:rPr lang="en-US" sz="9200" b="1">
                <a:solidFill>
                  <a:srgbClr val="FFFFFF"/>
                </a:solidFill>
                <a:latin typeface="Canva Sans Bold"/>
                <a:ea typeface="Canva Sans Bold"/>
                <a:cs typeface="Canva Sans Bold"/>
                <a:sym typeface="Canva Sans Bold"/>
              </a:rPr>
              <a:t>Mục lục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407264" flipH="1">
            <a:off x="13760017" y="6817824"/>
            <a:ext cx="4768277" cy="4551537"/>
          </a:xfrm>
          <a:custGeom>
            <a:avLst/>
            <a:gdLst/>
            <a:ahLst/>
            <a:cxnLst/>
            <a:rect l="l" t="t" r="r" b="b"/>
            <a:pathLst>
              <a:path w="4768277" h="455153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3275">
            <a:off x="12646576" y="-298239"/>
            <a:ext cx="6995160" cy="5246370"/>
            <a:chOff x="0" y="0"/>
            <a:chExt cx="812800" cy="609600"/>
          </a:xfrm>
        </p:grpSpPr>
        <p:sp>
          <p:nvSpPr>
            <p:cNvPr id="8" name="Freeform 8"/>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5"/>
              <a:stretch>
                <a:fillRect r="-13324"/>
              </a:stretch>
            </a:blipFill>
          </p:spPr>
        </p:sp>
      </p:grpSp>
      <p:grpSp>
        <p:nvGrpSpPr>
          <p:cNvPr id="9" name="Group 9"/>
          <p:cNvGrpSpPr/>
          <p:nvPr/>
        </p:nvGrpSpPr>
        <p:grpSpPr>
          <a:xfrm rot="3275">
            <a:off x="9023612" y="5146831"/>
            <a:ext cx="6995160" cy="5246370"/>
            <a:chOff x="0" y="0"/>
            <a:chExt cx="812800" cy="609600"/>
          </a:xfrm>
        </p:grpSpPr>
        <p:sp>
          <p:nvSpPr>
            <p:cNvPr id="10" name="Freeform 1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6"/>
              <a:stretch>
                <a:fillRect l="-6739" r="-5619"/>
              </a:stretch>
            </a:blipFill>
          </p:spPr>
        </p:sp>
      </p:grpSp>
      <p:sp>
        <p:nvSpPr>
          <p:cNvPr id="11" name="Freeform 11"/>
          <p:cNvSpPr/>
          <p:nvPr/>
        </p:nvSpPr>
        <p:spPr>
          <a:xfrm rot="-10792239" flipH="1">
            <a:off x="-724606" y="8954135"/>
            <a:ext cx="2702689" cy="2579840"/>
          </a:xfrm>
          <a:custGeom>
            <a:avLst/>
            <a:gdLst/>
            <a:ahLst/>
            <a:cxnLst/>
            <a:rect l="l" t="t" r="r" b="b"/>
            <a:pathLst>
              <a:path w="2702689" h="2579840">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626738" y="550533"/>
            <a:ext cx="2291645" cy="652047"/>
            <a:chOff x="0" y="0"/>
            <a:chExt cx="3055526" cy="869397"/>
          </a:xfrm>
        </p:grpSpPr>
        <p:grpSp>
          <p:nvGrpSpPr>
            <p:cNvPr id="13" name="Group 13"/>
            <p:cNvGrpSpPr/>
            <p:nvPr/>
          </p:nvGrpSpPr>
          <p:grpSpPr>
            <a:xfrm>
              <a:off x="0" y="0"/>
              <a:ext cx="747138" cy="869397"/>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5" name="TextBox 15"/>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6" name="TextBox 16"/>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7" name="TextBox 17"/>
          <p:cNvSpPr txBox="1"/>
          <p:nvPr/>
        </p:nvSpPr>
        <p:spPr>
          <a:xfrm>
            <a:off x="858155" y="3460115"/>
            <a:ext cx="8835957" cy="3195319"/>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 1. Bài toán xếp lịch thi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626738" y="2489079"/>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1028700" y="2622429"/>
            <a:ext cx="14494969" cy="8655051"/>
          </a:xfrm>
          <a:prstGeom prst="rect">
            <a:avLst/>
          </a:prstGeom>
        </p:spPr>
        <p:txBody>
          <a:bodyPr lIns="0" tIns="0" rIns="0" bIns="0" rtlCol="0" anchor="t">
            <a:spAutoFit/>
          </a:bodyPr>
          <a:lstStyle/>
          <a:p>
            <a:pPr algn="l">
              <a:lnSpc>
                <a:spcPts val="6999"/>
              </a:lnSpc>
            </a:pPr>
            <a:r>
              <a:rPr lang="en-US" sz="4999" b="1">
                <a:solidFill>
                  <a:srgbClr val="FFFFFF"/>
                </a:solidFill>
                <a:latin typeface="Roboto Bold"/>
                <a:ea typeface="Roboto Bold"/>
                <a:cs typeface="Roboto Bold"/>
                <a:sym typeface="Roboto Bold"/>
              </a:rPr>
              <a:t>Bài toán xếp lịch thi trong đại học</a:t>
            </a:r>
          </a:p>
          <a:p>
            <a:pPr algn="l">
              <a:lnSpc>
                <a:spcPts val="2800"/>
              </a:lnSpc>
            </a:pPr>
            <a:endParaRPr lang="en-US" sz="4999" b="1">
              <a:solidFill>
                <a:srgbClr val="FFFFFF"/>
              </a:solidFill>
              <a:latin typeface="Roboto Bold"/>
              <a:ea typeface="Roboto Bold"/>
              <a:cs typeface="Roboto Bold"/>
              <a:sym typeface="Roboto Bold"/>
            </a:endParaRPr>
          </a:p>
          <a:p>
            <a:pPr marL="755644" lvl="1" indent="-377822" algn="l">
              <a:lnSpc>
                <a:spcPts val="4899"/>
              </a:lnSpc>
              <a:buFont typeface="Arial"/>
              <a:buChar char="•"/>
            </a:pPr>
            <a:r>
              <a:rPr lang="en-US" sz="3499">
                <a:solidFill>
                  <a:srgbClr val="FFFFFF"/>
                </a:solidFill>
                <a:latin typeface="Roboto"/>
                <a:ea typeface="Roboto"/>
                <a:cs typeface="Roboto"/>
                <a:sym typeface="Roboto"/>
              </a:rPr>
              <a:t>Số lượng sinh viên và môn học lớn</a:t>
            </a:r>
          </a:p>
          <a:p>
            <a:pPr marL="755644" lvl="1" indent="-377822" algn="l">
              <a:lnSpc>
                <a:spcPts val="4899"/>
              </a:lnSpc>
              <a:buFont typeface="Arial"/>
              <a:buChar char="•"/>
            </a:pPr>
            <a:r>
              <a:rPr lang="en-US" sz="3499">
                <a:solidFill>
                  <a:srgbClr val="FFFFFF"/>
                </a:solidFill>
                <a:latin typeface="Roboto"/>
                <a:ea typeface="Roboto"/>
                <a:cs typeface="Roboto"/>
                <a:sym typeface="Roboto"/>
              </a:rPr>
              <a:t>Nhiều ràng buộc phức tạp</a:t>
            </a:r>
          </a:p>
          <a:p>
            <a:pPr marL="755644" lvl="1" indent="-377822" algn="l">
              <a:lnSpc>
                <a:spcPts val="4899"/>
              </a:lnSpc>
              <a:buFont typeface="Arial"/>
              <a:buChar char="•"/>
            </a:pPr>
            <a:r>
              <a:rPr lang="en-US" sz="3499">
                <a:solidFill>
                  <a:srgbClr val="FFFFFF"/>
                </a:solidFill>
                <a:latin typeface="Roboto"/>
                <a:ea typeface="Roboto"/>
                <a:cs typeface="Roboto"/>
                <a:sym typeface="Roboto"/>
              </a:rPr>
              <a:t>Xếp lịch thủ công:</a:t>
            </a:r>
          </a:p>
          <a:p>
            <a:pPr marL="1511288" lvl="2" indent="-503763" algn="l">
              <a:lnSpc>
                <a:spcPts val="4899"/>
              </a:lnSpc>
              <a:buFont typeface="Arial"/>
              <a:buChar char="⚬"/>
            </a:pPr>
            <a:r>
              <a:rPr lang="en-US" sz="3499">
                <a:solidFill>
                  <a:srgbClr val="FFFFFF"/>
                </a:solidFill>
                <a:latin typeface="Roboto"/>
                <a:ea typeface="Roboto"/>
                <a:cs typeface="Roboto"/>
                <a:sym typeface="Roboto"/>
              </a:rPr>
              <a:t>Tốn thời gian</a:t>
            </a:r>
          </a:p>
          <a:p>
            <a:pPr marL="1511288" lvl="2" indent="-503763" algn="l">
              <a:lnSpc>
                <a:spcPts val="4899"/>
              </a:lnSpc>
              <a:buFont typeface="Arial"/>
              <a:buChar char="⚬"/>
            </a:pPr>
            <a:r>
              <a:rPr lang="en-US" sz="3499">
                <a:solidFill>
                  <a:srgbClr val="FFFFFF"/>
                </a:solidFill>
                <a:latin typeface="Roboto"/>
                <a:ea typeface="Roboto"/>
                <a:cs typeface="Roboto"/>
                <a:sym typeface="Roboto"/>
              </a:rPr>
              <a:t>Dễ sai sót</a:t>
            </a:r>
          </a:p>
          <a:p>
            <a:pPr marL="755644" lvl="1" indent="-377822" algn="l">
              <a:lnSpc>
                <a:spcPts val="4899"/>
              </a:lnSpc>
              <a:buFont typeface="Arial"/>
              <a:buChar char="•"/>
            </a:pPr>
            <a:r>
              <a:rPr lang="en-US" sz="3499">
                <a:solidFill>
                  <a:srgbClr val="FFFFFF"/>
                </a:solidFill>
                <a:latin typeface="Roboto"/>
                <a:ea typeface="Roboto"/>
                <a:cs typeface="Roboto"/>
                <a:sym typeface="Roboto"/>
              </a:rPr>
              <a:t>Nhu cầu:</a:t>
            </a:r>
          </a:p>
          <a:p>
            <a:pPr marL="1511288" lvl="2" indent="-503763" algn="l">
              <a:lnSpc>
                <a:spcPts val="4899"/>
              </a:lnSpc>
              <a:buFont typeface="Arial"/>
              <a:buChar char="⚬"/>
            </a:pPr>
            <a:r>
              <a:rPr lang="en-US" sz="3499">
                <a:solidFill>
                  <a:srgbClr val="FFFFFF"/>
                </a:solidFill>
                <a:latin typeface="Roboto"/>
                <a:ea typeface="Roboto"/>
                <a:cs typeface="Roboto"/>
                <a:sym typeface="Roboto"/>
              </a:rPr>
              <a:t>Tự động hóa</a:t>
            </a:r>
          </a:p>
          <a:p>
            <a:pPr marL="1511288" lvl="2" indent="-503763" algn="l">
              <a:lnSpc>
                <a:spcPts val="4899"/>
              </a:lnSpc>
              <a:buFont typeface="Arial"/>
              <a:buChar char="⚬"/>
            </a:pPr>
            <a:r>
              <a:rPr lang="en-US" sz="3499">
                <a:solidFill>
                  <a:srgbClr val="FFFFFF"/>
                </a:solidFill>
                <a:latin typeface="Roboto"/>
                <a:ea typeface="Roboto"/>
                <a:cs typeface="Roboto"/>
                <a:sym typeface="Roboto"/>
              </a:rPr>
              <a:t>Tối ưu lịch thi cho sinh viên và nhà trường</a:t>
            </a:r>
          </a:p>
          <a:p>
            <a:pPr marL="755644" lvl="1" indent="-377822" algn="l">
              <a:lnSpc>
                <a:spcPts val="4899"/>
              </a:lnSpc>
              <a:buFont typeface="Arial"/>
              <a:buChar char="•"/>
            </a:pPr>
            <a:r>
              <a:rPr lang="en-US" sz="3499">
                <a:solidFill>
                  <a:srgbClr val="FFFFFF"/>
                </a:solidFill>
                <a:latin typeface="Roboto"/>
                <a:ea typeface="Roboto"/>
                <a:cs typeface="Roboto"/>
                <a:sym typeface="Roboto"/>
              </a:rPr>
              <a:t>Là bài toán tối ưu tổ hợp =&gt; Thuộc lớp bài toán NP-khó =&gt;Có thể mô hình hóa bằng tô màu đồ thị</a:t>
            </a:r>
          </a:p>
          <a:p>
            <a:pPr algn="l">
              <a:lnSpc>
                <a:spcPts val="4899"/>
              </a:lnSpc>
            </a:pPr>
            <a:endParaRPr lang="en-US" sz="3499">
              <a:solidFill>
                <a:srgbClr val="FFFFFF"/>
              </a:solidFill>
              <a:latin typeface="Roboto"/>
              <a:ea typeface="Roboto"/>
              <a:cs typeface="Roboto"/>
              <a:sym typeface="Roboto"/>
            </a:endParaRPr>
          </a:p>
          <a:p>
            <a:pPr algn="l">
              <a:lnSpc>
                <a:spcPts val="4899"/>
              </a:lnSpc>
            </a:pPr>
            <a:endParaRPr lang="en-US" sz="3499">
              <a:solidFill>
                <a:srgbClr val="FFFFFF"/>
              </a:solidFill>
              <a:latin typeface="Roboto"/>
              <a:ea typeface="Roboto"/>
              <a:cs typeface="Roboto"/>
              <a:sym typeface="Roboto"/>
            </a:endParaRPr>
          </a:p>
        </p:txBody>
      </p:sp>
      <p:sp>
        <p:nvSpPr>
          <p:cNvPr id="15" name="TextBox 15"/>
          <p:cNvSpPr txBox="1"/>
          <p:nvPr/>
        </p:nvSpPr>
        <p:spPr>
          <a:xfrm>
            <a:off x="626738" y="1281827"/>
            <a:ext cx="8907614"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BÀI TOÁN ĐẶT 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626738" y="2422681"/>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13805234" y="2568547"/>
            <a:ext cx="3214489" cy="3132242"/>
          </a:xfrm>
          <a:custGeom>
            <a:avLst/>
            <a:gdLst/>
            <a:ahLst/>
            <a:cxnLst/>
            <a:rect l="l" t="t" r="r" b="b"/>
            <a:pathLst>
              <a:path w="3214489" h="3132242">
                <a:moveTo>
                  <a:pt x="0" y="0"/>
                </a:moveTo>
                <a:lnTo>
                  <a:pt x="3214489" y="0"/>
                </a:lnTo>
                <a:lnTo>
                  <a:pt x="3214489" y="3132242"/>
                </a:lnTo>
                <a:lnTo>
                  <a:pt x="0" y="3132242"/>
                </a:lnTo>
                <a:lnTo>
                  <a:pt x="0" y="0"/>
                </a:lnTo>
                <a:close/>
              </a:path>
            </a:pathLst>
          </a:custGeom>
          <a:blipFill>
            <a:blip r:embed="rId6"/>
            <a:stretch>
              <a:fillRect/>
            </a:stretch>
          </a:blipFill>
        </p:spPr>
      </p:sp>
      <p:sp>
        <p:nvSpPr>
          <p:cNvPr id="15" name="TextBox 15"/>
          <p:cNvSpPr txBox="1"/>
          <p:nvPr/>
        </p:nvSpPr>
        <p:spPr>
          <a:xfrm>
            <a:off x="392179" y="2922434"/>
            <a:ext cx="11575866" cy="3440049"/>
          </a:xfrm>
          <a:prstGeom prst="rect">
            <a:avLst/>
          </a:prstGeom>
        </p:spPr>
        <p:txBody>
          <a:bodyPr lIns="0" tIns="0" rIns="0" bIns="0" rtlCol="0" anchor="t">
            <a:spAutoFit/>
          </a:bodyPr>
          <a:lstStyle/>
          <a:p>
            <a:pPr marL="496571" lvl="1" indent="-248285" algn="l">
              <a:lnSpc>
                <a:spcPts val="4623"/>
              </a:lnSpc>
              <a:buFont typeface="Arial"/>
              <a:buChar char="•"/>
            </a:pPr>
            <a:r>
              <a:rPr lang="en-US" sz="2300">
                <a:solidFill>
                  <a:srgbClr val="FFFFFF"/>
                </a:solidFill>
                <a:latin typeface="Roboto"/>
                <a:ea typeface="Roboto"/>
                <a:cs typeface="Roboto"/>
                <a:sym typeface="Roboto"/>
              </a:rPr>
              <a:t>Đỉnh (V): Mỗi môn học là một đỉnh của đồ thị.</a:t>
            </a:r>
          </a:p>
          <a:p>
            <a:pPr marL="496571" lvl="1" indent="-248285" algn="l">
              <a:lnSpc>
                <a:spcPts val="4623"/>
              </a:lnSpc>
              <a:buFont typeface="Arial"/>
              <a:buChar char="•"/>
            </a:pPr>
            <a:r>
              <a:rPr lang="en-US" sz="2300">
                <a:solidFill>
                  <a:srgbClr val="FFFFFF"/>
                </a:solidFill>
                <a:latin typeface="Roboto"/>
                <a:ea typeface="Roboto"/>
                <a:cs typeface="Roboto"/>
                <a:sym typeface="Roboto"/>
              </a:rPr>
              <a:t>Cạnh (E): Nối giữa hai môn thi khi có sinh viên đăng ký học cả hai môn đó (Xung đột)</a:t>
            </a:r>
          </a:p>
          <a:p>
            <a:pPr marL="496571" lvl="1" indent="-248285" algn="l">
              <a:lnSpc>
                <a:spcPts val="4623"/>
              </a:lnSpc>
              <a:buFont typeface="Arial"/>
              <a:buChar char="•"/>
            </a:pPr>
            <a:r>
              <a:rPr lang="en-US" sz="2300">
                <a:solidFill>
                  <a:srgbClr val="FFFFFF"/>
                </a:solidFill>
                <a:latin typeface="Roboto"/>
                <a:ea typeface="Roboto"/>
                <a:cs typeface="Roboto"/>
                <a:sym typeface="Roboto"/>
              </a:rPr>
              <a:t>Màu sắc: Mỗi màu đại diện cho một ca thi (buổi thi) khác nhau.</a:t>
            </a:r>
          </a:p>
          <a:p>
            <a:pPr marL="496571" lvl="1" indent="-248285" algn="l">
              <a:lnSpc>
                <a:spcPts val="4623"/>
              </a:lnSpc>
              <a:buFont typeface="Arial"/>
              <a:buChar char="•"/>
            </a:pPr>
            <a:r>
              <a:rPr lang="en-US" sz="2300">
                <a:solidFill>
                  <a:srgbClr val="FFFFFF"/>
                </a:solidFill>
                <a:latin typeface="Roboto"/>
                <a:ea typeface="Roboto"/>
                <a:cs typeface="Roboto"/>
                <a:sym typeface="Roboto"/>
              </a:rPr>
              <a:t>Mục tiêu: Dùng tô màu đồ thị để sắp xếp được lịch thi cho các môn sao cho thỏa mãn các ràng buộc của đề bài</a:t>
            </a:r>
          </a:p>
          <a:p>
            <a:pPr algn="l">
              <a:lnSpc>
                <a:spcPts val="4623"/>
              </a:lnSpc>
            </a:pPr>
            <a:endParaRPr lang="en-US" sz="2300">
              <a:solidFill>
                <a:srgbClr val="FFFFFF"/>
              </a:solidFill>
              <a:latin typeface="Roboto"/>
              <a:ea typeface="Roboto"/>
              <a:cs typeface="Roboto"/>
              <a:sym typeface="Roboto"/>
            </a:endParaRPr>
          </a:p>
        </p:txBody>
      </p:sp>
      <p:sp>
        <p:nvSpPr>
          <p:cNvPr id="16" name="TextBox 16"/>
          <p:cNvSpPr txBox="1"/>
          <p:nvPr/>
        </p:nvSpPr>
        <p:spPr>
          <a:xfrm>
            <a:off x="626738" y="1247050"/>
            <a:ext cx="10057931"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MÔ HÌNH HÓA BẰNG ĐỒ THỊ</a:t>
            </a:r>
          </a:p>
        </p:txBody>
      </p:sp>
      <p:sp>
        <p:nvSpPr>
          <p:cNvPr id="17" name="TextBox 17"/>
          <p:cNvSpPr txBox="1"/>
          <p:nvPr/>
        </p:nvSpPr>
        <p:spPr>
          <a:xfrm>
            <a:off x="755098" y="6133882"/>
            <a:ext cx="7954590" cy="2960879"/>
          </a:xfrm>
          <a:prstGeom prst="rect">
            <a:avLst/>
          </a:prstGeom>
        </p:spPr>
        <p:txBody>
          <a:bodyPr lIns="0" tIns="0" rIns="0" bIns="0" rtlCol="0" anchor="t">
            <a:spAutoFit/>
          </a:bodyPr>
          <a:lstStyle/>
          <a:p>
            <a:pPr algn="l">
              <a:lnSpc>
                <a:spcPts val="5819"/>
              </a:lnSpc>
            </a:pPr>
            <a:r>
              <a:rPr lang="en-US" sz="2999" b="1">
                <a:solidFill>
                  <a:srgbClr val="FFFFFF"/>
                </a:solidFill>
                <a:latin typeface="Roboto Bold"/>
                <a:ea typeface="Roboto Bold"/>
                <a:cs typeface="Roboto Bold"/>
                <a:sym typeface="Roboto Bold"/>
              </a:rPr>
              <a:t>INPUT: Input của bài toán gồm</a:t>
            </a:r>
          </a:p>
          <a:p>
            <a:pPr marL="496571" lvl="1" indent="-248285" algn="l">
              <a:lnSpc>
                <a:spcPts val="4462"/>
              </a:lnSpc>
              <a:buFont typeface="Arial"/>
              <a:buChar char="•"/>
            </a:pPr>
            <a:r>
              <a:rPr lang="en-US" sz="2300">
                <a:solidFill>
                  <a:srgbClr val="FFFFFF"/>
                </a:solidFill>
                <a:latin typeface="Roboto"/>
                <a:ea typeface="Roboto"/>
                <a:cs typeface="Roboto"/>
                <a:sym typeface="Roboto"/>
              </a:rPr>
              <a:t>Bảng danh sách tên sinh viên</a:t>
            </a:r>
          </a:p>
          <a:p>
            <a:pPr marL="496571" lvl="1" indent="-248285" algn="l">
              <a:lnSpc>
                <a:spcPts val="4462"/>
              </a:lnSpc>
              <a:buFont typeface="Arial"/>
              <a:buChar char="•"/>
            </a:pPr>
            <a:r>
              <a:rPr lang="en-US" sz="2300">
                <a:solidFill>
                  <a:srgbClr val="FFFFFF"/>
                </a:solidFill>
                <a:latin typeface="Roboto"/>
                <a:ea typeface="Roboto"/>
                <a:cs typeface="Roboto"/>
                <a:sym typeface="Roboto"/>
              </a:rPr>
              <a:t>Bảng danh sách môn học</a:t>
            </a:r>
          </a:p>
          <a:p>
            <a:pPr marL="496571" lvl="1" indent="-248285" algn="l">
              <a:lnSpc>
                <a:spcPts val="4462"/>
              </a:lnSpc>
              <a:buFont typeface="Arial"/>
              <a:buChar char="•"/>
            </a:pPr>
            <a:r>
              <a:rPr lang="en-US" sz="2300">
                <a:solidFill>
                  <a:srgbClr val="FFFFFF"/>
                </a:solidFill>
                <a:latin typeface="Roboto"/>
                <a:ea typeface="Roboto"/>
                <a:cs typeface="Roboto"/>
                <a:sym typeface="Roboto"/>
              </a:rPr>
              <a:t>Bảng danh sách sinh viên đăng ký môn học</a:t>
            </a:r>
          </a:p>
          <a:p>
            <a:pPr algn="l">
              <a:lnSpc>
                <a:spcPts val="4462"/>
              </a:lnSpc>
            </a:pPr>
            <a:endParaRPr lang="en-US" sz="2300">
              <a:solidFill>
                <a:srgbClr val="FFFFFF"/>
              </a:solidFill>
              <a:latin typeface="Roboto"/>
              <a:ea typeface="Roboto"/>
              <a:cs typeface="Roboto"/>
              <a:sym typeface="Roboto"/>
            </a:endParaRPr>
          </a:p>
        </p:txBody>
      </p:sp>
      <p:sp>
        <p:nvSpPr>
          <p:cNvPr id="18" name="TextBox 18"/>
          <p:cNvSpPr txBox="1"/>
          <p:nvPr/>
        </p:nvSpPr>
        <p:spPr>
          <a:xfrm>
            <a:off x="9065133" y="6143407"/>
            <a:ext cx="7954590" cy="2954719"/>
          </a:xfrm>
          <a:prstGeom prst="rect">
            <a:avLst/>
          </a:prstGeom>
        </p:spPr>
        <p:txBody>
          <a:bodyPr lIns="0" tIns="0" rIns="0" bIns="0" rtlCol="0" anchor="t">
            <a:spAutoFit/>
          </a:bodyPr>
          <a:lstStyle/>
          <a:p>
            <a:pPr algn="l">
              <a:lnSpc>
                <a:spcPts val="5789"/>
              </a:lnSpc>
            </a:pPr>
            <a:r>
              <a:rPr lang="en-US" sz="2999" b="1">
                <a:solidFill>
                  <a:srgbClr val="FFFFFF"/>
                </a:solidFill>
                <a:latin typeface="Roboto Bold"/>
                <a:ea typeface="Roboto Bold"/>
                <a:cs typeface="Roboto Bold"/>
                <a:sym typeface="Roboto Bold"/>
              </a:rPr>
              <a:t>OUTPUT: Bảng các ca thi đã được sắp xếp</a:t>
            </a:r>
          </a:p>
          <a:p>
            <a:pPr marL="496571" lvl="1" indent="-248285" algn="l">
              <a:lnSpc>
                <a:spcPts val="4439"/>
              </a:lnSpc>
              <a:buFont typeface="Arial"/>
              <a:buChar char="•"/>
            </a:pPr>
            <a:r>
              <a:rPr lang="en-US" sz="2300">
                <a:solidFill>
                  <a:srgbClr val="FFFFFF"/>
                </a:solidFill>
                <a:latin typeface="Roboto"/>
                <a:ea typeface="Roboto"/>
                <a:cs typeface="Roboto"/>
                <a:sym typeface="Roboto"/>
              </a:rPr>
              <a:t>Danh sách các ca thi</a:t>
            </a:r>
          </a:p>
          <a:p>
            <a:pPr marL="496571" lvl="1" indent="-248285" algn="l">
              <a:lnSpc>
                <a:spcPts val="4439"/>
              </a:lnSpc>
              <a:buFont typeface="Arial"/>
              <a:buChar char="•"/>
            </a:pPr>
            <a:r>
              <a:rPr lang="en-US" sz="2300">
                <a:solidFill>
                  <a:srgbClr val="FFFFFF"/>
                </a:solidFill>
                <a:latin typeface="Roboto"/>
                <a:ea typeface="Roboto"/>
                <a:cs typeface="Roboto"/>
                <a:sym typeface="Roboto"/>
              </a:rPr>
              <a:t>Không có xung đột sinh viên</a:t>
            </a:r>
          </a:p>
          <a:p>
            <a:pPr algn="l">
              <a:lnSpc>
                <a:spcPts val="4439"/>
              </a:lnSpc>
            </a:pPr>
            <a:endParaRPr lang="en-US" sz="2300">
              <a:solidFill>
                <a:srgbClr val="FFFFFF"/>
              </a:solidFill>
              <a:latin typeface="Roboto"/>
              <a:ea typeface="Roboto"/>
              <a:cs typeface="Roboto"/>
              <a:sym typeface="Roboto"/>
            </a:endParaRPr>
          </a:p>
          <a:p>
            <a:pPr algn="l">
              <a:lnSpc>
                <a:spcPts val="4439"/>
              </a:lnSpc>
            </a:pPr>
            <a:endParaRPr lang="en-US" sz="2300">
              <a:solidFill>
                <a:srgbClr val="FFFFF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626738" y="2489079"/>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1028700" y="2828225"/>
            <a:ext cx="7445767" cy="6430075"/>
          </a:xfrm>
          <a:prstGeom prst="rect">
            <a:avLst/>
          </a:prstGeom>
        </p:spPr>
        <p:txBody>
          <a:bodyPr lIns="0" tIns="0" rIns="0" bIns="0" rtlCol="0" anchor="t">
            <a:spAutoFit/>
          </a:bodyPr>
          <a:lstStyle/>
          <a:p>
            <a:pPr algn="l">
              <a:lnSpc>
                <a:spcPts val="6302"/>
              </a:lnSpc>
            </a:pPr>
            <a:r>
              <a:rPr lang="en-US" sz="3299" b="1">
                <a:solidFill>
                  <a:srgbClr val="FFFFFF"/>
                </a:solidFill>
                <a:latin typeface="Roboto Bold"/>
                <a:ea typeface="Roboto Bold"/>
                <a:cs typeface="Roboto Bold"/>
                <a:sym typeface="Roboto Bold"/>
              </a:rPr>
              <a:t>Ràng buộc cứng:</a:t>
            </a:r>
          </a:p>
          <a:p>
            <a:pPr marL="561339" lvl="1" indent="-280669" algn="l">
              <a:lnSpc>
                <a:spcPts val="4965"/>
              </a:lnSpc>
              <a:buFont typeface="Arial"/>
              <a:buChar char="•"/>
            </a:pPr>
            <a:r>
              <a:rPr lang="en-US" sz="2599">
                <a:solidFill>
                  <a:srgbClr val="FFFFFF"/>
                </a:solidFill>
                <a:latin typeface="Roboto"/>
                <a:ea typeface="Roboto"/>
                <a:cs typeface="Roboto"/>
                <a:sym typeface="Roboto"/>
              </a:rPr>
              <a:t>Một sinh viên không thi 2 học phần cùng ca</a:t>
            </a:r>
          </a:p>
          <a:p>
            <a:pPr marL="561339" lvl="1" indent="-280669" algn="l">
              <a:lnSpc>
                <a:spcPts val="4965"/>
              </a:lnSpc>
              <a:buFont typeface="Arial"/>
              <a:buChar char="•"/>
            </a:pPr>
            <a:r>
              <a:rPr lang="en-US" sz="2599">
                <a:solidFill>
                  <a:srgbClr val="FFFFFF"/>
                </a:solidFill>
                <a:latin typeface="Roboto"/>
                <a:ea typeface="Roboto"/>
                <a:cs typeface="Roboto"/>
                <a:sym typeface="Roboto"/>
              </a:rPr>
              <a:t>Một phòng không xếp 2 môn cùng ca</a:t>
            </a:r>
          </a:p>
          <a:p>
            <a:pPr marL="561339" lvl="1" indent="-280669" algn="l">
              <a:lnSpc>
                <a:spcPts val="4965"/>
              </a:lnSpc>
              <a:buFont typeface="Arial"/>
              <a:buChar char="•"/>
            </a:pPr>
            <a:r>
              <a:rPr lang="en-US" sz="2599">
                <a:solidFill>
                  <a:srgbClr val="FFFFFF"/>
                </a:solidFill>
                <a:latin typeface="Roboto"/>
                <a:ea typeface="Roboto"/>
                <a:cs typeface="Roboto"/>
                <a:sym typeface="Roboto"/>
              </a:rPr>
              <a:t>Một học phần có nhiều lớp học phần → xếp chung 1 lịch thi</a:t>
            </a:r>
          </a:p>
          <a:p>
            <a:pPr marL="561339" lvl="1" indent="-280669" algn="l">
              <a:lnSpc>
                <a:spcPts val="4965"/>
              </a:lnSpc>
              <a:buFont typeface="Arial"/>
              <a:buChar char="•"/>
            </a:pPr>
            <a:r>
              <a:rPr lang="en-US" sz="2599">
                <a:solidFill>
                  <a:srgbClr val="FFFFFF"/>
                </a:solidFill>
                <a:latin typeface="Roboto"/>
                <a:ea typeface="Roboto"/>
                <a:cs typeface="Roboto"/>
                <a:sym typeface="Roboto"/>
              </a:rPr>
              <a:t>Không xếp quá giới hạn sinh viên trong mỗi phòng thi</a:t>
            </a:r>
          </a:p>
          <a:p>
            <a:pPr marL="561339" lvl="1" indent="-280669" algn="l">
              <a:lnSpc>
                <a:spcPts val="4965"/>
              </a:lnSpc>
              <a:buFont typeface="Arial"/>
              <a:buChar char="•"/>
            </a:pPr>
            <a:r>
              <a:rPr lang="en-US" sz="2599">
                <a:solidFill>
                  <a:srgbClr val="FFFFFF"/>
                </a:solidFill>
                <a:latin typeface="Roboto"/>
                <a:ea typeface="Roboto"/>
                <a:cs typeface="Roboto"/>
                <a:sym typeface="Roboto"/>
              </a:rPr>
              <a:t>Không tổ chức môn thi vào thứ 7 và chủ nhật (tổ chức thi trong 20 ngày)</a:t>
            </a:r>
          </a:p>
          <a:p>
            <a:pPr algn="l">
              <a:lnSpc>
                <a:spcPts val="4965"/>
              </a:lnSpc>
            </a:pPr>
            <a:endParaRPr lang="en-US" sz="2599">
              <a:solidFill>
                <a:srgbClr val="FFFFFF"/>
              </a:solidFill>
              <a:latin typeface="Roboto"/>
              <a:ea typeface="Roboto"/>
              <a:cs typeface="Roboto"/>
              <a:sym typeface="Roboto"/>
            </a:endParaRPr>
          </a:p>
        </p:txBody>
      </p:sp>
      <p:sp>
        <p:nvSpPr>
          <p:cNvPr id="15" name="TextBox 15"/>
          <p:cNvSpPr txBox="1"/>
          <p:nvPr/>
        </p:nvSpPr>
        <p:spPr>
          <a:xfrm>
            <a:off x="9491193" y="2828225"/>
            <a:ext cx="7768107" cy="5172775"/>
          </a:xfrm>
          <a:prstGeom prst="rect">
            <a:avLst/>
          </a:prstGeom>
        </p:spPr>
        <p:txBody>
          <a:bodyPr lIns="0" tIns="0" rIns="0" bIns="0" rtlCol="0" anchor="t">
            <a:spAutoFit/>
          </a:bodyPr>
          <a:lstStyle/>
          <a:p>
            <a:pPr algn="l">
              <a:lnSpc>
                <a:spcPts val="6302"/>
              </a:lnSpc>
            </a:pPr>
            <a:r>
              <a:rPr lang="en-US" sz="3299" b="1">
                <a:solidFill>
                  <a:srgbClr val="FFFFFF"/>
                </a:solidFill>
                <a:latin typeface="Roboto Bold"/>
                <a:ea typeface="Roboto Bold"/>
                <a:cs typeface="Roboto Bold"/>
                <a:sym typeface="Roboto Bold"/>
              </a:rPr>
              <a:t>Ràng buộc mềm:</a:t>
            </a:r>
          </a:p>
          <a:p>
            <a:pPr marL="561339" lvl="1" indent="-280669" algn="l">
              <a:lnSpc>
                <a:spcPts val="4965"/>
              </a:lnSpc>
              <a:buFont typeface="Arial"/>
              <a:buChar char="•"/>
            </a:pPr>
            <a:r>
              <a:rPr lang="en-US" sz="2599">
                <a:solidFill>
                  <a:srgbClr val="FFFFFF"/>
                </a:solidFill>
                <a:latin typeface="Roboto"/>
                <a:ea typeface="Roboto"/>
                <a:cs typeface="Roboto"/>
                <a:sym typeface="Roboto"/>
              </a:rPr>
              <a:t>Một sinh viên không thi 2 ca liên tiếp</a:t>
            </a:r>
          </a:p>
          <a:p>
            <a:pPr marL="561339" lvl="1" indent="-280669" algn="l">
              <a:lnSpc>
                <a:spcPts val="4965"/>
              </a:lnSpc>
              <a:buFont typeface="Arial"/>
              <a:buChar char="•"/>
            </a:pPr>
            <a:r>
              <a:rPr lang="en-US" sz="2599">
                <a:solidFill>
                  <a:srgbClr val="FFFFFF"/>
                </a:solidFill>
                <a:latin typeface="Roboto"/>
                <a:ea typeface="Roboto"/>
                <a:cs typeface="Roboto"/>
                <a:sym typeface="Roboto"/>
              </a:rPr>
              <a:t>Một sinh viên không thi quá 2 ca/ngày</a:t>
            </a:r>
          </a:p>
          <a:p>
            <a:pPr marL="561339" lvl="1" indent="-280669" algn="l">
              <a:lnSpc>
                <a:spcPts val="4965"/>
              </a:lnSpc>
              <a:buFont typeface="Arial"/>
              <a:buChar char="•"/>
            </a:pPr>
            <a:r>
              <a:rPr lang="en-US" sz="2599">
                <a:solidFill>
                  <a:srgbClr val="FFFFFF"/>
                </a:solidFill>
                <a:latin typeface="Roboto"/>
                <a:ea typeface="Roboto"/>
                <a:cs typeface="Roboto"/>
                <a:sym typeface="Roboto"/>
              </a:rPr>
              <a:t>Môn 3 tín chỉ ưu tiên buổi sáng hoặc ca đầu buổi chiều</a:t>
            </a:r>
          </a:p>
          <a:p>
            <a:pPr marL="561339" lvl="1" indent="-280669" algn="l">
              <a:lnSpc>
                <a:spcPts val="4965"/>
              </a:lnSpc>
              <a:buFont typeface="Arial"/>
              <a:buChar char="•"/>
            </a:pPr>
            <a:r>
              <a:rPr lang="en-US" sz="2599">
                <a:solidFill>
                  <a:srgbClr val="FFFFFF"/>
                </a:solidFill>
                <a:latin typeface="Roboto"/>
                <a:ea typeface="Roboto"/>
                <a:cs typeface="Roboto"/>
                <a:sym typeface="Roboto"/>
              </a:rPr>
              <a:t>Tránh cho 1 SV thi 3 ngày liên tục</a:t>
            </a:r>
          </a:p>
          <a:p>
            <a:pPr marL="561339" lvl="1" indent="-280669" algn="l">
              <a:lnSpc>
                <a:spcPts val="4965"/>
              </a:lnSpc>
              <a:buFont typeface="Arial"/>
              <a:buChar char="•"/>
            </a:pPr>
            <a:r>
              <a:rPr lang="en-US" sz="2599">
                <a:solidFill>
                  <a:srgbClr val="FFFFFF"/>
                </a:solidFill>
                <a:latin typeface="Roboto"/>
                <a:ea typeface="Roboto"/>
                <a:cs typeface="Roboto"/>
                <a:sym typeface="Roboto"/>
              </a:rPr>
              <a:t>Các môn cùng khoa không thi cùng ca</a:t>
            </a:r>
          </a:p>
          <a:p>
            <a:pPr algn="l">
              <a:lnSpc>
                <a:spcPts val="4965"/>
              </a:lnSpc>
            </a:pPr>
            <a:endParaRPr lang="en-US" sz="2599">
              <a:solidFill>
                <a:srgbClr val="FFFFFF"/>
              </a:solidFill>
              <a:latin typeface="Roboto"/>
              <a:ea typeface="Roboto"/>
              <a:cs typeface="Roboto"/>
              <a:sym typeface="Roboto"/>
            </a:endParaRPr>
          </a:p>
        </p:txBody>
      </p:sp>
      <p:sp>
        <p:nvSpPr>
          <p:cNvPr id="16" name="TextBox 16"/>
          <p:cNvSpPr txBox="1"/>
          <p:nvPr/>
        </p:nvSpPr>
        <p:spPr>
          <a:xfrm>
            <a:off x="626738" y="1281827"/>
            <a:ext cx="8907614"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RÀNG BUỘC</a:t>
            </a:r>
          </a:p>
        </p:txBody>
      </p:sp>
      <p:sp>
        <p:nvSpPr>
          <p:cNvPr id="17" name="TextBox 17"/>
          <p:cNvSpPr txBox="1"/>
          <p:nvPr/>
        </p:nvSpPr>
        <p:spPr>
          <a:xfrm>
            <a:off x="7783806" y="8724900"/>
            <a:ext cx="9926850" cy="1019176"/>
          </a:xfrm>
          <a:prstGeom prst="rect">
            <a:avLst/>
          </a:prstGeom>
        </p:spPr>
        <p:txBody>
          <a:bodyPr lIns="0" tIns="0" rIns="0" bIns="0" rtlCol="0" anchor="t">
            <a:spAutoFit/>
          </a:bodyPr>
          <a:lstStyle/>
          <a:p>
            <a:pPr algn="ctr">
              <a:lnSpc>
                <a:spcPts val="4199"/>
              </a:lnSpc>
              <a:spcBef>
                <a:spcPct val="0"/>
              </a:spcBef>
            </a:pPr>
            <a:r>
              <a:rPr lang="en-US" sz="2999" i="1">
                <a:solidFill>
                  <a:srgbClr val="348BFF"/>
                </a:solidFill>
                <a:latin typeface="Canva Sans Italics"/>
                <a:ea typeface="Canva Sans Italics"/>
                <a:cs typeface="Canva Sans Italics"/>
                <a:sym typeface="Canva Sans Italics"/>
              </a:rPr>
              <a:t>Làm thế nào để biểu diễn các xung đột giữa môn học một cách trực quan và có thể tính toán?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1042181" y="2495726"/>
            <a:ext cx="16217119" cy="7888606"/>
          </a:xfrm>
          <a:prstGeom prst="rect">
            <a:avLst/>
          </a:prstGeom>
        </p:spPr>
        <p:txBody>
          <a:bodyPr lIns="0" tIns="0" rIns="0" bIns="0" rtlCol="0" anchor="t">
            <a:spAutoFit/>
          </a:bodyPr>
          <a:lstStyle/>
          <a:p>
            <a:pPr marL="647697" lvl="1" indent="-323848" algn="l">
              <a:lnSpc>
                <a:spcPts val="5159"/>
              </a:lnSpc>
              <a:buFont typeface="Arial"/>
              <a:buChar char="•"/>
            </a:pPr>
            <a:r>
              <a:rPr lang="en-US" sz="2999">
                <a:solidFill>
                  <a:srgbClr val="FFFFFF"/>
                </a:solidFill>
                <a:latin typeface="Roboto"/>
                <a:ea typeface="Roboto"/>
                <a:cs typeface="Roboto"/>
                <a:sym typeface="Roboto"/>
              </a:rPr>
              <a:t>Xung đột được xác định khi có sinh viên đăng ký cả 2 môn</a:t>
            </a:r>
          </a:p>
          <a:p>
            <a:pPr marL="647697" lvl="1" indent="-323848" algn="l">
              <a:lnSpc>
                <a:spcPts val="5159"/>
              </a:lnSpc>
              <a:buFont typeface="Arial"/>
              <a:buChar char="•"/>
            </a:pPr>
            <a:r>
              <a:rPr lang="en-US" sz="2999">
                <a:solidFill>
                  <a:srgbClr val="FFFFFF"/>
                </a:solidFill>
                <a:latin typeface="Roboto"/>
                <a:ea typeface="Roboto"/>
                <a:cs typeface="Roboto"/>
                <a:sym typeface="Roboto"/>
              </a:rPr>
              <a:t>Tính tỷ lệ sinh viên trùng giữa 2 môn:</a:t>
            </a:r>
          </a:p>
          <a:p>
            <a:pPr algn="l">
              <a:lnSpc>
                <a:spcPts val="5159"/>
              </a:lnSpc>
            </a:pPr>
            <a:endParaRPr lang="en-US" sz="2999">
              <a:solidFill>
                <a:srgbClr val="FFFFFF"/>
              </a:solidFill>
              <a:latin typeface="Roboto"/>
              <a:ea typeface="Roboto"/>
              <a:cs typeface="Roboto"/>
              <a:sym typeface="Roboto"/>
            </a:endParaRPr>
          </a:p>
          <a:p>
            <a:pPr algn="l">
              <a:lnSpc>
                <a:spcPts val="5159"/>
              </a:lnSpc>
            </a:pPr>
            <a:endParaRPr lang="en-US" sz="2999">
              <a:solidFill>
                <a:srgbClr val="FFFFFF"/>
              </a:solidFill>
              <a:latin typeface="Roboto"/>
              <a:ea typeface="Roboto"/>
              <a:cs typeface="Roboto"/>
              <a:sym typeface="Roboto"/>
            </a:endParaRPr>
          </a:p>
          <a:p>
            <a:pPr marL="1036320" lvl="1" indent="-518160" algn="l">
              <a:lnSpc>
                <a:spcPts val="4128"/>
              </a:lnSpc>
              <a:buFont typeface="Arial"/>
              <a:buChar char="•"/>
            </a:pPr>
            <a:r>
              <a:rPr lang="en-US" sz="2400" i="1">
                <a:solidFill>
                  <a:srgbClr val="FFFFFF"/>
                </a:solidFill>
                <a:latin typeface="Roboto Italics"/>
                <a:ea typeface="Roboto Italics"/>
                <a:cs typeface="Roboto Italics"/>
                <a:sym typeface="Roboto Italics"/>
              </a:rPr>
              <a:t>Trong đó:</a:t>
            </a:r>
          </a:p>
          <a:p>
            <a:pPr marL="1554480" lvl="3" indent="-388620" algn="l">
              <a:lnSpc>
                <a:spcPts val="4128"/>
              </a:lnSpc>
              <a:buFont typeface="Arial"/>
              <a:buChar char="￭"/>
            </a:pPr>
            <a:r>
              <a:rPr lang="en-US" sz="2400" i="1">
                <a:solidFill>
                  <a:srgbClr val="FFFFFF"/>
                </a:solidFill>
                <a:latin typeface="Roboto Italics"/>
                <a:ea typeface="Roboto Italics"/>
                <a:cs typeface="Roboto Italics"/>
                <a:sym typeface="Roboto Italics"/>
              </a:rPr>
              <a:t> P12: Tỉ lệ sinh viên học trùng giữa môn học 1 và 2</a:t>
            </a:r>
          </a:p>
          <a:p>
            <a:pPr marL="1554480" lvl="3" indent="-388620" algn="l">
              <a:lnSpc>
                <a:spcPts val="4128"/>
              </a:lnSpc>
              <a:buFont typeface="Arial"/>
              <a:buChar char="￭"/>
            </a:pPr>
            <a:r>
              <a:rPr lang="en-US" sz="2400" i="1">
                <a:solidFill>
                  <a:srgbClr val="FFFFFF"/>
                </a:solidFill>
                <a:latin typeface="Roboto Italics"/>
                <a:ea typeface="Roboto Italics"/>
                <a:cs typeface="Roboto Italics"/>
                <a:sym typeface="Roboto Italics"/>
              </a:rPr>
              <a:t> T12: Số lượng sinh viên học trùng giữa 2 môn học</a:t>
            </a:r>
          </a:p>
          <a:p>
            <a:pPr marL="1554480" lvl="3" indent="-388620" algn="l">
              <a:lnSpc>
                <a:spcPts val="4128"/>
              </a:lnSpc>
              <a:buFont typeface="Arial"/>
              <a:buChar char="￭"/>
            </a:pPr>
            <a:r>
              <a:rPr lang="en-US" sz="2400" i="1">
                <a:solidFill>
                  <a:srgbClr val="FFFFFF"/>
                </a:solidFill>
                <a:latin typeface="Roboto Italics"/>
                <a:ea typeface="Roboto Italics"/>
                <a:cs typeface="Roboto Italics"/>
                <a:sym typeface="Roboto Italics"/>
              </a:rPr>
              <a:t> L1: Tổng số sinh viên học môn thứ 1</a:t>
            </a:r>
          </a:p>
          <a:p>
            <a:pPr marL="647697" lvl="1" indent="-323848" algn="l">
              <a:lnSpc>
                <a:spcPts val="5159"/>
              </a:lnSpc>
              <a:buFont typeface="Arial"/>
              <a:buChar char="•"/>
            </a:pPr>
            <a:r>
              <a:rPr lang="en-US" sz="2999">
                <a:solidFill>
                  <a:srgbClr val="FFFFFF"/>
                </a:solidFill>
                <a:latin typeface="Roboto"/>
                <a:ea typeface="Roboto"/>
                <a:cs typeface="Roboto"/>
                <a:sym typeface="Roboto"/>
              </a:rPr>
              <a:t>Xây dựng: </a:t>
            </a:r>
          </a:p>
          <a:p>
            <a:pPr marL="1295394" lvl="2" indent="-431798" algn="l">
              <a:lnSpc>
                <a:spcPts val="5159"/>
              </a:lnSpc>
              <a:buFont typeface="Arial"/>
              <a:buChar char="⚬"/>
            </a:pPr>
            <a:r>
              <a:rPr lang="en-US" sz="2999">
                <a:solidFill>
                  <a:srgbClr val="FFFFFF"/>
                </a:solidFill>
                <a:latin typeface="Roboto"/>
                <a:ea typeface="Roboto"/>
                <a:cs typeface="Roboto"/>
                <a:sym typeface="Roboto"/>
              </a:rPr>
              <a:t>Ma trận kề</a:t>
            </a:r>
          </a:p>
          <a:p>
            <a:pPr marL="1295394" lvl="2" indent="-431798" algn="l">
              <a:lnSpc>
                <a:spcPts val="5159"/>
              </a:lnSpc>
              <a:buFont typeface="Arial"/>
              <a:buChar char="⚬"/>
            </a:pPr>
            <a:r>
              <a:rPr lang="en-US" sz="2999">
                <a:solidFill>
                  <a:srgbClr val="FFFFFF"/>
                </a:solidFill>
                <a:latin typeface="Roboto"/>
                <a:ea typeface="Roboto"/>
                <a:cs typeface="Roboto"/>
                <a:sym typeface="Roboto"/>
              </a:rPr>
              <a:t>Đồ thị xung đột</a:t>
            </a:r>
          </a:p>
          <a:p>
            <a:pPr algn="l">
              <a:lnSpc>
                <a:spcPts val="5159"/>
              </a:lnSpc>
            </a:pPr>
            <a:r>
              <a:rPr lang="en-US" sz="2999">
                <a:solidFill>
                  <a:srgbClr val="FFFFFF"/>
                </a:solidFill>
                <a:latin typeface="Roboto"/>
                <a:ea typeface="Roboto"/>
                <a:cs typeface="Roboto"/>
                <a:sym typeface="Roboto"/>
              </a:rPr>
              <a:t>➡️ Môn có nhiều xung đột → khó xếp lịch hơn</a:t>
            </a:r>
          </a:p>
          <a:p>
            <a:pPr algn="l">
              <a:lnSpc>
                <a:spcPts val="5159"/>
              </a:lnSpc>
            </a:pPr>
            <a:endParaRPr lang="en-US" sz="2999">
              <a:solidFill>
                <a:srgbClr val="FFFFFF"/>
              </a:solidFill>
              <a:latin typeface="Roboto"/>
              <a:ea typeface="Roboto"/>
              <a:cs typeface="Roboto"/>
              <a:sym typeface="Roboto"/>
            </a:endParaRPr>
          </a:p>
        </p:txBody>
      </p:sp>
      <p:sp>
        <p:nvSpPr>
          <p:cNvPr id="15" name="Freeform 15"/>
          <p:cNvSpPr/>
          <p:nvPr/>
        </p:nvSpPr>
        <p:spPr>
          <a:xfrm>
            <a:off x="5646435" y="3851423"/>
            <a:ext cx="3791455" cy="1462215"/>
          </a:xfrm>
          <a:custGeom>
            <a:avLst/>
            <a:gdLst/>
            <a:ahLst/>
            <a:cxnLst/>
            <a:rect l="l" t="t" r="r" b="b"/>
            <a:pathLst>
              <a:path w="3791455" h="1462215">
                <a:moveTo>
                  <a:pt x="0" y="0"/>
                </a:moveTo>
                <a:lnTo>
                  <a:pt x="3791455" y="0"/>
                </a:lnTo>
                <a:lnTo>
                  <a:pt x="3791455" y="1462215"/>
                </a:lnTo>
                <a:lnTo>
                  <a:pt x="0" y="1462215"/>
                </a:lnTo>
                <a:lnTo>
                  <a:pt x="0" y="0"/>
                </a:lnTo>
                <a:close/>
              </a:path>
            </a:pathLst>
          </a:custGeom>
          <a:blipFill>
            <a:blip r:embed="rId5"/>
            <a:stretch>
              <a:fillRect b="-6902"/>
            </a:stretch>
          </a:blipFill>
        </p:spPr>
      </p:sp>
      <p:sp>
        <p:nvSpPr>
          <p:cNvPr id="16" name="TextBox 16"/>
          <p:cNvSpPr txBox="1"/>
          <p:nvPr/>
        </p:nvSpPr>
        <p:spPr>
          <a:xfrm>
            <a:off x="392179" y="1207823"/>
            <a:ext cx="16069781"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XÂY DỰNG ĐỒ THỊ XUNG ĐỘT (MA TRẬN KỀ)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407264" flipH="1">
            <a:off x="13760017" y="6817824"/>
            <a:ext cx="4768277" cy="4551537"/>
          </a:xfrm>
          <a:custGeom>
            <a:avLst/>
            <a:gdLst/>
            <a:ahLst/>
            <a:cxnLst/>
            <a:rect l="l" t="t" r="r" b="b"/>
            <a:pathLst>
              <a:path w="4768277" h="455153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3275">
            <a:off x="12646576" y="-298239"/>
            <a:ext cx="6995160" cy="5246370"/>
            <a:chOff x="0" y="0"/>
            <a:chExt cx="812800" cy="609600"/>
          </a:xfrm>
        </p:grpSpPr>
        <p:sp>
          <p:nvSpPr>
            <p:cNvPr id="8" name="Freeform 8"/>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5"/>
              <a:stretch>
                <a:fillRect r="-13324"/>
              </a:stretch>
            </a:blipFill>
          </p:spPr>
        </p:sp>
      </p:grpSp>
      <p:grpSp>
        <p:nvGrpSpPr>
          <p:cNvPr id="9" name="Group 9"/>
          <p:cNvGrpSpPr/>
          <p:nvPr/>
        </p:nvGrpSpPr>
        <p:grpSpPr>
          <a:xfrm rot="3275">
            <a:off x="9023612" y="5146831"/>
            <a:ext cx="6995160" cy="5246370"/>
            <a:chOff x="0" y="0"/>
            <a:chExt cx="812800" cy="609600"/>
          </a:xfrm>
        </p:grpSpPr>
        <p:sp>
          <p:nvSpPr>
            <p:cNvPr id="10" name="Freeform 1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6"/>
              <a:stretch>
                <a:fillRect l="-6739" r="-5619"/>
              </a:stretch>
            </a:blipFill>
          </p:spPr>
        </p:sp>
      </p:grpSp>
      <p:sp>
        <p:nvSpPr>
          <p:cNvPr id="11" name="Freeform 11"/>
          <p:cNvSpPr/>
          <p:nvPr/>
        </p:nvSpPr>
        <p:spPr>
          <a:xfrm rot="-10792239" flipH="1">
            <a:off x="-724606" y="8954135"/>
            <a:ext cx="2702689" cy="2579840"/>
          </a:xfrm>
          <a:custGeom>
            <a:avLst/>
            <a:gdLst/>
            <a:ahLst/>
            <a:cxnLst/>
            <a:rect l="l" t="t" r="r" b="b"/>
            <a:pathLst>
              <a:path w="2702689" h="2579840">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626738" y="550533"/>
            <a:ext cx="2291645" cy="652047"/>
            <a:chOff x="0" y="0"/>
            <a:chExt cx="3055526" cy="869397"/>
          </a:xfrm>
        </p:grpSpPr>
        <p:grpSp>
          <p:nvGrpSpPr>
            <p:cNvPr id="13" name="Group 13"/>
            <p:cNvGrpSpPr/>
            <p:nvPr/>
          </p:nvGrpSpPr>
          <p:grpSpPr>
            <a:xfrm>
              <a:off x="0" y="0"/>
              <a:ext cx="747138" cy="869397"/>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5" name="TextBox 15"/>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6" name="TextBox 16"/>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7" name="TextBox 17"/>
          <p:cNvSpPr txBox="1"/>
          <p:nvPr/>
        </p:nvSpPr>
        <p:spPr>
          <a:xfrm>
            <a:off x="858155" y="3268078"/>
            <a:ext cx="8835957" cy="1566544"/>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 2.  Thuật toán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407264" flipH="1">
            <a:off x="13760017" y="6817824"/>
            <a:ext cx="4768277" cy="4551537"/>
          </a:xfrm>
          <a:custGeom>
            <a:avLst/>
            <a:gdLst/>
            <a:ahLst/>
            <a:cxnLst/>
            <a:rect l="l" t="t" r="r" b="b"/>
            <a:pathLst>
              <a:path w="4768277" h="4551537">
                <a:moveTo>
                  <a:pt x="4768277" y="0"/>
                </a:moveTo>
                <a:lnTo>
                  <a:pt x="0" y="0"/>
                </a:lnTo>
                <a:lnTo>
                  <a:pt x="0" y="4551537"/>
                </a:lnTo>
                <a:lnTo>
                  <a:pt x="4768277" y="4551537"/>
                </a:lnTo>
                <a:lnTo>
                  <a:pt x="4768277"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rot="3275">
            <a:off x="12646576" y="-298239"/>
            <a:ext cx="6995160" cy="5246370"/>
            <a:chOff x="0" y="0"/>
            <a:chExt cx="812800" cy="609600"/>
          </a:xfrm>
        </p:grpSpPr>
        <p:sp>
          <p:nvSpPr>
            <p:cNvPr id="8" name="Freeform 8"/>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6"/>
              <a:stretch>
                <a:fillRect r="-13324"/>
              </a:stretch>
            </a:blipFill>
          </p:spPr>
        </p:sp>
      </p:grpSp>
      <p:grpSp>
        <p:nvGrpSpPr>
          <p:cNvPr id="9" name="Group 9"/>
          <p:cNvGrpSpPr/>
          <p:nvPr/>
        </p:nvGrpSpPr>
        <p:grpSpPr>
          <a:xfrm rot="3275">
            <a:off x="9023612" y="5146831"/>
            <a:ext cx="6995160" cy="5246370"/>
            <a:chOff x="0" y="0"/>
            <a:chExt cx="812800" cy="609600"/>
          </a:xfrm>
        </p:grpSpPr>
        <p:sp>
          <p:nvSpPr>
            <p:cNvPr id="10" name="Freeform 1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7"/>
              <a:stretch>
                <a:fillRect l="-6739" r="-5619"/>
              </a:stretch>
            </a:blipFill>
          </p:spPr>
        </p:sp>
      </p:grpSp>
      <p:sp>
        <p:nvSpPr>
          <p:cNvPr id="11" name="Freeform 11"/>
          <p:cNvSpPr/>
          <p:nvPr/>
        </p:nvSpPr>
        <p:spPr>
          <a:xfrm rot="-10792239" flipH="1">
            <a:off x="-724606" y="8954135"/>
            <a:ext cx="2702689" cy="2579840"/>
          </a:xfrm>
          <a:custGeom>
            <a:avLst/>
            <a:gdLst/>
            <a:ahLst/>
            <a:cxnLst/>
            <a:rect l="l" t="t" r="r" b="b"/>
            <a:pathLst>
              <a:path w="2702689" h="2579840">
                <a:moveTo>
                  <a:pt x="2702689" y="0"/>
                </a:moveTo>
                <a:lnTo>
                  <a:pt x="0" y="0"/>
                </a:lnTo>
                <a:lnTo>
                  <a:pt x="0" y="2579840"/>
                </a:lnTo>
                <a:lnTo>
                  <a:pt x="2702689" y="2579840"/>
                </a:lnTo>
                <a:lnTo>
                  <a:pt x="270268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2" name="Group 12"/>
          <p:cNvGrpSpPr/>
          <p:nvPr/>
        </p:nvGrpSpPr>
        <p:grpSpPr>
          <a:xfrm>
            <a:off x="626738" y="550533"/>
            <a:ext cx="2291645" cy="652047"/>
            <a:chOff x="0" y="0"/>
            <a:chExt cx="3055526" cy="869397"/>
          </a:xfrm>
        </p:grpSpPr>
        <p:grpSp>
          <p:nvGrpSpPr>
            <p:cNvPr id="13" name="Group 13"/>
            <p:cNvGrpSpPr/>
            <p:nvPr/>
          </p:nvGrpSpPr>
          <p:grpSpPr>
            <a:xfrm>
              <a:off x="0" y="0"/>
              <a:ext cx="747138" cy="869397"/>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5" name="TextBox 15"/>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6" name="TextBox 16"/>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7" name="TextBox 17"/>
          <p:cNvSpPr txBox="1"/>
          <p:nvPr/>
        </p:nvSpPr>
        <p:spPr>
          <a:xfrm>
            <a:off x="334833" y="2496109"/>
            <a:ext cx="11108669" cy="1979930"/>
          </a:xfrm>
          <a:prstGeom prst="rect">
            <a:avLst/>
          </a:prstGeom>
        </p:spPr>
        <p:txBody>
          <a:bodyPr lIns="0" tIns="0" rIns="0" bIns="0" rtlCol="0" anchor="t">
            <a:spAutoFit/>
          </a:bodyPr>
          <a:lstStyle/>
          <a:p>
            <a:pPr marL="820419" lvl="1" indent="-410209" algn="l">
              <a:lnSpc>
                <a:spcPts val="5319"/>
              </a:lnSpc>
              <a:buFont typeface="Arial"/>
              <a:buChar char="•"/>
            </a:pPr>
            <a:r>
              <a:rPr lang="en-US" sz="3799" b="1">
                <a:solidFill>
                  <a:srgbClr val="FFFFFF"/>
                </a:solidFill>
                <a:latin typeface="Canva Sans Bold"/>
                <a:ea typeface="Canva Sans Bold"/>
                <a:cs typeface="Canva Sans Bold"/>
                <a:sym typeface="Canva Sans Bold"/>
              </a:rPr>
              <a:t>Thuật toán tham lam + Degree Heuristic</a:t>
            </a:r>
          </a:p>
          <a:p>
            <a:pPr algn="l">
              <a:lnSpc>
                <a:spcPts val="5319"/>
              </a:lnSpc>
            </a:pPr>
            <a:endParaRPr lang="en-US" sz="3799" b="1">
              <a:solidFill>
                <a:srgbClr val="FFFFFF"/>
              </a:solidFill>
              <a:latin typeface="Canva Sans Bold"/>
              <a:ea typeface="Canva Sans Bold"/>
              <a:cs typeface="Canva Sans Bold"/>
              <a:sym typeface="Canva Sans Bold"/>
            </a:endParaRPr>
          </a:p>
          <a:p>
            <a:pPr marL="820419" lvl="1" indent="-410209" algn="l">
              <a:lnSpc>
                <a:spcPts val="5319"/>
              </a:lnSpc>
              <a:buFont typeface="Arial"/>
              <a:buChar char="•"/>
            </a:pPr>
            <a:r>
              <a:rPr lang="en-US" sz="3799" b="1">
                <a:solidFill>
                  <a:srgbClr val="FFFFFF"/>
                </a:solidFill>
                <a:latin typeface="Canva Sans Bold"/>
                <a:ea typeface="Canva Sans Bold"/>
                <a:cs typeface="Canva Sans Bold"/>
                <a:sym typeface="Canva Sans Bold"/>
              </a:rPr>
              <a:t>Thuật toán DSATUR (Degree of Saturation)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0022"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626738" y="2400476"/>
            <a:ext cx="15316624" cy="7819328"/>
          </a:xfrm>
          <a:prstGeom prst="rect">
            <a:avLst/>
          </a:prstGeom>
        </p:spPr>
        <p:txBody>
          <a:bodyPr lIns="0" tIns="0" rIns="0" bIns="0" rtlCol="0" anchor="t">
            <a:spAutoFit/>
          </a:bodyPr>
          <a:lstStyle/>
          <a:p>
            <a:pPr algn="l">
              <a:lnSpc>
                <a:spcPts val="6566"/>
              </a:lnSpc>
            </a:pPr>
            <a:r>
              <a:rPr lang="en-US" sz="3299" b="1">
                <a:solidFill>
                  <a:srgbClr val="FFFFFF"/>
                </a:solidFill>
                <a:latin typeface="Roboto Bold"/>
                <a:ea typeface="Roboto Bold"/>
                <a:cs typeface="Roboto Bold"/>
                <a:sym typeface="Roboto Bold"/>
              </a:rPr>
              <a:t>Ý tưởng chính:</a:t>
            </a:r>
          </a:p>
          <a:p>
            <a:pPr marL="561339" lvl="1" indent="-280669" algn="l">
              <a:lnSpc>
                <a:spcPts val="5173"/>
              </a:lnSpc>
              <a:buFont typeface="Arial"/>
              <a:buChar char="•"/>
            </a:pPr>
            <a:r>
              <a:rPr lang="en-US" sz="2599">
                <a:solidFill>
                  <a:srgbClr val="FFFFFF"/>
                </a:solidFill>
                <a:latin typeface="Roboto"/>
                <a:ea typeface="Roboto"/>
                <a:cs typeface="Roboto"/>
                <a:sym typeface="Roboto"/>
              </a:rPr>
              <a:t>Đỉnh có bậc càng cao → càng nhiều xung đột</a:t>
            </a:r>
          </a:p>
          <a:p>
            <a:pPr marL="561339" lvl="1" indent="-280669" algn="l">
              <a:lnSpc>
                <a:spcPts val="5173"/>
              </a:lnSpc>
              <a:buFont typeface="Arial"/>
              <a:buChar char="•"/>
            </a:pPr>
            <a:r>
              <a:rPr lang="en-US" sz="2599">
                <a:solidFill>
                  <a:srgbClr val="FFFFFF"/>
                </a:solidFill>
                <a:latin typeface="Roboto"/>
                <a:ea typeface="Roboto"/>
                <a:cs typeface="Roboto"/>
                <a:sym typeface="Roboto"/>
              </a:rPr>
              <a:t>Nếu xử lý sau → rất dễ bị “kẹt màu”</a:t>
            </a:r>
          </a:p>
          <a:p>
            <a:pPr marL="561339" lvl="1" indent="-280669" algn="l">
              <a:lnSpc>
                <a:spcPts val="5173"/>
              </a:lnSpc>
              <a:buFont typeface="Arial"/>
              <a:buChar char="•"/>
            </a:pPr>
            <a:r>
              <a:rPr lang="en-US" sz="2599">
                <a:solidFill>
                  <a:srgbClr val="FFFFFF"/>
                </a:solidFill>
                <a:latin typeface="Roboto"/>
                <a:ea typeface="Roboto"/>
                <a:cs typeface="Roboto"/>
                <a:sym typeface="Roboto"/>
              </a:rPr>
              <a:t>Vì vậy: Ưu tiên tô màu các đỉnh có bậc lớn nhất trước</a:t>
            </a:r>
          </a:p>
          <a:p>
            <a:pPr algn="l">
              <a:lnSpc>
                <a:spcPts val="2985"/>
              </a:lnSpc>
            </a:pPr>
            <a:endParaRPr lang="en-US" sz="2599">
              <a:solidFill>
                <a:srgbClr val="FFFFFF"/>
              </a:solidFill>
              <a:latin typeface="Roboto"/>
              <a:ea typeface="Roboto"/>
              <a:cs typeface="Roboto"/>
              <a:sym typeface="Roboto"/>
            </a:endParaRPr>
          </a:p>
          <a:p>
            <a:pPr algn="l">
              <a:lnSpc>
                <a:spcPts val="6566"/>
              </a:lnSpc>
            </a:pPr>
            <a:r>
              <a:rPr lang="en-US" sz="3299" b="1">
                <a:solidFill>
                  <a:srgbClr val="FFFFFF"/>
                </a:solidFill>
                <a:latin typeface="Roboto Bold"/>
                <a:ea typeface="Roboto Bold"/>
                <a:cs typeface="Roboto Bold"/>
                <a:sym typeface="Roboto Bold"/>
              </a:rPr>
              <a:t>Các bước:</a:t>
            </a:r>
          </a:p>
          <a:p>
            <a:pPr marL="561339" lvl="1" indent="-280669" algn="l">
              <a:lnSpc>
                <a:spcPts val="5173"/>
              </a:lnSpc>
              <a:buAutoNum type="arabicPeriod"/>
            </a:pPr>
            <a:r>
              <a:rPr lang="en-US" sz="2599" b="1">
                <a:solidFill>
                  <a:srgbClr val="FFFFFF"/>
                </a:solidFill>
                <a:latin typeface="Roboto Bold"/>
                <a:ea typeface="Roboto Bold"/>
                <a:cs typeface="Roboto Bold"/>
                <a:sym typeface="Roboto Bold"/>
              </a:rPr>
              <a:t> </a:t>
            </a:r>
            <a:r>
              <a:rPr lang="en-US" sz="2599">
                <a:solidFill>
                  <a:srgbClr val="FFFFFF"/>
                </a:solidFill>
                <a:latin typeface="Roboto"/>
                <a:ea typeface="Roboto"/>
                <a:cs typeface="Roboto"/>
                <a:sym typeface="Roboto"/>
              </a:rPr>
              <a:t>Sắp xếp các đỉnh theo bậc giảm dần</a:t>
            </a:r>
          </a:p>
          <a:p>
            <a:pPr marL="561339" lvl="1" indent="-280669" algn="l">
              <a:lnSpc>
                <a:spcPts val="5173"/>
              </a:lnSpc>
              <a:buAutoNum type="arabicPeriod"/>
            </a:pPr>
            <a:r>
              <a:rPr lang="en-US" sz="2599">
                <a:solidFill>
                  <a:srgbClr val="FFFFFF"/>
                </a:solidFill>
                <a:latin typeface="Roboto"/>
                <a:ea typeface="Roboto"/>
                <a:cs typeface="Roboto"/>
                <a:sym typeface="Roboto"/>
              </a:rPr>
              <a:t> Tô màu đỉnh đầu tiên</a:t>
            </a:r>
          </a:p>
          <a:p>
            <a:pPr marL="561339" lvl="1" indent="-280669" algn="l">
              <a:lnSpc>
                <a:spcPts val="5173"/>
              </a:lnSpc>
              <a:buAutoNum type="arabicPeriod"/>
            </a:pPr>
            <a:r>
              <a:rPr lang="en-US" sz="2599">
                <a:solidFill>
                  <a:srgbClr val="FFFFFF"/>
                </a:solidFill>
                <a:latin typeface="Roboto"/>
                <a:ea typeface="Roboto"/>
                <a:cs typeface="Roboto"/>
                <a:sym typeface="Roboto"/>
              </a:rPr>
              <a:t> Gán màu cho các đỉnh không xung đột</a:t>
            </a:r>
          </a:p>
          <a:p>
            <a:pPr marL="561339" lvl="1" indent="-280669" algn="l">
              <a:lnSpc>
                <a:spcPts val="5173"/>
              </a:lnSpc>
              <a:buAutoNum type="arabicPeriod"/>
            </a:pPr>
            <a:r>
              <a:rPr lang="en-US" sz="2599">
                <a:solidFill>
                  <a:srgbClr val="FFFFFF"/>
                </a:solidFill>
                <a:latin typeface="Roboto"/>
                <a:ea typeface="Roboto"/>
                <a:cs typeface="Roboto"/>
                <a:sym typeface="Roboto"/>
              </a:rPr>
              <a:t> Kiểm tra ràng buộc</a:t>
            </a:r>
          </a:p>
          <a:p>
            <a:pPr marL="561339" lvl="1" indent="-280669" algn="l">
              <a:lnSpc>
                <a:spcPts val="5173"/>
              </a:lnSpc>
              <a:buAutoNum type="arabicPeriod"/>
            </a:pPr>
            <a:r>
              <a:rPr lang="en-US" sz="2599">
                <a:solidFill>
                  <a:srgbClr val="FFFFFF"/>
                </a:solidFill>
                <a:latin typeface="Roboto"/>
                <a:ea typeface="Roboto"/>
                <a:cs typeface="Roboto"/>
                <a:sym typeface="Roboto"/>
              </a:rPr>
              <a:t> Lặp đến khi hết đỉnh</a:t>
            </a:r>
          </a:p>
          <a:p>
            <a:pPr algn="l">
              <a:lnSpc>
                <a:spcPts val="5173"/>
              </a:lnSpc>
            </a:pPr>
            <a:endParaRPr lang="en-US" sz="2599">
              <a:solidFill>
                <a:srgbClr val="FFFFFF"/>
              </a:solidFill>
              <a:latin typeface="Roboto"/>
              <a:ea typeface="Roboto"/>
              <a:cs typeface="Roboto"/>
              <a:sym typeface="Roboto"/>
            </a:endParaRPr>
          </a:p>
        </p:txBody>
      </p:sp>
      <p:sp>
        <p:nvSpPr>
          <p:cNvPr id="15" name="TextBox 15"/>
          <p:cNvSpPr txBox="1"/>
          <p:nvPr/>
        </p:nvSpPr>
        <p:spPr>
          <a:xfrm>
            <a:off x="392179" y="1207823"/>
            <a:ext cx="16371276"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THUẬT TOÁN THAM LAM + DEGREE HEURISTIC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401704" y="2882962"/>
            <a:ext cx="12708012" cy="6556345"/>
          </a:xfrm>
          <a:custGeom>
            <a:avLst/>
            <a:gdLst/>
            <a:ahLst/>
            <a:cxnLst/>
            <a:rect l="l" t="t" r="r" b="b"/>
            <a:pathLst>
              <a:path w="12708012" h="6556345">
                <a:moveTo>
                  <a:pt x="0" y="0"/>
                </a:moveTo>
                <a:lnTo>
                  <a:pt x="12708012" y="0"/>
                </a:lnTo>
                <a:lnTo>
                  <a:pt x="12708012" y="6556345"/>
                </a:lnTo>
                <a:lnTo>
                  <a:pt x="0" y="6556345"/>
                </a:lnTo>
                <a:lnTo>
                  <a:pt x="0" y="0"/>
                </a:lnTo>
                <a:close/>
              </a:path>
            </a:pathLst>
          </a:custGeom>
          <a:blipFill>
            <a:blip r:embed="rId6"/>
            <a:stretch>
              <a:fillRect r="-3335"/>
            </a:stretch>
          </a:blipFill>
        </p:spPr>
      </p:sp>
      <p:sp>
        <p:nvSpPr>
          <p:cNvPr id="15" name="TextBox 15"/>
          <p:cNvSpPr txBox="1"/>
          <p:nvPr/>
        </p:nvSpPr>
        <p:spPr>
          <a:xfrm>
            <a:off x="392179" y="1207823"/>
            <a:ext cx="18131633"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MÃ GIẢ THAM LAM + DEGREE HEURISTIC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626738" y="2400476"/>
            <a:ext cx="15316624" cy="6152453"/>
          </a:xfrm>
          <a:prstGeom prst="rect">
            <a:avLst/>
          </a:prstGeom>
        </p:spPr>
        <p:txBody>
          <a:bodyPr lIns="0" tIns="0" rIns="0" bIns="0" rtlCol="0" anchor="t">
            <a:spAutoFit/>
          </a:bodyPr>
          <a:lstStyle/>
          <a:p>
            <a:pPr algn="l">
              <a:lnSpc>
                <a:spcPts val="6566"/>
              </a:lnSpc>
            </a:pPr>
            <a:r>
              <a:rPr lang="en-US" sz="3299" b="1">
                <a:solidFill>
                  <a:srgbClr val="FFFFFF"/>
                </a:solidFill>
                <a:latin typeface="Roboto Bold"/>
                <a:ea typeface="Roboto Bold"/>
                <a:cs typeface="Roboto Bold"/>
                <a:sym typeface="Roboto Bold"/>
              </a:rPr>
              <a:t>Ý tưởng chính:</a:t>
            </a:r>
          </a:p>
          <a:p>
            <a:pPr marL="561339" lvl="1" indent="-280669" algn="l">
              <a:lnSpc>
                <a:spcPts val="5173"/>
              </a:lnSpc>
              <a:buFont typeface="Arial"/>
              <a:buChar char="•"/>
            </a:pPr>
            <a:r>
              <a:rPr lang="en-US" sz="2599">
                <a:solidFill>
                  <a:srgbClr val="FFFFFF"/>
                </a:solidFill>
                <a:latin typeface="Roboto"/>
                <a:ea typeface="Roboto"/>
                <a:cs typeface="Roboto"/>
                <a:sym typeface="Roboto"/>
              </a:rPr>
              <a:t>Ưu tiên đỉnh có:</a:t>
            </a:r>
          </a:p>
          <a:p>
            <a:pPr marL="1122678" lvl="2" indent="-374226" algn="l">
              <a:lnSpc>
                <a:spcPts val="5173"/>
              </a:lnSpc>
              <a:buFont typeface="Arial"/>
              <a:buChar char="⚬"/>
            </a:pPr>
            <a:r>
              <a:rPr lang="en-US" sz="2599">
                <a:solidFill>
                  <a:srgbClr val="FFFFFF"/>
                </a:solidFill>
                <a:latin typeface="Roboto"/>
                <a:ea typeface="Roboto"/>
                <a:cs typeface="Roboto"/>
                <a:sym typeface="Roboto"/>
              </a:rPr>
              <a:t>Bậc bão hòa cao nhất</a:t>
            </a:r>
          </a:p>
          <a:p>
            <a:pPr marL="1122678" lvl="2" indent="-374226" algn="l">
              <a:lnSpc>
                <a:spcPts val="5173"/>
              </a:lnSpc>
              <a:buFont typeface="Arial"/>
              <a:buChar char="⚬"/>
            </a:pPr>
            <a:r>
              <a:rPr lang="en-US" sz="2599">
                <a:solidFill>
                  <a:srgbClr val="FFFFFF"/>
                </a:solidFill>
                <a:latin typeface="Roboto"/>
                <a:ea typeface="Roboto"/>
                <a:cs typeface="Roboto"/>
                <a:sym typeface="Roboto"/>
              </a:rPr>
              <a:t>Nếu bằng nhau → chọn bậc cao hơn</a:t>
            </a:r>
          </a:p>
          <a:p>
            <a:pPr algn="l">
              <a:lnSpc>
                <a:spcPts val="5173"/>
              </a:lnSpc>
            </a:pPr>
            <a:endParaRPr lang="en-US" sz="2599">
              <a:solidFill>
                <a:srgbClr val="FFFFFF"/>
              </a:solidFill>
              <a:latin typeface="Roboto"/>
              <a:ea typeface="Roboto"/>
              <a:cs typeface="Roboto"/>
              <a:sym typeface="Roboto"/>
            </a:endParaRPr>
          </a:p>
          <a:p>
            <a:pPr algn="l">
              <a:lnSpc>
                <a:spcPts val="6566"/>
              </a:lnSpc>
            </a:pPr>
            <a:r>
              <a:rPr lang="en-US" sz="3299" b="1">
                <a:solidFill>
                  <a:srgbClr val="FFFFFF"/>
                </a:solidFill>
                <a:latin typeface="Roboto Bold"/>
                <a:ea typeface="Roboto Bold"/>
                <a:cs typeface="Roboto Bold"/>
                <a:sym typeface="Roboto Bold"/>
              </a:rPr>
              <a:t>Ưu điểm:</a:t>
            </a:r>
          </a:p>
          <a:p>
            <a:pPr marL="561339" lvl="1" indent="-280669" algn="l">
              <a:lnSpc>
                <a:spcPts val="5173"/>
              </a:lnSpc>
              <a:buAutoNum type="arabicPeriod"/>
            </a:pPr>
            <a:r>
              <a:rPr lang="en-US" sz="2599" b="1">
                <a:solidFill>
                  <a:srgbClr val="FFFFFF"/>
                </a:solidFill>
                <a:latin typeface="Roboto Bold"/>
                <a:ea typeface="Roboto Bold"/>
                <a:cs typeface="Roboto Bold"/>
                <a:sym typeface="Roboto Bold"/>
              </a:rPr>
              <a:t> </a:t>
            </a:r>
            <a:r>
              <a:rPr lang="en-US" sz="2599">
                <a:solidFill>
                  <a:srgbClr val="FFFFFF"/>
                </a:solidFill>
                <a:latin typeface="Roboto"/>
                <a:ea typeface="Roboto"/>
                <a:cs typeface="Roboto"/>
                <a:sym typeface="Roboto"/>
              </a:rPr>
              <a:t>Hiệu quả hơn greedy cơ bản</a:t>
            </a:r>
          </a:p>
          <a:p>
            <a:pPr marL="561339" lvl="1" indent="-280669" algn="l">
              <a:lnSpc>
                <a:spcPts val="5173"/>
              </a:lnSpc>
              <a:buAutoNum type="arabicPeriod"/>
            </a:pPr>
            <a:r>
              <a:rPr lang="en-US" sz="2599">
                <a:solidFill>
                  <a:srgbClr val="FFFFFF"/>
                </a:solidFill>
                <a:latin typeface="Roboto"/>
                <a:ea typeface="Roboto"/>
                <a:cs typeface="Roboto"/>
                <a:sym typeface="Roboto"/>
              </a:rPr>
              <a:t> Giảm số màu cần dùng</a:t>
            </a:r>
          </a:p>
          <a:p>
            <a:pPr algn="l">
              <a:lnSpc>
                <a:spcPts val="5173"/>
              </a:lnSpc>
            </a:pPr>
            <a:endParaRPr lang="en-US" sz="2599">
              <a:solidFill>
                <a:srgbClr val="FFFFFF"/>
              </a:solidFill>
              <a:latin typeface="Roboto"/>
              <a:ea typeface="Roboto"/>
              <a:cs typeface="Roboto"/>
              <a:sym typeface="Roboto"/>
            </a:endParaRPr>
          </a:p>
        </p:txBody>
      </p:sp>
      <p:sp>
        <p:nvSpPr>
          <p:cNvPr id="15" name="TextBox 15"/>
          <p:cNvSpPr txBox="1"/>
          <p:nvPr/>
        </p:nvSpPr>
        <p:spPr>
          <a:xfrm>
            <a:off x="392179" y="1207823"/>
            <a:ext cx="16371276"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THUẬT TOÁN DSATUR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392179" y="3288433"/>
            <a:ext cx="13078372" cy="4675518"/>
          </a:xfrm>
          <a:custGeom>
            <a:avLst/>
            <a:gdLst/>
            <a:ahLst/>
            <a:cxnLst/>
            <a:rect l="l" t="t" r="r" b="b"/>
            <a:pathLst>
              <a:path w="13078372" h="4675518">
                <a:moveTo>
                  <a:pt x="0" y="0"/>
                </a:moveTo>
                <a:lnTo>
                  <a:pt x="13078373" y="0"/>
                </a:lnTo>
                <a:lnTo>
                  <a:pt x="13078373" y="4675519"/>
                </a:lnTo>
                <a:lnTo>
                  <a:pt x="0" y="4675519"/>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MÃ GIẢ DSATUR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graphicFrame>
        <p:nvGraphicFramePr>
          <p:cNvPr id="14" name="Object 14"/>
          <p:cNvGraphicFramePr/>
          <p:nvPr/>
        </p:nvGraphicFramePr>
        <p:xfrm>
          <a:off x="3344473" y="2419526"/>
          <a:ext cx="5657850" cy="5657850"/>
        </p:xfrm>
        <a:graphic>
          <a:graphicData uri="http://schemas.openxmlformats.org/presentationml/2006/ole">
            <mc:AlternateContent xmlns:mc="http://schemas.openxmlformats.org/markup-compatibility/2006">
              <mc:Choice xmlns:v="urn:schemas-microsoft-com:vml" Requires="v">
                <p:oleObj name="Worksheet" r:id="rId5" imgW="6781800" imgH="6781800" progId="Excel.Sheet.12">
                  <p:embed/>
                </p:oleObj>
              </mc:Choice>
              <mc:Fallback>
                <p:oleObj name="Worksheet" r:id="rId5" imgW="6781800" imgH="6781800" progId="Excel.Sheet.12">
                  <p:embed/>
                  <p:pic>
                    <p:nvPicPr>
                      <p:cNvPr id="0" name=""/>
                      <p:cNvPicPr/>
                      <p:nvPr/>
                    </p:nvPicPr>
                    <p:blipFill>
                      <a:blip r:embed="rId6"/>
                      <a:stretch>
                        <a:fillRect/>
                      </a:stretch>
                    </p:blipFill>
                    <p:spPr>
                      <a:xfrm>
                        <a:off x="3344473" y="2419526"/>
                        <a:ext cx="5657850" cy="5657850"/>
                      </a:xfrm>
                      <a:prstGeom prst="rect">
                        <a:avLst/>
                      </a:prstGeom>
                    </p:spPr>
                  </p:pic>
                </p:oleObj>
              </mc:Fallback>
            </mc:AlternateContent>
          </a:graphicData>
        </a:graphic>
      </p:graphicFrame>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SO SÁNH 2 THUẬT TOÁN</a:t>
            </a:r>
          </a:p>
        </p:txBody>
      </p:sp>
      <p:sp>
        <p:nvSpPr>
          <p:cNvPr id="16" name="TextBox 16"/>
          <p:cNvSpPr txBox="1"/>
          <p:nvPr/>
        </p:nvSpPr>
        <p:spPr>
          <a:xfrm>
            <a:off x="1402512" y="9210675"/>
            <a:ext cx="15482977" cy="495301"/>
          </a:xfrm>
          <a:prstGeom prst="rect">
            <a:avLst/>
          </a:prstGeom>
        </p:spPr>
        <p:txBody>
          <a:bodyPr lIns="0" tIns="0" rIns="0" bIns="0" rtlCol="0" anchor="t">
            <a:spAutoFit/>
          </a:bodyPr>
          <a:lstStyle/>
          <a:p>
            <a:pPr algn="ctr">
              <a:lnSpc>
                <a:spcPts val="4199"/>
              </a:lnSpc>
              <a:spcBef>
                <a:spcPct val="0"/>
              </a:spcBef>
            </a:pPr>
            <a:r>
              <a:rPr lang="en-US" sz="2999" i="1">
                <a:solidFill>
                  <a:srgbClr val="348BFF"/>
                </a:solidFill>
                <a:latin typeface="Canva Sans Italics"/>
                <a:ea typeface="Canva Sans Italics"/>
                <a:cs typeface="Canva Sans Italics"/>
                <a:sym typeface="Canva Sans Italics"/>
              </a:rPr>
              <a:t>→ Lựa chọn thuật toán Greedy + Degree để cài đặt thực nghiệm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407264" flipH="1">
            <a:off x="13760017" y="6817824"/>
            <a:ext cx="4768277" cy="4551537"/>
          </a:xfrm>
          <a:custGeom>
            <a:avLst/>
            <a:gdLst/>
            <a:ahLst/>
            <a:cxnLst/>
            <a:rect l="l" t="t" r="r" b="b"/>
            <a:pathLst>
              <a:path w="4768277" h="455153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3275">
            <a:off x="12646576" y="-298239"/>
            <a:ext cx="6995160" cy="5246370"/>
            <a:chOff x="0" y="0"/>
            <a:chExt cx="812800" cy="609600"/>
          </a:xfrm>
        </p:grpSpPr>
        <p:sp>
          <p:nvSpPr>
            <p:cNvPr id="8" name="Freeform 8"/>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5"/>
              <a:stretch>
                <a:fillRect r="-13324"/>
              </a:stretch>
            </a:blipFill>
          </p:spPr>
        </p:sp>
      </p:grpSp>
      <p:grpSp>
        <p:nvGrpSpPr>
          <p:cNvPr id="9" name="Group 9"/>
          <p:cNvGrpSpPr/>
          <p:nvPr/>
        </p:nvGrpSpPr>
        <p:grpSpPr>
          <a:xfrm rot="3275">
            <a:off x="9023612" y="5146831"/>
            <a:ext cx="6995160" cy="5246370"/>
            <a:chOff x="0" y="0"/>
            <a:chExt cx="812800" cy="609600"/>
          </a:xfrm>
        </p:grpSpPr>
        <p:sp>
          <p:nvSpPr>
            <p:cNvPr id="10" name="Freeform 1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6"/>
              <a:stretch>
                <a:fillRect l="-6739" r="-5619"/>
              </a:stretch>
            </a:blipFill>
          </p:spPr>
        </p:sp>
      </p:grpSp>
      <p:sp>
        <p:nvSpPr>
          <p:cNvPr id="11" name="Freeform 11"/>
          <p:cNvSpPr/>
          <p:nvPr/>
        </p:nvSpPr>
        <p:spPr>
          <a:xfrm rot="-10792239" flipH="1">
            <a:off x="-724606" y="8954135"/>
            <a:ext cx="2702689" cy="2579840"/>
          </a:xfrm>
          <a:custGeom>
            <a:avLst/>
            <a:gdLst/>
            <a:ahLst/>
            <a:cxnLst/>
            <a:rect l="l" t="t" r="r" b="b"/>
            <a:pathLst>
              <a:path w="2702689" h="2579840">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626738" y="550533"/>
            <a:ext cx="2291645" cy="652047"/>
            <a:chOff x="0" y="0"/>
            <a:chExt cx="3055526" cy="869397"/>
          </a:xfrm>
        </p:grpSpPr>
        <p:grpSp>
          <p:nvGrpSpPr>
            <p:cNvPr id="13" name="Group 13"/>
            <p:cNvGrpSpPr/>
            <p:nvPr/>
          </p:nvGrpSpPr>
          <p:grpSpPr>
            <a:xfrm>
              <a:off x="0" y="0"/>
              <a:ext cx="747138" cy="869397"/>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5" name="TextBox 15"/>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6" name="TextBox 16"/>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7" name="TextBox 17"/>
          <p:cNvSpPr txBox="1"/>
          <p:nvPr/>
        </p:nvSpPr>
        <p:spPr>
          <a:xfrm>
            <a:off x="858155" y="3268078"/>
            <a:ext cx="8835957" cy="3195319"/>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 3.  Dữ liệu và thực nghiệm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graphicFrame>
        <p:nvGraphicFramePr>
          <p:cNvPr id="14" name="Table 14"/>
          <p:cNvGraphicFramePr>
            <a:graphicFrameLocks noGrp="1"/>
          </p:cNvGraphicFramePr>
          <p:nvPr>
            <p:extLst>
              <p:ext uri="{D42A27DB-BD31-4B8C-83A1-F6EECF244321}">
                <p14:modId xmlns:p14="http://schemas.microsoft.com/office/powerpoint/2010/main" val="3716552747"/>
              </p:ext>
            </p:extLst>
          </p:nvPr>
        </p:nvGraphicFramePr>
        <p:xfrm>
          <a:off x="11803363" y="2419526"/>
          <a:ext cx="1836437" cy="2076450"/>
        </p:xfrm>
        <a:graphic>
          <a:graphicData uri="http://schemas.openxmlformats.org/drawingml/2006/table">
            <a:tbl>
              <a:tblPr/>
              <a:tblGrid>
                <a:gridCol w="1836437">
                  <a:extLst>
                    <a:ext uri="{9D8B030D-6E8A-4147-A177-3AD203B41FA5}">
                      <a16:colId xmlns:a16="http://schemas.microsoft.com/office/drawing/2014/main" val="20000"/>
                    </a:ext>
                  </a:extLst>
                </a:gridCol>
              </a:tblGrid>
              <a:tr h="944826">
                <a:tc>
                  <a:txBody>
                    <a:bodyPr/>
                    <a:lstStyle/>
                    <a:p>
                      <a:pPr algn="ctr">
                        <a:lnSpc>
                          <a:spcPts val="3359"/>
                        </a:lnSpc>
                        <a:defRPr/>
                      </a:pPr>
                      <a:r>
                        <a:rPr lang="en-US" sz="2399" b="1">
                          <a:solidFill>
                            <a:srgbClr val="020511"/>
                          </a:solidFill>
                          <a:latin typeface="Arimo Bold"/>
                          <a:ea typeface="Arimo Bold"/>
                          <a:cs typeface="Arimo Bold"/>
                          <a:sym typeface="Arimo Bold"/>
                        </a:rPr>
                        <a:t>Students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1131624">
                <a:tc>
                  <a:txBody>
                    <a:bodyPr/>
                    <a:lstStyle/>
                    <a:p>
                      <a:pPr algn="ctr">
                        <a:lnSpc>
                          <a:spcPts val="2519"/>
                        </a:lnSpc>
                        <a:defRPr/>
                      </a:pPr>
                      <a:r>
                        <a:rPr lang="en-US" sz="1799" dirty="0">
                          <a:solidFill>
                            <a:srgbClr val="FFFFFF"/>
                          </a:solidFill>
                          <a:latin typeface="Arimo"/>
                          <a:ea typeface="Arimo"/>
                          <a:cs typeface="Arimo"/>
                          <a:sym typeface="Arimo"/>
                        </a:rPr>
                        <a:t>Student Name</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5" name="Table 15"/>
          <p:cNvGraphicFramePr>
            <a:graphicFrameLocks noGrp="1"/>
          </p:cNvGraphicFramePr>
          <p:nvPr>
            <p:extLst>
              <p:ext uri="{D42A27DB-BD31-4B8C-83A1-F6EECF244321}">
                <p14:modId xmlns:p14="http://schemas.microsoft.com/office/powerpoint/2010/main" val="3716433910"/>
              </p:ext>
            </p:extLst>
          </p:nvPr>
        </p:nvGraphicFramePr>
        <p:xfrm>
          <a:off x="11774930" y="5450018"/>
          <a:ext cx="1864870" cy="2138299"/>
        </p:xfrm>
        <a:graphic>
          <a:graphicData uri="http://schemas.openxmlformats.org/drawingml/2006/table">
            <a:tbl>
              <a:tblPr/>
              <a:tblGrid>
                <a:gridCol w="1864870">
                  <a:extLst>
                    <a:ext uri="{9D8B030D-6E8A-4147-A177-3AD203B41FA5}">
                      <a16:colId xmlns:a16="http://schemas.microsoft.com/office/drawing/2014/main" val="20000"/>
                    </a:ext>
                  </a:extLst>
                </a:gridCol>
              </a:tblGrid>
              <a:tr h="648382">
                <a:tc>
                  <a:txBody>
                    <a:bodyPr/>
                    <a:lstStyle/>
                    <a:p>
                      <a:pPr algn="ctr">
                        <a:lnSpc>
                          <a:spcPts val="3359"/>
                        </a:lnSpc>
                        <a:defRPr/>
                      </a:pPr>
                      <a:r>
                        <a:rPr lang="en-US" sz="2399" b="1" dirty="0">
                          <a:solidFill>
                            <a:srgbClr val="020511"/>
                          </a:solidFill>
                          <a:latin typeface="Arimo Bold"/>
                          <a:ea typeface="Arimo Bold"/>
                          <a:cs typeface="Arimo Bold"/>
                          <a:sym typeface="Arimo Bold"/>
                        </a:rPr>
                        <a:t>Courses</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618386">
                <a:tc>
                  <a:txBody>
                    <a:bodyPr/>
                    <a:lstStyle/>
                    <a:p>
                      <a:pPr algn="ctr">
                        <a:lnSpc>
                          <a:spcPts val="2519"/>
                        </a:lnSpc>
                        <a:defRPr/>
                      </a:pPr>
                      <a:r>
                        <a:rPr lang="en-US" sz="1799">
                          <a:solidFill>
                            <a:srgbClr val="FFFFFF"/>
                          </a:solidFill>
                          <a:latin typeface="Arimo"/>
                          <a:ea typeface="Arimo"/>
                          <a:cs typeface="Arimo"/>
                          <a:sym typeface="Arimo"/>
                        </a:rPr>
                        <a:t>Course Code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618386">
                <a:tc>
                  <a:txBody>
                    <a:bodyPr/>
                    <a:lstStyle/>
                    <a:p>
                      <a:pPr algn="ctr">
                        <a:lnSpc>
                          <a:spcPts val="2519"/>
                        </a:lnSpc>
                        <a:defRPr/>
                      </a:pPr>
                      <a:r>
                        <a:rPr lang="en-US" sz="1799" dirty="0">
                          <a:solidFill>
                            <a:srgbClr val="FFFFFF"/>
                          </a:solidFill>
                          <a:latin typeface="Arimo"/>
                          <a:ea typeface="Arimo"/>
                          <a:cs typeface="Arimo"/>
                          <a:sym typeface="Arimo"/>
                        </a:rPr>
                        <a:t>Course Name</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6" name="Table 16"/>
          <p:cNvGraphicFramePr>
            <a:graphicFrameLocks noGrp="1"/>
          </p:cNvGraphicFramePr>
          <p:nvPr>
            <p:extLst>
              <p:ext uri="{D42A27DB-BD31-4B8C-83A1-F6EECF244321}">
                <p14:modId xmlns:p14="http://schemas.microsoft.com/office/powerpoint/2010/main" val="729346030"/>
              </p:ext>
            </p:extLst>
          </p:nvPr>
        </p:nvGraphicFramePr>
        <p:xfrm>
          <a:off x="14823265" y="3506951"/>
          <a:ext cx="2847498" cy="3095625"/>
        </p:xfrm>
        <a:graphic>
          <a:graphicData uri="http://schemas.openxmlformats.org/drawingml/2006/table">
            <a:tbl>
              <a:tblPr/>
              <a:tblGrid>
                <a:gridCol w="2847498">
                  <a:extLst>
                    <a:ext uri="{9D8B030D-6E8A-4147-A177-3AD203B41FA5}">
                      <a16:colId xmlns:a16="http://schemas.microsoft.com/office/drawing/2014/main" val="20000"/>
                    </a:ext>
                  </a:extLst>
                </a:gridCol>
              </a:tblGrid>
              <a:tr h="1031875">
                <a:tc>
                  <a:txBody>
                    <a:bodyPr/>
                    <a:lstStyle/>
                    <a:p>
                      <a:pPr algn="ctr">
                        <a:lnSpc>
                          <a:spcPts val="3359"/>
                        </a:lnSpc>
                        <a:defRPr/>
                      </a:pPr>
                      <a:r>
                        <a:rPr lang="en-US" sz="2399" b="1">
                          <a:solidFill>
                            <a:srgbClr val="020511"/>
                          </a:solidFill>
                          <a:latin typeface="Arimo Bold"/>
                          <a:ea typeface="Arimo Bold"/>
                          <a:cs typeface="Arimo Bold"/>
                          <a:sym typeface="Arimo Bold"/>
                        </a:rPr>
                        <a:t>Student_Course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1031875">
                <a:tc>
                  <a:txBody>
                    <a:bodyPr/>
                    <a:lstStyle/>
                    <a:p>
                      <a:pPr algn="ctr">
                        <a:lnSpc>
                          <a:spcPts val="2519"/>
                        </a:lnSpc>
                        <a:defRPr/>
                      </a:pPr>
                      <a:r>
                        <a:rPr lang="en-US" sz="1799">
                          <a:solidFill>
                            <a:srgbClr val="FFFFFF"/>
                          </a:solidFill>
                          <a:latin typeface="Arimo"/>
                          <a:ea typeface="Arimo"/>
                          <a:cs typeface="Arimo"/>
                          <a:sym typeface="Arimo"/>
                        </a:rPr>
                        <a:t>Student Name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1031875">
                <a:tc>
                  <a:txBody>
                    <a:bodyPr/>
                    <a:lstStyle/>
                    <a:p>
                      <a:pPr algn="ctr">
                        <a:lnSpc>
                          <a:spcPts val="2519"/>
                        </a:lnSpc>
                        <a:defRPr/>
                      </a:pPr>
                      <a:r>
                        <a:rPr lang="en-US" sz="1799" dirty="0">
                          <a:solidFill>
                            <a:srgbClr val="FFFFFF"/>
                          </a:solidFill>
                          <a:latin typeface="Arimo"/>
                          <a:ea typeface="Arimo"/>
                          <a:cs typeface="Arimo"/>
                          <a:sym typeface="Arimo"/>
                        </a:rPr>
                        <a:t>Course Code</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7" name="TextBox 17"/>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DỮ LIỆU</a:t>
            </a:r>
          </a:p>
        </p:txBody>
      </p:sp>
      <p:sp>
        <p:nvSpPr>
          <p:cNvPr id="18" name="TextBox 18"/>
          <p:cNvSpPr txBox="1"/>
          <p:nvPr/>
        </p:nvSpPr>
        <p:spPr>
          <a:xfrm>
            <a:off x="848794" y="2743265"/>
            <a:ext cx="6923606" cy="6791578"/>
          </a:xfrm>
          <a:prstGeom prst="rect">
            <a:avLst/>
          </a:prstGeom>
        </p:spPr>
        <p:txBody>
          <a:bodyPr lIns="0" tIns="0" rIns="0" bIns="0" rtlCol="0" anchor="t">
            <a:spAutoFit/>
          </a:bodyPr>
          <a:lstStyle/>
          <a:p>
            <a:pPr algn="l">
              <a:lnSpc>
                <a:spcPts val="5858"/>
              </a:lnSpc>
            </a:pPr>
            <a:r>
              <a:rPr lang="en-US" sz="2900" b="1">
                <a:solidFill>
                  <a:srgbClr val="FFFFFF"/>
                </a:solidFill>
                <a:latin typeface="Canva Sans Bold"/>
                <a:ea typeface="Canva Sans Bold"/>
                <a:cs typeface="Canva Sans Bold"/>
                <a:sym typeface="Canva Sans Bold"/>
              </a:rPr>
              <a:t>Nguồn dữ liệu:</a:t>
            </a:r>
          </a:p>
          <a:p>
            <a:pPr marL="518163" lvl="1" indent="-259082" algn="l">
              <a:lnSpc>
                <a:spcPts val="4848"/>
              </a:lnSpc>
              <a:buFont typeface="Arial"/>
              <a:buChar char="•"/>
            </a:pPr>
            <a:r>
              <a:rPr lang="en-US" sz="2400">
                <a:solidFill>
                  <a:srgbClr val="FFFFFF"/>
                </a:solidFill>
                <a:latin typeface="Canva Sans"/>
                <a:ea typeface="Canva Sans"/>
                <a:cs typeface="Canva Sans"/>
                <a:sym typeface="Canva Sans"/>
              </a:rPr>
              <a:t>1️⃣ DS HocPhan</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Mã LHP</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Mã môn thi</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Số tín chỉ</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Hình thức thi</a:t>
            </a:r>
          </a:p>
          <a:p>
            <a:pPr marL="518163" lvl="1" indent="-259082" algn="l">
              <a:lnSpc>
                <a:spcPts val="4848"/>
              </a:lnSpc>
              <a:buFont typeface="Arial"/>
              <a:buChar char="•"/>
            </a:pPr>
            <a:r>
              <a:rPr lang="en-US" sz="2400">
                <a:solidFill>
                  <a:srgbClr val="FFFFFF"/>
                </a:solidFill>
                <a:latin typeface="Canva Sans"/>
                <a:ea typeface="Canva Sans"/>
                <a:cs typeface="Canva Sans"/>
                <a:sym typeface="Canva Sans"/>
              </a:rPr>
              <a:t>2️⃣ DS SV – masked</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MSV</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MHP</a:t>
            </a:r>
          </a:p>
          <a:p>
            <a:pPr marL="1036326" lvl="2" indent="-345442" algn="l">
              <a:lnSpc>
                <a:spcPts val="4848"/>
              </a:lnSpc>
              <a:buFont typeface="Arial"/>
              <a:buChar char="⚬"/>
            </a:pPr>
            <a:r>
              <a:rPr lang="en-US" sz="2400">
                <a:solidFill>
                  <a:srgbClr val="FFFFFF"/>
                </a:solidFill>
                <a:latin typeface="Canva Sans"/>
                <a:ea typeface="Canva Sans"/>
                <a:cs typeface="Canva Sans"/>
                <a:sym typeface="Canva Sans"/>
              </a:rPr>
              <a:t>Tên học phần</a:t>
            </a:r>
          </a:p>
          <a:p>
            <a:pPr algn="l">
              <a:lnSpc>
                <a:spcPts val="4848"/>
              </a:lnSpc>
            </a:pPr>
            <a:endParaRPr lang="en-US" sz="2400">
              <a:solidFill>
                <a:srgbClr val="FFFFFF"/>
              </a:solidFill>
              <a:latin typeface="Canva Sans"/>
              <a:ea typeface="Canva Sans"/>
              <a:cs typeface="Canva Sans"/>
              <a:sym typeface="Canva Sans"/>
            </a:endParaRPr>
          </a:p>
        </p:txBody>
      </p:sp>
      <p:sp>
        <p:nvSpPr>
          <p:cNvPr id="19" name="TextBox 19"/>
          <p:cNvSpPr txBox="1"/>
          <p:nvPr/>
        </p:nvSpPr>
        <p:spPr>
          <a:xfrm>
            <a:off x="5930101" y="3763977"/>
            <a:ext cx="4279702" cy="3512248"/>
          </a:xfrm>
          <a:prstGeom prst="rect">
            <a:avLst/>
          </a:prstGeom>
        </p:spPr>
        <p:txBody>
          <a:bodyPr lIns="0" tIns="0" rIns="0" bIns="0" rtlCol="0" anchor="t">
            <a:spAutoFit/>
          </a:bodyPr>
          <a:lstStyle/>
          <a:p>
            <a:pPr algn="l">
              <a:lnSpc>
                <a:spcPts val="5307"/>
              </a:lnSpc>
            </a:pPr>
            <a:r>
              <a:rPr lang="en-US" sz="2900" b="1">
                <a:solidFill>
                  <a:srgbClr val="FFFFFF"/>
                </a:solidFill>
                <a:latin typeface="Canva Sans Bold"/>
                <a:ea typeface="Canva Sans Bold"/>
                <a:cs typeface="Canva Sans Bold"/>
                <a:sym typeface="Canva Sans Bold"/>
              </a:rPr>
              <a:t>Các bước xử lý:</a:t>
            </a:r>
          </a:p>
          <a:p>
            <a:pPr marL="1036326" lvl="2" indent="-345442" algn="l">
              <a:lnSpc>
                <a:spcPts val="4392"/>
              </a:lnSpc>
              <a:buFont typeface="Arial"/>
              <a:buChar char="⚬"/>
            </a:pPr>
            <a:r>
              <a:rPr lang="en-US" sz="2400">
                <a:solidFill>
                  <a:srgbClr val="FFFFFF"/>
                </a:solidFill>
                <a:latin typeface="Canva Sans"/>
                <a:ea typeface="Canva Sans"/>
                <a:cs typeface="Canva Sans"/>
                <a:sym typeface="Canva Sans"/>
              </a:rPr>
              <a:t>Chuẩn hóa chữ</a:t>
            </a:r>
          </a:p>
          <a:p>
            <a:pPr marL="1036326" lvl="2" indent="-345442" algn="l">
              <a:lnSpc>
                <a:spcPts val="4392"/>
              </a:lnSpc>
              <a:buFont typeface="Arial"/>
              <a:buChar char="⚬"/>
            </a:pPr>
            <a:r>
              <a:rPr lang="en-US" sz="2400">
                <a:solidFill>
                  <a:srgbClr val="FFFFFF"/>
                </a:solidFill>
                <a:latin typeface="Canva Sans"/>
                <a:ea typeface="Canva Sans"/>
                <a:cs typeface="Canva Sans"/>
                <a:sym typeface="Canva Sans"/>
              </a:rPr>
              <a:t>Loại dòng trống</a:t>
            </a:r>
          </a:p>
          <a:p>
            <a:pPr marL="1036326" lvl="2" indent="-345442" algn="l">
              <a:lnSpc>
                <a:spcPts val="4392"/>
              </a:lnSpc>
              <a:buFont typeface="Arial"/>
              <a:buChar char="⚬"/>
            </a:pPr>
            <a:r>
              <a:rPr lang="en-US" sz="2400">
                <a:solidFill>
                  <a:srgbClr val="FFFFFF"/>
                </a:solidFill>
                <a:latin typeface="Canva Sans"/>
                <a:ea typeface="Canva Sans"/>
                <a:cs typeface="Canva Sans"/>
                <a:sym typeface="Canva Sans"/>
              </a:rPr>
              <a:t>Tách mã học phần gốc</a:t>
            </a:r>
          </a:p>
          <a:p>
            <a:pPr algn="l">
              <a:lnSpc>
                <a:spcPts val="5307"/>
              </a:lnSpc>
            </a:pPr>
            <a:endParaRPr lang="en-US" sz="2400">
              <a:solidFill>
                <a:srgbClr val="FFFFFF"/>
              </a:solidFill>
              <a:latin typeface="Canva Sans"/>
              <a:ea typeface="Canva Sans"/>
              <a:cs typeface="Canva Sans"/>
              <a:sym typeface="Canva Sans"/>
            </a:endParaRPr>
          </a:p>
          <a:p>
            <a:pPr algn="l">
              <a:lnSpc>
                <a:spcPts val="4392"/>
              </a:lnSpc>
            </a:pPr>
            <a:endParaRPr lang="en-US" sz="2400">
              <a:solidFill>
                <a:srgbClr val="FFFFFF"/>
              </a:solidFill>
              <a:latin typeface="Canva Sans"/>
              <a:ea typeface="Canva Sans"/>
              <a:cs typeface="Canva Sans"/>
              <a:sym typeface="Canv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DỮ LIỆU</a:t>
            </a:r>
          </a:p>
        </p:txBody>
      </p:sp>
      <p:sp>
        <p:nvSpPr>
          <p:cNvPr id="15" name="TextBox 15"/>
          <p:cNvSpPr txBox="1"/>
          <p:nvPr/>
        </p:nvSpPr>
        <p:spPr>
          <a:xfrm>
            <a:off x="626738" y="2530276"/>
            <a:ext cx="9393757" cy="6913627"/>
          </a:xfrm>
          <a:prstGeom prst="rect">
            <a:avLst/>
          </a:prstGeom>
        </p:spPr>
        <p:txBody>
          <a:bodyPr lIns="0" tIns="0" rIns="0" bIns="0" rtlCol="0" anchor="t">
            <a:spAutoFit/>
          </a:bodyPr>
          <a:lstStyle/>
          <a:p>
            <a:pPr algn="l">
              <a:lnSpc>
                <a:spcPts val="5711"/>
              </a:lnSpc>
            </a:pPr>
            <a:r>
              <a:rPr lang="en-US" sz="3399" b="1">
                <a:solidFill>
                  <a:srgbClr val="FFFFFF"/>
                </a:solidFill>
                <a:latin typeface="Roboto Bold"/>
                <a:ea typeface="Roboto Bold"/>
                <a:cs typeface="Roboto Bold"/>
                <a:sym typeface="Roboto Bold"/>
              </a:rPr>
              <a:t>DS Hocphan:</a:t>
            </a:r>
          </a:p>
          <a:p>
            <a:pPr marL="1252215" lvl="2" indent="-417405" algn="l">
              <a:lnSpc>
                <a:spcPts val="4871"/>
              </a:lnSpc>
              <a:buFont typeface="Arial"/>
              <a:buChar char="⚬"/>
            </a:pPr>
            <a:r>
              <a:rPr lang="en-US" sz="2899">
                <a:solidFill>
                  <a:srgbClr val="FFFFFF"/>
                </a:solidFill>
                <a:latin typeface="Roboto"/>
                <a:ea typeface="Roboto"/>
                <a:cs typeface="Roboto"/>
                <a:sym typeface="Roboto"/>
              </a:rPr>
              <a:t>769 dòng - 769 mã LHP (tương đương 769 đỉnh trong đồ thị)</a:t>
            </a:r>
          </a:p>
          <a:p>
            <a:pPr marL="1252215" lvl="2" indent="-417405" algn="l">
              <a:lnSpc>
                <a:spcPts val="4871"/>
              </a:lnSpc>
              <a:buFont typeface="Arial"/>
              <a:buChar char="⚬"/>
            </a:pPr>
            <a:r>
              <a:rPr lang="en-US" sz="2899">
                <a:solidFill>
                  <a:srgbClr val="FFFFFF"/>
                </a:solidFill>
                <a:latin typeface="Roboto"/>
                <a:ea typeface="Roboto"/>
                <a:cs typeface="Roboto"/>
                <a:sym typeface="Roboto"/>
              </a:rPr>
              <a:t>348 mã học phần</a:t>
            </a:r>
          </a:p>
          <a:p>
            <a:pPr marL="1252215" lvl="2" indent="-417405" algn="l">
              <a:lnSpc>
                <a:spcPts val="4871"/>
              </a:lnSpc>
              <a:buFont typeface="Arial"/>
              <a:buChar char="⚬"/>
            </a:pPr>
            <a:r>
              <a:rPr lang="en-US" sz="2899">
                <a:solidFill>
                  <a:srgbClr val="FFFFFF"/>
                </a:solidFill>
                <a:latin typeface="Roboto"/>
                <a:ea typeface="Roboto"/>
                <a:cs typeface="Roboto"/>
                <a:sym typeface="Roboto"/>
              </a:rPr>
              <a:t>423 mã môn thi</a:t>
            </a:r>
          </a:p>
          <a:p>
            <a:pPr marL="1252215" lvl="2" indent="-417405" algn="l">
              <a:lnSpc>
                <a:spcPts val="4871"/>
              </a:lnSpc>
              <a:buFont typeface="Arial"/>
              <a:buChar char="⚬"/>
            </a:pPr>
            <a:r>
              <a:rPr lang="en-US" sz="2899">
                <a:solidFill>
                  <a:srgbClr val="FFFFFF"/>
                </a:solidFill>
                <a:latin typeface="Roboto"/>
                <a:ea typeface="Roboto"/>
                <a:cs typeface="Roboto"/>
                <a:sym typeface="Roboto"/>
              </a:rPr>
              <a:t>4 giá trị số tín chỉ</a:t>
            </a:r>
          </a:p>
          <a:p>
            <a:pPr marL="1252215" lvl="2" indent="-417405" algn="l">
              <a:lnSpc>
                <a:spcPts val="4871"/>
              </a:lnSpc>
              <a:buFont typeface="Arial"/>
              <a:buChar char="⚬"/>
            </a:pPr>
            <a:r>
              <a:rPr lang="en-US" sz="2899">
                <a:solidFill>
                  <a:srgbClr val="FFFFFF"/>
                </a:solidFill>
                <a:latin typeface="Roboto"/>
                <a:ea typeface="Roboto"/>
                <a:cs typeface="Roboto"/>
                <a:sym typeface="Roboto"/>
              </a:rPr>
              <a:t>8 hình thức thi</a:t>
            </a:r>
          </a:p>
          <a:p>
            <a:pPr algn="l">
              <a:lnSpc>
                <a:spcPts val="5711"/>
              </a:lnSpc>
            </a:pPr>
            <a:r>
              <a:rPr lang="en-US" sz="3399" b="1">
                <a:solidFill>
                  <a:srgbClr val="FFFFFF"/>
                </a:solidFill>
                <a:latin typeface="Roboto Bold"/>
                <a:ea typeface="Roboto Bold"/>
                <a:cs typeface="Roboto Bold"/>
                <a:sym typeface="Roboto Bold"/>
              </a:rPr>
              <a:t>DS SV:</a:t>
            </a:r>
          </a:p>
          <a:p>
            <a:pPr marL="1252215" lvl="2" indent="-417405" algn="l">
              <a:lnSpc>
                <a:spcPts val="4871"/>
              </a:lnSpc>
              <a:buFont typeface="Arial"/>
              <a:buChar char="⚬"/>
            </a:pPr>
            <a:r>
              <a:rPr lang="en-US" sz="2899">
                <a:solidFill>
                  <a:srgbClr val="FFFFFF"/>
                </a:solidFill>
                <a:latin typeface="Roboto"/>
                <a:ea typeface="Roboto"/>
                <a:cs typeface="Roboto"/>
                <a:sym typeface="Roboto"/>
              </a:rPr>
              <a:t>38.304 dòng</a:t>
            </a:r>
          </a:p>
          <a:p>
            <a:pPr marL="1252215" lvl="2" indent="-417405" algn="l">
              <a:lnSpc>
                <a:spcPts val="4871"/>
              </a:lnSpc>
              <a:buFont typeface="Arial"/>
              <a:buChar char="⚬"/>
            </a:pPr>
            <a:r>
              <a:rPr lang="en-US" sz="2899">
                <a:solidFill>
                  <a:srgbClr val="FFFFFF"/>
                </a:solidFill>
                <a:latin typeface="Roboto"/>
                <a:ea typeface="Roboto"/>
                <a:cs typeface="Roboto"/>
                <a:sym typeface="Roboto"/>
              </a:rPr>
              <a:t>6.741 sinh viên khác nhau</a:t>
            </a:r>
          </a:p>
          <a:p>
            <a:pPr marL="1252215" lvl="2" indent="-417405" algn="l">
              <a:lnSpc>
                <a:spcPts val="4871"/>
              </a:lnSpc>
              <a:buFont typeface="Arial"/>
              <a:buChar char="⚬"/>
            </a:pPr>
            <a:r>
              <a:rPr lang="en-US" sz="2899">
                <a:solidFill>
                  <a:srgbClr val="FFFFFF"/>
                </a:solidFill>
                <a:latin typeface="Roboto"/>
                <a:ea typeface="Roboto"/>
                <a:cs typeface="Roboto"/>
                <a:sym typeface="Roboto"/>
              </a:rPr>
              <a:t>1.109 mã học phần</a:t>
            </a:r>
          </a:p>
        </p:txBody>
      </p:sp>
      <p:sp>
        <p:nvSpPr>
          <p:cNvPr id="16" name="Freeform 16"/>
          <p:cNvSpPr/>
          <p:nvPr/>
        </p:nvSpPr>
        <p:spPr>
          <a:xfrm>
            <a:off x="10503642" y="2267075"/>
            <a:ext cx="7114194" cy="7611477"/>
          </a:xfrm>
          <a:custGeom>
            <a:avLst/>
            <a:gdLst/>
            <a:ahLst/>
            <a:cxnLst/>
            <a:rect l="l" t="t" r="r" b="b"/>
            <a:pathLst>
              <a:path w="7114194" h="7611477">
                <a:moveTo>
                  <a:pt x="0" y="0"/>
                </a:moveTo>
                <a:lnTo>
                  <a:pt x="7114194" y="0"/>
                </a:lnTo>
                <a:lnTo>
                  <a:pt x="7114194" y="7611478"/>
                </a:lnTo>
                <a:lnTo>
                  <a:pt x="0" y="7611478"/>
                </a:lnTo>
                <a:lnTo>
                  <a:pt x="0" y="0"/>
                </a:lnTo>
                <a:close/>
              </a:path>
            </a:pathLst>
          </a:custGeom>
          <a:blipFill>
            <a:blip r:embed="rId6"/>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9144000" y="2657651"/>
            <a:ext cx="8483964" cy="6794069"/>
          </a:xfrm>
          <a:custGeom>
            <a:avLst/>
            <a:gdLst/>
            <a:ahLst/>
            <a:cxnLst/>
            <a:rect l="l" t="t" r="r" b="b"/>
            <a:pathLst>
              <a:path w="8483964" h="6794069">
                <a:moveTo>
                  <a:pt x="0" y="0"/>
                </a:moveTo>
                <a:lnTo>
                  <a:pt x="8483964" y="0"/>
                </a:lnTo>
                <a:lnTo>
                  <a:pt x="8483964" y="6794068"/>
                </a:lnTo>
                <a:lnTo>
                  <a:pt x="0" y="6794068"/>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XÂY DỰNG ĐỒ THỊ XUNG ĐỘT</a:t>
            </a:r>
          </a:p>
        </p:txBody>
      </p:sp>
      <p:sp>
        <p:nvSpPr>
          <p:cNvPr id="16" name="TextBox 16"/>
          <p:cNvSpPr txBox="1"/>
          <p:nvPr/>
        </p:nvSpPr>
        <p:spPr>
          <a:xfrm>
            <a:off x="626738" y="2861754"/>
            <a:ext cx="7960962" cy="3949446"/>
          </a:xfrm>
          <a:prstGeom prst="rect">
            <a:avLst/>
          </a:prstGeom>
        </p:spPr>
        <p:txBody>
          <a:bodyPr lIns="0" tIns="0" rIns="0" bIns="0" rtlCol="0" anchor="t">
            <a:spAutoFit/>
          </a:bodyPr>
          <a:lstStyle/>
          <a:p>
            <a:pPr marL="626111" lvl="1" indent="-313055" algn="l">
              <a:lnSpc>
                <a:spcPts val="5307"/>
              </a:lnSpc>
              <a:buFont typeface="Arial"/>
              <a:buChar char="•"/>
            </a:pPr>
            <a:r>
              <a:rPr lang="en-US" sz="2900">
                <a:solidFill>
                  <a:srgbClr val="FFFFFF"/>
                </a:solidFill>
                <a:latin typeface="Canva Sans"/>
                <a:ea typeface="Canva Sans"/>
                <a:cs typeface="Canva Sans"/>
                <a:sym typeface="Canva Sans"/>
              </a:rPr>
              <a:t>Tìm ra những cặp môn học có chung sinh viên đăng ký. </a:t>
            </a:r>
          </a:p>
          <a:p>
            <a:pPr marL="626111" lvl="1" indent="-313055" algn="l">
              <a:lnSpc>
                <a:spcPts val="5307"/>
              </a:lnSpc>
              <a:buFont typeface="Arial"/>
              <a:buChar char="•"/>
            </a:pPr>
            <a:r>
              <a:rPr lang="en-US" sz="2900">
                <a:solidFill>
                  <a:srgbClr val="FFFFFF"/>
                </a:solidFill>
                <a:latin typeface="Canva Sans"/>
                <a:ea typeface="Canva Sans"/>
                <a:cs typeface="Canva Sans"/>
                <a:sym typeface="Canva Sans"/>
              </a:rPr>
              <a:t>Tính toán Bậc xung đột</a:t>
            </a:r>
          </a:p>
          <a:p>
            <a:pPr algn="l">
              <a:lnSpc>
                <a:spcPts val="5307"/>
              </a:lnSpc>
            </a:pPr>
            <a:endParaRPr lang="en-US" sz="2900">
              <a:solidFill>
                <a:srgbClr val="FFFFFF"/>
              </a:solidFill>
              <a:latin typeface="Canva Sans"/>
              <a:ea typeface="Canva Sans"/>
              <a:cs typeface="Canva Sans"/>
              <a:sym typeface="Canva Sans"/>
            </a:endParaRPr>
          </a:p>
          <a:p>
            <a:pPr algn="l">
              <a:lnSpc>
                <a:spcPts val="5307"/>
              </a:lnSpc>
            </a:pPr>
            <a:r>
              <a:rPr lang="en-US" sz="2900">
                <a:solidFill>
                  <a:srgbClr val="FFFFFF"/>
                </a:solidFill>
                <a:latin typeface="Canva Sans"/>
                <a:ea typeface="Canva Sans"/>
                <a:cs typeface="Canva Sans"/>
                <a:sym typeface="Canva Sans"/>
              </a:rPr>
              <a:t>→  Đồ thị xung đột của </a:t>
            </a:r>
            <a:r>
              <a:rPr lang="en-US" sz="2900" b="1">
                <a:solidFill>
                  <a:srgbClr val="FFFFFF"/>
                </a:solidFill>
                <a:latin typeface="Canva Sans Bold"/>
                <a:ea typeface="Canva Sans Bold"/>
                <a:cs typeface="Canva Sans Bold"/>
                <a:sym typeface="Canva Sans Bold"/>
              </a:rPr>
              <a:t>15 môn </a:t>
            </a:r>
            <a:r>
              <a:rPr lang="en-US" sz="2900">
                <a:solidFill>
                  <a:srgbClr val="FFFFFF"/>
                </a:solidFill>
                <a:latin typeface="Canva Sans"/>
                <a:ea typeface="Canva Sans"/>
                <a:cs typeface="Canva Sans"/>
                <a:sym typeface="Canva Sans"/>
              </a:rPr>
              <a:t>có xung độ cao nhất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301477"/>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26873"/>
            <a:ext cx="16867121" cy="874006"/>
          </a:xfrm>
          <a:prstGeom prst="rect">
            <a:avLst/>
          </a:prstGeom>
        </p:spPr>
        <p:txBody>
          <a:bodyPr lIns="0" tIns="0" rIns="0" bIns="0" rtlCol="0" anchor="t">
            <a:spAutoFit/>
          </a:bodyPr>
          <a:lstStyle/>
          <a:p>
            <a:pPr algn="l">
              <a:lnSpc>
                <a:spcPts val="6951"/>
              </a:lnSpc>
            </a:pPr>
            <a:r>
              <a:rPr lang="en-US" sz="4965" spc="-49">
                <a:solidFill>
                  <a:srgbClr val="348BFF"/>
                </a:solidFill>
                <a:latin typeface="Times New Roman"/>
                <a:ea typeface="Times New Roman"/>
                <a:cs typeface="Times New Roman"/>
                <a:sym typeface="Times New Roman"/>
              </a:rPr>
              <a:t> THUẬT TOÁN GÁN CA THI - CHIẾN LƯỢC THAM LAM</a:t>
            </a:r>
          </a:p>
        </p:txBody>
      </p:sp>
      <p:sp>
        <p:nvSpPr>
          <p:cNvPr id="15" name="TextBox 15"/>
          <p:cNvSpPr txBox="1"/>
          <p:nvPr/>
        </p:nvSpPr>
        <p:spPr>
          <a:xfrm>
            <a:off x="5757264" y="2253852"/>
            <a:ext cx="8070984" cy="7637525"/>
          </a:xfrm>
          <a:prstGeom prst="rect">
            <a:avLst/>
          </a:prstGeom>
        </p:spPr>
        <p:txBody>
          <a:bodyPr lIns="0" tIns="0" rIns="0" bIns="0" rtlCol="0" anchor="t">
            <a:spAutoFit/>
          </a:bodyPr>
          <a:lstStyle/>
          <a:p>
            <a:pPr algn="l">
              <a:lnSpc>
                <a:spcPts val="4758"/>
              </a:lnSpc>
            </a:pPr>
            <a:r>
              <a:rPr lang="en-US" sz="2600" b="1">
                <a:solidFill>
                  <a:srgbClr val="FFFFFF"/>
                </a:solidFill>
                <a:latin typeface="Canva Sans Bold"/>
                <a:ea typeface="Canva Sans Bold"/>
                <a:cs typeface="Canva Sans Bold"/>
                <a:sym typeface="Canva Sans Bold"/>
              </a:rPr>
              <a:t>Quy trình:</a:t>
            </a:r>
          </a:p>
          <a:p>
            <a:pPr marL="474984" lvl="1" indent="-237492" algn="l">
              <a:lnSpc>
                <a:spcPts val="4026"/>
              </a:lnSpc>
              <a:buAutoNum type="arabicPeriod"/>
            </a:pPr>
            <a:r>
              <a:rPr lang="en-US" sz="2200">
                <a:solidFill>
                  <a:srgbClr val="FFFFFF"/>
                </a:solidFill>
                <a:latin typeface="Canva Sans"/>
                <a:ea typeface="Canva Sans"/>
                <a:cs typeface="Canva Sans"/>
                <a:sym typeface="Canva Sans"/>
              </a:rPr>
              <a:t>Sắp xếp môn theo degree giảm dần.</a:t>
            </a:r>
          </a:p>
          <a:p>
            <a:pPr marL="474984" lvl="1" indent="-237492" algn="l">
              <a:lnSpc>
                <a:spcPts val="4026"/>
              </a:lnSpc>
              <a:buAutoNum type="arabicPeriod"/>
            </a:pPr>
            <a:r>
              <a:rPr lang="en-US" sz="2200">
                <a:solidFill>
                  <a:srgbClr val="FFFFFF"/>
                </a:solidFill>
                <a:latin typeface="Canva Sans"/>
                <a:ea typeface="Canva Sans"/>
                <a:cs typeface="Canva Sans"/>
                <a:sym typeface="Canva Sans"/>
              </a:rPr>
              <a:t>Với mỗi môn v:</a:t>
            </a:r>
          </a:p>
          <a:p>
            <a:pPr marL="949969" lvl="2" indent="-316656" algn="l">
              <a:lnSpc>
                <a:spcPts val="4026"/>
              </a:lnSpc>
              <a:buFont typeface="Arial"/>
              <a:buChar char="⚬"/>
            </a:pPr>
            <a:r>
              <a:rPr lang="en-US" sz="2200">
                <a:solidFill>
                  <a:srgbClr val="FFFFFF"/>
                </a:solidFill>
                <a:latin typeface="Canva Sans"/>
                <a:ea typeface="Canva Sans"/>
                <a:cs typeface="Canva Sans"/>
                <a:sym typeface="Canva Sans"/>
              </a:rPr>
              <a:t>Duyệt từng slot t ∈ T.</a:t>
            </a:r>
          </a:p>
          <a:p>
            <a:pPr marL="949969" lvl="2" indent="-316656" algn="l">
              <a:lnSpc>
                <a:spcPts val="4026"/>
              </a:lnSpc>
              <a:buFont typeface="Arial"/>
              <a:buChar char="⚬"/>
            </a:pPr>
            <a:r>
              <a:rPr lang="en-US" sz="2200">
                <a:solidFill>
                  <a:srgbClr val="FFFFFF"/>
                </a:solidFill>
                <a:latin typeface="Canva Sans"/>
                <a:ea typeface="Canva Sans"/>
                <a:cs typeface="Canva Sans"/>
                <a:sym typeface="Canva Sans"/>
              </a:rPr>
              <a:t>Kiểm tra ràng buộc cứng:</a:t>
            </a:r>
          </a:p>
          <a:p>
            <a:pPr marL="1424953" lvl="3" indent="-356238" algn="l">
              <a:lnSpc>
                <a:spcPts val="4026"/>
              </a:lnSpc>
              <a:buFont typeface="Arial"/>
              <a:buChar char="￭"/>
            </a:pPr>
            <a:r>
              <a:rPr lang="en-US" sz="2200">
                <a:solidFill>
                  <a:srgbClr val="FFFFFF"/>
                </a:solidFill>
                <a:latin typeface="Canva Sans"/>
                <a:ea typeface="Canva Sans"/>
                <a:cs typeface="Canva Sans"/>
                <a:sym typeface="Canva Sans"/>
              </a:rPr>
              <a:t>Không trùng sinh viên</a:t>
            </a:r>
          </a:p>
          <a:p>
            <a:pPr marL="1424953" lvl="3" indent="-356238" algn="l">
              <a:lnSpc>
                <a:spcPts val="4026"/>
              </a:lnSpc>
              <a:buFont typeface="Arial"/>
              <a:buChar char="￭"/>
            </a:pPr>
            <a:r>
              <a:rPr lang="en-US" sz="2200">
                <a:solidFill>
                  <a:srgbClr val="FFFFFF"/>
                </a:solidFill>
                <a:latin typeface="Canva Sans"/>
                <a:ea typeface="Canva Sans"/>
                <a:cs typeface="Canva Sans"/>
                <a:sym typeface="Canva Sans"/>
              </a:rPr>
              <a:t>Không trùng khoa</a:t>
            </a:r>
          </a:p>
          <a:p>
            <a:pPr marL="1424953" lvl="3" indent="-356238" algn="l">
              <a:lnSpc>
                <a:spcPts val="4026"/>
              </a:lnSpc>
              <a:buFont typeface="Arial"/>
              <a:buChar char="￭"/>
            </a:pPr>
            <a:r>
              <a:rPr lang="en-US" sz="2200">
                <a:solidFill>
                  <a:srgbClr val="FFFFFF"/>
                </a:solidFill>
                <a:latin typeface="Canva Sans"/>
                <a:ea typeface="Canva Sans"/>
                <a:cs typeface="Canva Sans"/>
                <a:sym typeface="Canva Sans"/>
              </a:rPr>
              <a:t>Không vượt quá số lượng sinh viên cho phép</a:t>
            </a:r>
          </a:p>
          <a:p>
            <a:pPr marL="949969" lvl="2" indent="-316656" algn="l">
              <a:lnSpc>
                <a:spcPts val="4026"/>
              </a:lnSpc>
              <a:buFont typeface="Arial"/>
              <a:buChar char="⚬"/>
            </a:pPr>
            <a:r>
              <a:rPr lang="en-US" sz="2200">
                <a:solidFill>
                  <a:srgbClr val="FFFFFF"/>
                </a:solidFill>
                <a:latin typeface="Canva Sans"/>
                <a:ea typeface="Canva Sans"/>
                <a:cs typeface="Canva Sans"/>
                <a:sym typeface="Canva Sans"/>
              </a:rPr>
              <a:t>Tính soft_penalty(v, t):</a:t>
            </a:r>
          </a:p>
          <a:p>
            <a:pPr marL="1424953" lvl="3" indent="-356238" algn="l">
              <a:lnSpc>
                <a:spcPts val="4026"/>
              </a:lnSpc>
              <a:buFont typeface="Arial"/>
              <a:buChar char="￭"/>
            </a:pPr>
            <a:r>
              <a:rPr lang="en-US" sz="2200">
                <a:solidFill>
                  <a:srgbClr val="FFFFFF"/>
                </a:solidFill>
                <a:latin typeface="Canva Sans"/>
                <a:ea typeface="Canva Sans"/>
                <a:cs typeface="Canva Sans"/>
                <a:sym typeface="Canva Sans"/>
              </a:rPr>
              <a:t>Thi liên tiếp</a:t>
            </a:r>
          </a:p>
          <a:p>
            <a:pPr marL="1424953" lvl="3" indent="-356238" algn="l">
              <a:lnSpc>
                <a:spcPts val="4026"/>
              </a:lnSpc>
              <a:buFont typeface="Arial"/>
              <a:buChar char="￭"/>
            </a:pPr>
            <a:r>
              <a:rPr lang="en-US" sz="2200">
                <a:solidFill>
                  <a:srgbClr val="FFFFFF"/>
                </a:solidFill>
                <a:latin typeface="Canva Sans"/>
                <a:ea typeface="Canva Sans"/>
                <a:cs typeface="Canva Sans"/>
                <a:sym typeface="Canva Sans"/>
              </a:rPr>
              <a:t>Thi nhiều ca/ngày</a:t>
            </a:r>
          </a:p>
          <a:p>
            <a:pPr marL="1424953" lvl="3" indent="-356238" algn="l">
              <a:lnSpc>
                <a:spcPts val="4026"/>
              </a:lnSpc>
              <a:buFont typeface="Arial"/>
              <a:buChar char="￭"/>
            </a:pPr>
            <a:r>
              <a:rPr lang="en-US" sz="2200">
                <a:solidFill>
                  <a:srgbClr val="FFFFFF"/>
                </a:solidFill>
                <a:latin typeface="Canva Sans"/>
                <a:ea typeface="Canva Sans"/>
                <a:cs typeface="Canva Sans"/>
                <a:sym typeface="Canva Sans"/>
              </a:rPr>
              <a:t>Thi nhiều ngày liên tục</a:t>
            </a:r>
          </a:p>
          <a:p>
            <a:pPr marL="474984" lvl="1" indent="-237492" algn="l">
              <a:lnSpc>
                <a:spcPts val="4026"/>
              </a:lnSpc>
              <a:buAutoNum type="arabicPeriod"/>
            </a:pPr>
            <a:r>
              <a:rPr lang="en-US" sz="2200">
                <a:solidFill>
                  <a:srgbClr val="FFFFFF"/>
                </a:solidFill>
                <a:latin typeface="Canva Sans"/>
                <a:ea typeface="Canva Sans"/>
                <a:cs typeface="Canva Sans"/>
                <a:sym typeface="Canva Sans"/>
              </a:rPr>
              <a:t>Chọn slot thỏa ràng buộc cứng và có penalty nhỏ nhất.</a:t>
            </a:r>
          </a:p>
          <a:p>
            <a:pPr marL="474984" lvl="1" indent="-237492" algn="l">
              <a:lnSpc>
                <a:spcPts val="4026"/>
              </a:lnSpc>
              <a:buFont typeface="Arial"/>
              <a:buChar char="•"/>
            </a:pPr>
            <a:r>
              <a:rPr lang="en-US" sz="2200">
                <a:solidFill>
                  <a:srgbClr val="FFFFFF"/>
                </a:solidFill>
                <a:latin typeface="Canva Sans"/>
                <a:ea typeface="Canva Sans"/>
                <a:cs typeface="Canva Sans"/>
                <a:sym typeface="Canva Sans"/>
              </a:rPr>
              <a:t>Gán v → slot tối ưu.</a:t>
            </a:r>
          </a:p>
          <a:p>
            <a:pPr algn="l">
              <a:lnSpc>
                <a:spcPts val="4026"/>
              </a:lnSpc>
            </a:pPr>
            <a:endParaRPr lang="en-US" sz="2200">
              <a:solidFill>
                <a:srgbClr val="FFFFFF"/>
              </a:solidFill>
              <a:latin typeface="Canva Sans"/>
              <a:ea typeface="Canva Sans"/>
              <a:cs typeface="Canva Sans"/>
              <a:sym typeface="Canva Sans"/>
            </a:endParaRPr>
          </a:p>
        </p:txBody>
      </p:sp>
      <p:sp>
        <p:nvSpPr>
          <p:cNvPr id="16" name="TextBox 16"/>
          <p:cNvSpPr txBox="1"/>
          <p:nvPr/>
        </p:nvSpPr>
        <p:spPr>
          <a:xfrm>
            <a:off x="13204788" y="2381426"/>
            <a:ext cx="4392022" cy="1885950"/>
          </a:xfrm>
          <a:prstGeom prst="rect">
            <a:avLst/>
          </a:prstGeom>
        </p:spPr>
        <p:txBody>
          <a:bodyPr lIns="0" tIns="0" rIns="0" bIns="0" rtlCol="0" anchor="t">
            <a:spAutoFit/>
          </a:bodyPr>
          <a:lstStyle/>
          <a:p>
            <a:pPr algn="l">
              <a:lnSpc>
                <a:spcPts val="3359"/>
              </a:lnSpc>
              <a:spcBef>
                <a:spcPct val="0"/>
              </a:spcBef>
            </a:pPr>
            <a:r>
              <a:rPr lang="en-US" sz="2399" b="1">
                <a:solidFill>
                  <a:srgbClr val="FFFFFF"/>
                </a:solidFill>
                <a:latin typeface="Canva Sans Bold"/>
                <a:ea typeface="Canva Sans Bold"/>
                <a:cs typeface="Canva Sans Bold"/>
                <a:sym typeface="Canva Sans Bold"/>
              </a:rPr>
              <a:t>Objective:</a:t>
            </a:r>
          </a:p>
          <a:p>
            <a:pPr marL="453388" lvl="1" indent="-226694" algn="l">
              <a:lnSpc>
                <a:spcPts val="2939"/>
              </a:lnSpc>
              <a:buFont typeface="Arial"/>
              <a:buChar char="•"/>
            </a:pPr>
            <a:r>
              <a:rPr lang="en-US" sz="2099">
                <a:solidFill>
                  <a:srgbClr val="FFFFFF"/>
                </a:solidFill>
                <a:latin typeface="Canva Sans"/>
                <a:ea typeface="Canva Sans"/>
                <a:cs typeface="Canva Sans"/>
                <a:sym typeface="Canva Sans"/>
              </a:rPr>
              <a:t>Minimize:</a:t>
            </a:r>
          </a:p>
          <a:p>
            <a:pPr marL="906777" lvl="2" indent="-302259" algn="l">
              <a:lnSpc>
                <a:spcPts val="2939"/>
              </a:lnSpc>
              <a:buFont typeface="Arial"/>
              <a:buChar char="⚬"/>
            </a:pPr>
            <a:r>
              <a:rPr lang="en-US" sz="2099">
                <a:solidFill>
                  <a:srgbClr val="FFFFFF"/>
                </a:solidFill>
                <a:latin typeface="Canva Sans"/>
                <a:ea typeface="Canva Sans"/>
                <a:cs typeface="Canva Sans"/>
                <a:sym typeface="Canva Sans"/>
              </a:rPr>
              <a:t>Conflict = 0</a:t>
            </a:r>
          </a:p>
          <a:p>
            <a:pPr marL="906777" lvl="2" indent="-302259" algn="l">
              <a:lnSpc>
                <a:spcPts val="2939"/>
              </a:lnSpc>
              <a:buFont typeface="Arial"/>
              <a:buChar char="⚬"/>
            </a:pPr>
            <a:r>
              <a:rPr lang="en-US" sz="2099">
                <a:solidFill>
                  <a:srgbClr val="FFFFFF"/>
                </a:solidFill>
                <a:latin typeface="Canva Sans"/>
                <a:ea typeface="Canva Sans"/>
                <a:cs typeface="Canva Sans"/>
                <a:sym typeface="Canva Sans"/>
              </a:rPr>
              <a:t>Tổng soft_penalty toàn hệ thống</a:t>
            </a:r>
          </a:p>
        </p:txBody>
      </p:sp>
      <p:sp>
        <p:nvSpPr>
          <p:cNvPr id="17" name="TextBox 17"/>
          <p:cNvSpPr txBox="1"/>
          <p:nvPr/>
        </p:nvSpPr>
        <p:spPr>
          <a:xfrm>
            <a:off x="392179" y="2488741"/>
            <a:ext cx="4303990" cy="1652270"/>
          </a:xfrm>
          <a:prstGeom prst="rect">
            <a:avLst/>
          </a:prstGeom>
        </p:spPr>
        <p:txBody>
          <a:bodyPr lIns="0" tIns="0" rIns="0" bIns="0" rtlCol="0" anchor="t">
            <a:spAutoFit/>
          </a:bodyPr>
          <a:lstStyle/>
          <a:p>
            <a:pPr algn="l">
              <a:lnSpc>
                <a:spcPts val="3639"/>
              </a:lnSpc>
              <a:spcBef>
                <a:spcPct val="0"/>
              </a:spcBef>
            </a:pPr>
            <a:r>
              <a:rPr lang="en-US" sz="2599" b="1">
                <a:solidFill>
                  <a:srgbClr val="FFFFFF"/>
                </a:solidFill>
                <a:latin typeface="Canva Sans Bold"/>
                <a:ea typeface="Canva Sans Bold"/>
                <a:cs typeface="Canva Sans Bold"/>
                <a:sym typeface="Canva Sans Bold"/>
              </a:rPr>
              <a:t>Input:</a:t>
            </a:r>
          </a:p>
          <a:p>
            <a:pPr marL="496567" lvl="1" indent="-248284" algn="l">
              <a:lnSpc>
                <a:spcPts val="3219"/>
              </a:lnSpc>
              <a:buFont typeface="Arial"/>
              <a:buChar char="•"/>
            </a:pPr>
            <a:r>
              <a:rPr lang="en-US" sz="2299">
                <a:solidFill>
                  <a:srgbClr val="FFFFFF"/>
                </a:solidFill>
                <a:latin typeface="Canva Sans"/>
                <a:ea typeface="Canva Sans"/>
                <a:cs typeface="Canva Sans"/>
                <a:sym typeface="Canva Sans"/>
              </a:rPr>
              <a:t>Đồ thị xung đột G = (V, E)</a:t>
            </a:r>
          </a:p>
          <a:p>
            <a:pPr marL="496567" lvl="1" indent="-248284" algn="l">
              <a:lnSpc>
                <a:spcPts val="3219"/>
              </a:lnSpc>
              <a:buFont typeface="Arial"/>
              <a:buChar char="•"/>
            </a:pPr>
            <a:r>
              <a:rPr lang="en-US" sz="2299">
                <a:solidFill>
                  <a:srgbClr val="FFFFFF"/>
                </a:solidFill>
                <a:latin typeface="Canva Sans"/>
                <a:ea typeface="Canva Sans"/>
                <a:cs typeface="Canva Sans"/>
                <a:sym typeface="Canva Sans"/>
              </a:rPr>
              <a:t>Tập slot thi T</a:t>
            </a:r>
          </a:p>
          <a:p>
            <a:pPr marL="496567" lvl="1" indent="-248284" algn="l">
              <a:lnSpc>
                <a:spcPts val="3219"/>
              </a:lnSpc>
              <a:buFont typeface="Arial"/>
              <a:buChar char="•"/>
            </a:pPr>
            <a:r>
              <a:rPr lang="en-US" sz="2299">
                <a:solidFill>
                  <a:srgbClr val="FFFFFF"/>
                </a:solidFill>
                <a:latin typeface="Canva Sans"/>
                <a:ea typeface="Canva Sans"/>
                <a:cs typeface="Canva Sans"/>
                <a:sym typeface="Canva Sans"/>
              </a:rPr>
              <a:t>Tập ràng buộc cứng &amp; mềm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14950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301477"/>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26873"/>
            <a:ext cx="17204631" cy="874006"/>
          </a:xfrm>
          <a:prstGeom prst="rect">
            <a:avLst/>
          </a:prstGeom>
        </p:spPr>
        <p:txBody>
          <a:bodyPr lIns="0" tIns="0" rIns="0" bIns="0" rtlCol="0" anchor="t">
            <a:spAutoFit/>
          </a:bodyPr>
          <a:lstStyle/>
          <a:p>
            <a:pPr algn="l">
              <a:lnSpc>
                <a:spcPts val="6951"/>
              </a:lnSpc>
            </a:pPr>
            <a:r>
              <a:rPr lang="en-US" sz="4965" spc="-49">
                <a:solidFill>
                  <a:srgbClr val="348BFF"/>
                </a:solidFill>
                <a:latin typeface="Times New Roman"/>
                <a:ea typeface="Times New Roman"/>
                <a:cs typeface="Times New Roman"/>
                <a:sym typeface="Times New Roman"/>
              </a:rPr>
              <a:t> THUẬT TOÁN GÁN CA THI - THUẬT TOÁN DSATUR</a:t>
            </a:r>
          </a:p>
        </p:txBody>
      </p:sp>
      <p:sp>
        <p:nvSpPr>
          <p:cNvPr id="15" name="TextBox 15"/>
          <p:cNvSpPr txBox="1"/>
          <p:nvPr/>
        </p:nvSpPr>
        <p:spPr>
          <a:xfrm>
            <a:off x="4959003" y="2339577"/>
            <a:ext cx="8070984" cy="6403275"/>
          </a:xfrm>
          <a:prstGeom prst="rect">
            <a:avLst/>
          </a:prstGeom>
        </p:spPr>
        <p:txBody>
          <a:bodyPr lIns="0" tIns="0" rIns="0" bIns="0" rtlCol="0" anchor="t">
            <a:spAutoFit/>
          </a:bodyPr>
          <a:lstStyle/>
          <a:p>
            <a:pPr algn="l">
              <a:lnSpc>
                <a:spcPts val="4758"/>
              </a:lnSpc>
            </a:pPr>
            <a:r>
              <a:rPr lang="en-US" sz="2600" b="1">
                <a:solidFill>
                  <a:srgbClr val="FFFFFF"/>
                </a:solidFill>
                <a:latin typeface="Canva Sans Bold"/>
                <a:ea typeface="Canva Sans Bold"/>
                <a:cs typeface="Canva Sans Bold"/>
                <a:sym typeface="Canva Sans Bold"/>
              </a:rPr>
              <a:t>Quy trình:</a:t>
            </a:r>
          </a:p>
          <a:p>
            <a:pPr algn="l">
              <a:lnSpc>
                <a:spcPts val="3843"/>
              </a:lnSpc>
            </a:pPr>
            <a:r>
              <a:rPr lang="en-US" sz="2100">
                <a:solidFill>
                  <a:srgbClr val="FFFFFF"/>
                </a:solidFill>
                <a:latin typeface="Canva Sans"/>
                <a:ea typeface="Canva Sans"/>
                <a:cs typeface="Canva Sans"/>
                <a:sym typeface="Canva Sans"/>
              </a:rPr>
              <a:t>1. Chọn môn cần xếp</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Chọn môn v chưa xếp có:</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Bậc bão hòa (saturation) lớn nhất</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Nếu hòa thì chọn môn có bậc xung đột (degree) lớn nhất</a:t>
            </a:r>
          </a:p>
          <a:p>
            <a:pPr algn="l">
              <a:lnSpc>
                <a:spcPts val="3843"/>
              </a:lnSpc>
            </a:pPr>
            <a:r>
              <a:rPr lang="en-US" sz="2100">
                <a:solidFill>
                  <a:srgbClr val="FFFFFF"/>
                </a:solidFill>
                <a:latin typeface="Canva Sans"/>
                <a:ea typeface="Canva Sans"/>
                <a:cs typeface="Canva Sans"/>
                <a:sym typeface="Canva Sans"/>
              </a:rPr>
              <a:t>2. Chọn slot tốt nhất cho môn v</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Với mỗi slot t ∈ T: Kiểm tra ràng buộc cứng </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Nếu hợp lệ, tính soft_penalty(v, t):</a:t>
            </a:r>
          </a:p>
          <a:p>
            <a:pPr algn="l">
              <a:lnSpc>
                <a:spcPts val="3843"/>
              </a:lnSpc>
            </a:pPr>
            <a:r>
              <a:rPr lang="en-US" sz="2100">
                <a:solidFill>
                  <a:srgbClr val="FFFFFF"/>
                </a:solidFill>
                <a:latin typeface="Canva Sans"/>
                <a:ea typeface="Canva Sans"/>
                <a:cs typeface="Canva Sans"/>
                <a:sym typeface="Canva Sans"/>
              </a:rPr>
              <a:t>Chọn slot thỏa ràng buộc cứng và có penalty nhỏ nhất</a:t>
            </a:r>
          </a:p>
          <a:p>
            <a:pPr algn="l">
              <a:lnSpc>
                <a:spcPts val="3843"/>
              </a:lnSpc>
            </a:pPr>
            <a:r>
              <a:rPr lang="en-US" sz="2100">
                <a:solidFill>
                  <a:srgbClr val="FFFFFF"/>
                </a:solidFill>
                <a:latin typeface="Canva Sans"/>
                <a:ea typeface="Canva Sans"/>
                <a:cs typeface="Canva Sans"/>
                <a:sym typeface="Canva Sans"/>
              </a:rPr>
              <a:t>3. Gán lịch và cập nhật</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Gán v → slot tối ưu</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Cập nhật bậc bão hòa cho các môn xung đột với v</a:t>
            </a:r>
          </a:p>
          <a:p>
            <a:pPr marL="453395" lvl="1" indent="-226697" algn="l">
              <a:lnSpc>
                <a:spcPts val="3843"/>
              </a:lnSpc>
              <a:buFont typeface="Arial"/>
              <a:buChar char="•"/>
            </a:pPr>
            <a:r>
              <a:rPr lang="en-US" sz="2100">
                <a:solidFill>
                  <a:srgbClr val="FFFFFF"/>
                </a:solidFill>
                <a:latin typeface="Canva Sans"/>
                <a:ea typeface="Canva Sans"/>
                <a:cs typeface="Canva Sans"/>
                <a:sym typeface="Canva Sans"/>
              </a:rPr>
              <a:t>Loại v khỏi tập môn chưa xếp</a:t>
            </a:r>
          </a:p>
        </p:txBody>
      </p:sp>
      <p:sp>
        <p:nvSpPr>
          <p:cNvPr id="16" name="TextBox 16"/>
          <p:cNvSpPr txBox="1"/>
          <p:nvPr/>
        </p:nvSpPr>
        <p:spPr>
          <a:xfrm>
            <a:off x="13029987" y="2507791"/>
            <a:ext cx="4392022" cy="1885950"/>
          </a:xfrm>
          <a:prstGeom prst="rect">
            <a:avLst/>
          </a:prstGeom>
        </p:spPr>
        <p:txBody>
          <a:bodyPr lIns="0" tIns="0" rIns="0" bIns="0" rtlCol="0" anchor="t">
            <a:spAutoFit/>
          </a:bodyPr>
          <a:lstStyle/>
          <a:p>
            <a:pPr algn="l">
              <a:lnSpc>
                <a:spcPts val="3359"/>
              </a:lnSpc>
              <a:spcBef>
                <a:spcPct val="0"/>
              </a:spcBef>
            </a:pPr>
            <a:r>
              <a:rPr lang="en-US" sz="2399" b="1">
                <a:solidFill>
                  <a:srgbClr val="FFFFFF"/>
                </a:solidFill>
                <a:latin typeface="Canva Sans Bold"/>
                <a:ea typeface="Canva Sans Bold"/>
                <a:cs typeface="Canva Sans Bold"/>
                <a:sym typeface="Canva Sans Bold"/>
              </a:rPr>
              <a:t>Objective:</a:t>
            </a:r>
          </a:p>
          <a:p>
            <a:pPr marL="453388" lvl="1" indent="-226694" algn="l">
              <a:lnSpc>
                <a:spcPts val="2939"/>
              </a:lnSpc>
              <a:buFont typeface="Arial"/>
              <a:buChar char="•"/>
            </a:pPr>
            <a:r>
              <a:rPr lang="en-US" sz="2099">
                <a:solidFill>
                  <a:srgbClr val="FFFFFF"/>
                </a:solidFill>
                <a:latin typeface="Canva Sans"/>
                <a:ea typeface="Canva Sans"/>
                <a:cs typeface="Canva Sans"/>
                <a:sym typeface="Canva Sans"/>
              </a:rPr>
              <a:t>Minimize:</a:t>
            </a:r>
          </a:p>
          <a:p>
            <a:pPr marL="906777" lvl="2" indent="-302259" algn="l">
              <a:lnSpc>
                <a:spcPts val="2939"/>
              </a:lnSpc>
              <a:buFont typeface="Arial"/>
              <a:buChar char="⚬"/>
            </a:pPr>
            <a:r>
              <a:rPr lang="en-US" sz="2099">
                <a:solidFill>
                  <a:srgbClr val="FFFFFF"/>
                </a:solidFill>
                <a:latin typeface="Canva Sans"/>
                <a:ea typeface="Canva Sans"/>
                <a:cs typeface="Canva Sans"/>
                <a:sym typeface="Canva Sans"/>
              </a:rPr>
              <a:t>Conflict = 0</a:t>
            </a:r>
          </a:p>
          <a:p>
            <a:pPr marL="906777" lvl="2" indent="-302259" algn="l">
              <a:lnSpc>
                <a:spcPts val="2939"/>
              </a:lnSpc>
              <a:buFont typeface="Arial"/>
              <a:buChar char="⚬"/>
            </a:pPr>
            <a:r>
              <a:rPr lang="en-US" sz="2099">
                <a:solidFill>
                  <a:srgbClr val="FFFFFF"/>
                </a:solidFill>
                <a:latin typeface="Canva Sans"/>
                <a:ea typeface="Canva Sans"/>
                <a:cs typeface="Canva Sans"/>
                <a:sym typeface="Canva Sans"/>
              </a:rPr>
              <a:t>Tổng soft_penalty toàn hệ thống nhỏ nhất</a:t>
            </a:r>
          </a:p>
        </p:txBody>
      </p:sp>
      <p:sp>
        <p:nvSpPr>
          <p:cNvPr id="17" name="TextBox 17"/>
          <p:cNvSpPr txBox="1"/>
          <p:nvPr/>
        </p:nvSpPr>
        <p:spPr>
          <a:xfrm>
            <a:off x="392179" y="2488741"/>
            <a:ext cx="4303514" cy="1652270"/>
          </a:xfrm>
          <a:prstGeom prst="rect">
            <a:avLst/>
          </a:prstGeom>
        </p:spPr>
        <p:txBody>
          <a:bodyPr lIns="0" tIns="0" rIns="0" bIns="0" rtlCol="0" anchor="t">
            <a:spAutoFit/>
          </a:bodyPr>
          <a:lstStyle/>
          <a:p>
            <a:pPr algn="l">
              <a:lnSpc>
                <a:spcPts val="3639"/>
              </a:lnSpc>
              <a:spcBef>
                <a:spcPct val="0"/>
              </a:spcBef>
            </a:pPr>
            <a:r>
              <a:rPr lang="en-US" sz="2599" b="1">
                <a:solidFill>
                  <a:srgbClr val="FFFFFF"/>
                </a:solidFill>
                <a:latin typeface="Canva Sans Bold"/>
                <a:ea typeface="Canva Sans Bold"/>
                <a:cs typeface="Canva Sans Bold"/>
                <a:sym typeface="Canva Sans Bold"/>
              </a:rPr>
              <a:t>Input:</a:t>
            </a:r>
          </a:p>
          <a:p>
            <a:pPr marL="496567" lvl="1" indent="-248284" algn="l">
              <a:lnSpc>
                <a:spcPts val="3219"/>
              </a:lnSpc>
              <a:buFont typeface="Arial"/>
              <a:buChar char="•"/>
            </a:pPr>
            <a:r>
              <a:rPr lang="en-US" sz="2299">
                <a:solidFill>
                  <a:srgbClr val="FFFFFF"/>
                </a:solidFill>
                <a:latin typeface="Canva Sans"/>
                <a:ea typeface="Canva Sans"/>
                <a:cs typeface="Canva Sans"/>
                <a:sym typeface="Canva Sans"/>
              </a:rPr>
              <a:t>Đồ thị xung đột G = (V, E)</a:t>
            </a:r>
          </a:p>
          <a:p>
            <a:pPr marL="496567" lvl="1" indent="-248284" algn="l">
              <a:lnSpc>
                <a:spcPts val="3219"/>
              </a:lnSpc>
              <a:buFont typeface="Arial"/>
              <a:buChar char="•"/>
            </a:pPr>
            <a:r>
              <a:rPr lang="en-US" sz="2299">
                <a:solidFill>
                  <a:srgbClr val="FFFFFF"/>
                </a:solidFill>
                <a:latin typeface="Canva Sans"/>
                <a:ea typeface="Canva Sans"/>
                <a:cs typeface="Canva Sans"/>
                <a:sym typeface="Canva Sans"/>
              </a:rPr>
              <a:t>Tập slot thi T</a:t>
            </a:r>
          </a:p>
          <a:p>
            <a:pPr marL="496567" lvl="1" indent="-248284" algn="l">
              <a:lnSpc>
                <a:spcPts val="3219"/>
              </a:lnSpc>
              <a:buFont typeface="Arial"/>
              <a:buChar char="•"/>
            </a:pPr>
            <a:r>
              <a:rPr lang="en-US" sz="2299">
                <a:solidFill>
                  <a:srgbClr val="FFFFFF"/>
                </a:solidFill>
                <a:latin typeface="Canva Sans"/>
                <a:ea typeface="Canva Sans"/>
                <a:cs typeface="Canva Sans"/>
                <a:sym typeface="Canva Sans"/>
              </a:rPr>
              <a:t>Tập ràng buộc cứng &amp; mềm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301477"/>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07823"/>
            <a:ext cx="14977660"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THUẬT TOÁN PHÂN BỔ PHÒNG THI</a:t>
            </a:r>
          </a:p>
        </p:txBody>
      </p:sp>
      <p:sp>
        <p:nvSpPr>
          <p:cNvPr id="15" name="TextBox 15"/>
          <p:cNvSpPr txBox="1"/>
          <p:nvPr/>
        </p:nvSpPr>
        <p:spPr>
          <a:xfrm>
            <a:off x="9427355" y="6369050"/>
            <a:ext cx="4392022" cy="1885950"/>
          </a:xfrm>
          <a:prstGeom prst="rect">
            <a:avLst/>
          </a:prstGeom>
        </p:spPr>
        <p:txBody>
          <a:bodyPr lIns="0" tIns="0" rIns="0" bIns="0" rtlCol="0" anchor="t">
            <a:spAutoFit/>
          </a:bodyPr>
          <a:lstStyle/>
          <a:p>
            <a:pPr algn="l">
              <a:lnSpc>
                <a:spcPts val="3359"/>
              </a:lnSpc>
              <a:spcBef>
                <a:spcPct val="0"/>
              </a:spcBef>
            </a:pPr>
            <a:r>
              <a:rPr lang="en-US" sz="2399" b="1">
                <a:solidFill>
                  <a:srgbClr val="FFFFFF"/>
                </a:solidFill>
                <a:latin typeface="Canva Sans Bold"/>
                <a:ea typeface="Canva Sans Bold"/>
                <a:cs typeface="Canva Sans Bold"/>
                <a:sym typeface="Canva Sans Bold"/>
              </a:rPr>
              <a:t>Objective:</a:t>
            </a:r>
          </a:p>
          <a:p>
            <a:pPr marL="453388" lvl="1" indent="-226694" algn="l">
              <a:lnSpc>
                <a:spcPts val="2939"/>
              </a:lnSpc>
              <a:buFont typeface="Arial"/>
              <a:buChar char="•"/>
            </a:pPr>
            <a:r>
              <a:rPr lang="en-US" sz="2099">
                <a:solidFill>
                  <a:srgbClr val="FFFFFF"/>
                </a:solidFill>
                <a:latin typeface="Canva Sans"/>
                <a:ea typeface="Canva Sans"/>
                <a:cs typeface="Canva Sans"/>
                <a:sym typeface="Canva Sans"/>
              </a:rPr>
              <a:t>Không vượt sức chứa</a:t>
            </a:r>
          </a:p>
          <a:p>
            <a:pPr marL="453388" lvl="1" indent="-226694" algn="l">
              <a:lnSpc>
                <a:spcPts val="2939"/>
              </a:lnSpc>
              <a:buFont typeface="Arial"/>
              <a:buChar char="•"/>
            </a:pPr>
            <a:r>
              <a:rPr lang="en-US" sz="2099">
                <a:solidFill>
                  <a:srgbClr val="FFFFFF"/>
                </a:solidFill>
                <a:latin typeface="Canva Sans"/>
                <a:ea typeface="Canva Sans"/>
                <a:cs typeface="Canva Sans"/>
                <a:sym typeface="Canva Sans"/>
              </a:rPr>
              <a:t>Giảm chênh lệch sĩ số</a:t>
            </a:r>
          </a:p>
          <a:p>
            <a:pPr marL="453388" lvl="1" indent="-226694" algn="l">
              <a:lnSpc>
                <a:spcPts val="2939"/>
              </a:lnSpc>
              <a:buFont typeface="Arial"/>
              <a:buChar char="•"/>
            </a:pPr>
            <a:r>
              <a:rPr lang="en-US" sz="2099">
                <a:solidFill>
                  <a:srgbClr val="FFFFFF"/>
                </a:solidFill>
                <a:latin typeface="Canva Sans"/>
                <a:ea typeface="Canva Sans"/>
                <a:cs typeface="Canva Sans"/>
                <a:sym typeface="Canva Sans"/>
              </a:rPr>
              <a:t>Tối ưu quản lý &amp; công bằng</a:t>
            </a:r>
          </a:p>
          <a:p>
            <a:pPr algn="l">
              <a:lnSpc>
                <a:spcPts val="2939"/>
              </a:lnSpc>
            </a:pPr>
            <a:endParaRPr lang="en-US" sz="2099">
              <a:solidFill>
                <a:srgbClr val="FFFFFF"/>
              </a:solidFill>
              <a:latin typeface="Canva Sans"/>
              <a:ea typeface="Canva Sans"/>
              <a:cs typeface="Canva Sans"/>
              <a:sym typeface="Canva Sans"/>
            </a:endParaRPr>
          </a:p>
        </p:txBody>
      </p:sp>
      <p:sp>
        <p:nvSpPr>
          <p:cNvPr id="16" name="TextBox 16"/>
          <p:cNvSpPr txBox="1"/>
          <p:nvPr/>
        </p:nvSpPr>
        <p:spPr>
          <a:xfrm>
            <a:off x="1028700" y="2427205"/>
            <a:ext cx="9578077" cy="7495541"/>
          </a:xfrm>
          <a:prstGeom prst="rect">
            <a:avLst/>
          </a:prstGeom>
        </p:spPr>
        <p:txBody>
          <a:bodyPr lIns="0" tIns="0" rIns="0" bIns="0" rtlCol="0" anchor="t">
            <a:spAutoFit/>
          </a:bodyPr>
          <a:lstStyle/>
          <a:p>
            <a:pPr algn="l">
              <a:lnSpc>
                <a:spcPts val="3919"/>
              </a:lnSpc>
            </a:pPr>
            <a:r>
              <a:rPr lang="en-US" sz="2799" b="1">
                <a:solidFill>
                  <a:srgbClr val="FFFFFF"/>
                </a:solidFill>
                <a:latin typeface="Canva Sans Bold"/>
                <a:ea typeface="Canva Sans Bold"/>
                <a:cs typeface="Canva Sans Bold"/>
                <a:sym typeface="Canva Sans Bold"/>
              </a:rPr>
              <a:t>Input:</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Danh sách môn đã được gán slot</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Sức chứa tối đa: 30 SV/phòng</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Danh sách phòng khả dụng</a:t>
            </a:r>
          </a:p>
          <a:p>
            <a:pPr algn="l">
              <a:lnSpc>
                <a:spcPts val="3499"/>
              </a:lnSpc>
            </a:pPr>
            <a:endParaRPr lang="en-US" sz="2499">
              <a:solidFill>
                <a:srgbClr val="FFFFFF"/>
              </a:solidFill>
              <a:latin typeface="Canva Sans"/>
              <a:ea typeface="Canva Sans"/>
              <a:cs typeface="Canva Sans"/>
              <a:sym typeface="Canva Sans"/>
            </a:endParaRPr>
          </a:p>
          <a:p>
            <a:pPr algn="l">
              <a:lnSpc>
                <a:spcPts val="3499"/>
              </a:lnSpc>
            </a:pPr>
            <a:r>
              <a:rPr lang="en-US" sz="2499" b="1">
                <a:solidFill>
                  <a:srgbClr val="FFFFFF"/>
                </a:solidFill>
                <a:latin typeface="Canva Sans Bold"/>
                <a:ea typeface="Canva Sans Bold"/>
                <a:cs typeface="Canva Sans Bold"/>
                <a:sym typeface="Canva Sans Bold"/>
              </a:rPr>
              <a:t>Quy trình:</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Với mỗi môn v:</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Tính số phòng cần:</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 ceil(|SV_v| / 30)</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Phân bổ sinh viên theo chiến lược:</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Chia đều (balanced distribution)</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Không sử dụng chiến lược fill-first</a:t>
            </a:r>
          </a:p>
          <a:p>
            <a:pPr algn="l">
              <a:lnSpc>
                <a:spcPts val="3499"/>
              </a:lnSpc>
            </a:pPr>
            <a:endParaRPr lang="en-US" sz="2499">
              <a:solidFill>
                <a:srgbClr val="FFFFFF"/>
              </a:solidFill>
              <a:latin typeface="Canva Sans"/>
              <a:ea typeface="Canva Sans"/>
              <a:cs typeface="Canva Sans"/>
              <a:sym typeface="Canva Sans"/>
            </a:endParaRPr>
          </a:p>
          <a:p>
            <a:pPr algn="l">
              <a:lnSpc>
                <a:spcPts val="3499"/>
              </a:lnSpc>
            </a:pPr>
            <a:r>
              <a:rPr lang="en-US" sz="2499" b="1">
                <a:solidFill>
                  <a:srgbClr val="FFFFFF"/>
                </a:solidFill>
                <a:latin typeface="Canva Sans Bold"/>
                <a:ea typeface="Canva Sans Bold"/>
                <a:cs typeface="Canva Sans Bold"/>
                <a:sym typeface="Canva Sans Bold"/>
              </a:rPr>
              <a:t>Ví dụ:</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73 SV → 3 phòng</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 Phân bổ: 25 – 24 – 24</a:t>
            </a:r>
          </a:p>
          <a:p>
            <a:pPr algn="l">
              <a:lnSpc>
                <a:spcPts val="3499"/>
              </a:lnSpc>
            </a:pPr>
            <a:endParaRPr lang="en-US" sz="2499">
              <a:solidFill>
                <a:srgbClr val="FFFFFF"/>
              </a:solidFill>
              <a:latin typeface="Canva Sans"/>
              <a:ea typeface="Canva Sans"/>
              <a:cs typeface="Canva Sans"/>
              <a:sym typeface="Canv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2407264" flipH="1">
            <a:off x="13760017" y="6817824"/>
            <a:ext cx="4768277" cy="4551537"/>
          </a:xfrm>
          <a:custGeom>
            <a:avLst/>
            <a:gdLst/>
            <a:ahLst/>
            <a:cxnLst/>
            <a:rect l="l" t="t" r="r" b="b"/>
            <a:pathLst>
              <a:path w="4768277" h="455153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3275">
            <a:off x="12646576" y="-298239"/>
            <a:ext cx="6995160" cy="5246370"/>
            <a:chOff x="0" y="0"/>
            <a:chExt cx="812800" cy="609600"/>
          </a:xfrm>
        </p:grpSpPr>
        <p:sp>
          <p:nvSpPr>
            <p:cNvPr id="8" name="Freeform 8"/>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5"/>
              <a:stretch>
                <a:fillRect r="-13324"/>
              </a:stretch>
            </a:blipFill>
          </p:spPr>
        </p:sp>
      </p:grpSp>
      <p:grpSp>
        <p:nvGrpSpPr>
          <p:cNvPr id="9" name="Group 9"/>
          <p:cNvGrpSpPr/>
          <p:nvPr/>
        </p:nvGrpSpPr>
        <p:grpSpPr>
          <a:xfrm rot="3275">
            <a:off x="9023612" y="5146831"/>
            <a:ext cx="6995160" cy="5246370"/>
            <a:chOff x="0" y="0"/>
            <a:chExt cx="812800" cy="609600"/>
          </a:xfrm>
        </p:grpSpPr>
        <p:sp>
          <p:nvSpPr>
            <p:cNvPr id="10" name="Freeform 1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blipFill>
              <a:blip r:embed="rId6"/>
              <a:stretch>
                <a:fillRect l="-6739" r="-5619"/>
              </a:stretch>
            </a:blipFill>
          </p:spPr>
        </p:sp>
      </p:grpSp>
      <p:sp>
        <p:nvSpPr>
          <p:cNvPr id="11" name="Freeform 11"/>
          <p:cNvSpPr/>
          <p:nvPr/>
        </p:nvSpPr>
        <p:spPr>
          <a:xfrm rot="-10792239" flipH="1">
            <a:off x="-724606" y="8954135"/>
            <a:ext cx="2702689" cy="2579840"/>
          </a:xfrm>
          <a:custGeom>
            <a:avLst/>
            <a:gdLst/>
            <a:ahLst/>
            <a:cxnLst/>
            <a:rect l="l" t="t" r="r" b="b"/>
            <a:pathLst>
              <a:path w="2702689" h="2579840">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626738" y="550533"/>
            <a:ext cx="2291645" cy="652047"/>
            <a:chOff x="0" y="0"/>
            <a:chExt cx="3055526" cy="869397"/>
          </a:xfrm>
        </p:grpSpPr>
        <p:grpSp>
          <p:nvGrpSpPr>
            <p:cNvPr id="13" name="Group 13"/>
            <p:cNvGrpSpPr/>
            <p:nvPr/>
          </p:nvGrpSpPr>
          <p:grpSpPr>
            <a:xfrm>
              <a:off x="0" y="0"/>
              <a:ext cx="747138" cy="869397"/>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5" name="TextBox 15"/>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6" name="TextBox 16"/>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7" name="TextBox 17"/>
          <p:cNvSpPr txBox="1"/>
          <p:nvPr/>
        </p:nvSpPr>
        <p:spPr>
          <a:xfrm>
            <a:off x="858155" y="3268078"/>
            <a:ext cx="8835957" cy="3195319"/>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 4.  Đánh giá và kết luận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ĐỘ PHỨC TẠP</a:t>
            </a:r>
          </a:p>
        </p:txBody>
      </p:sp>
      <p:sp>
        <p:nvSpPr>
          <p:cNvPr id="15" name="TextBox 15"/>
          <p:cNvSpPr txBox="1"/>
          <p:nvPr/>
        </p:nvSpPr>
        <p:spPr>
          <a:xfrm>
            <a:off x="863667" y="2505251"/>
            <a:ext cx="13417695" cy="8083550"/>
          </a:xfrm>
          <a:prstGeom prst="rect">
            <a:avLst/>
          </a:prstGeom>
        </p:spPr>
        <p:txBody>
          <a:bodyPr lIns="0" tIns="0" rIns="0" bIns="0" rtlCol="0" anchor="t">
            <a:spAutoFit/>
          </a:bodyPr>
          <a:lstStyle/>
          <a:p>
            <a:pPr algn="l">
              <a:lnSpc>
                <a:spcPts val="3848"/>
              </a:lnSpc>
            </a:pPr>
            <a:r>
              <a:rPr lang="en-US" sz="2600" b="1">
                <a:solidFill>
                  <a:srgbClr val="FDFEFD"/>
                </a:solidFill>
                <a:latin typeface="Canva Sans Bold"/>
                <a:ea typeface="Canva Sans Bold"/>
                <a:cs typeface="Canva Sans Bold"/>
                <a:sym typeface="Canva Sans Bold"/>
              </a:rPr>
              <a:t>Ký hiệu:</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N: số môn thi</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S: số sinh viên trung bình mỗi môn</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T: số slot thi</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C: số môn xung đột trung bình</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P: số phòng mỗi ca</a:t>
            </a:r>
          </a:p>
          <a:p>
            <a:pPr algn="l">
              <a:lnSpc>
                <a:spcPts val="3552"/>
              </a:lnSpc>
            </a:pPr>
            <a:endParaRPr lang="en-US" sz="2400">
              <a:solidFill>
                <a:srgbClr val="FDFEFD"/>
              </a:solidFill>
              <a:latin typeface="Canva Sans"/>
              <a:ea typeface="Canva Sans"/>
              <a:cs typeface="Canva Sans"/>
              <a:sym typeface="Canva Sans"/>
            </a:endParaRPr>
          </a:p>
          <a:p>
            <a:pPr algn="l">
              <a:lnSpc>
                <a:spcPts val="3552"/>
              </a:lnSpc>
            </a:pPr>
            <a:r>
              <a:rPr lang="en-US" sz="2400" b="1">
                <a:solidFill>
                  <a:srgbClr val="FDFEFD"/>
                </a:solidFill>
                <a:latin typeface="Canva Sans Bold"/>
                <a:ea typeface="Canva Sans Bold"/>
                <a:cs typeface="Canva Sans Bold"/>
                <a:sym typeface="Canva Sans Bold"/>
              </a:rPr>
              <a:t>Xử lý xung đột:</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 Độ phức tạp: O(N²·S)</a:t>
            </a:r>
          </a:p>
          <a:p>
            <a:pPr algn="l">
              <a:lnSpc>
                <a:spcPts val="3552"/>
              </a:lnSpc>
            </a:pPr>
            <a:r>
              <a:rPr lang="en-US" sz="2400">
                <a:solidFill>
                  <a:srgbClr val="FDFEFD"/>
                </a:solidFill>
                <a:latin typeface="Canva Sans"/>
                <a:ea typeface="Canva Sans"/>
                <a:cs typeface="Canva Sans"/>
                <a:sym typeface="Canva Sans"/>
              </a:rPr>
              <a:t>→ So sánh từng cặp môn và giao tập sinh viên.</a:t>
            </a:r>
          </a:p>
          <a:p>
            <a:pPr algn="l">
              <a:lnSpc>
                <a:spcPts val="3552"/>
              </a:lnSpc>
            </a:pPr>
            <a:r>
              <a:rPr lang="en-US" sz="2400" b="1">
                <a:solidFill>
                  <a:srgbClr val="FDFEFD"/>
                </a:solidFill>
                <a:latin typeface="Canva Sans Bold"/>
                <a:ea typeface="Canva Sans Bold"/>
                <a:cs typeface="Canva Sans Bold"/>
                <a:sym typeface="Canva Sans Bold"/>
              </a:rPr>
              <a:t>Xếp lịch (tham lam):</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 Độ phức tạp: O(N·T·S·C)</a:t>
            </a:r>
          </a:p>
          <a:p>
            <a:pPr algn="l">
              <a:lnSpc>
                <a:spcPts val="3552"/>
              </a:lnSpc>
            </a:pPr>
            <a:r>
              <a:rPr lang="en-US" sz="2400">
                <a:solidFill>
                  <a:srgbClr val="FDFEFD"/>
                </a:solidFill>
                <a:latin typeface="Canva Sans"/>
                <a:ea typeface="Canva Sans"/>
                <a:cs typeface="Canva Sans"/>
                <a:sym typeface="Canva Sans"/>
              </a:rPr>
              <a:t>→ Với mỗi môn, thử các slot và tính điểm phạt.</a:t>
            </a:r>
          </a:p>
          <a:p>
            <a:pPr algn="l">
              <a:lnSpc>
                <a:spcPts val="3552"/>
              </a:lnSpc>
            </a:pPr>
            <a:r>
              <a:rPr lang="en-US" sz="2400" b="1">
                <a:solidFill>
                  <a:srgbClr val="FDFEFD"/>
                </a:solidFill>
                <a:latin typeface="Canva Sans Bold"/>
                <a:ea typeface="Canva Sans Bold"/>
                <a:cs typeface="Canva Sans Bold"/>
                <a:sym typeface="Canva Sans Bold"/>
              </a:rPr>
              <a:t>Chia phòng:</a:t>
            </a:r>
          </a:p>
          <a:p>
            <a:pPr marL="518163" lvl="1" indent="-259082" algn="l">
              <a:lnSpc>
                <a:spcPts val="3552"/>
              </a:lnSpc>
              <a:buFont typeface="Arial"/>
              <a:buChar char="•"/>
            </a:pPr>
            <a:r>
              <a:rPr lang="en-US" sz="2400">
                <a:solidFill>
                  <a:srgbClr val="FDFEFD"/>
                </a:solidFill>
                <a:latin typeface="Canva Sans"/>
                <a:ea typeface="Canva Sans"/>
                <a:cs typeface="Canva Sans"/>
                <a:sym typeface="Canva Sans"/>
              </a:rPr>
              <a:t> Độ phức tạp: O(T·(P + Nslot))</a:t>
            </a:r>
          </a:p>
          <a:p>
            <a:pPr algn="l">
              <a:lnSpc>
                <a:spcPts val="3552"/>
              </a:lnSpc>
            </a:pPr>
            <a:r>
              <a:rPr lang="en-US" sz="2400">
                <a:solidFill>
                  <a:srgbClr val="FDFEFD"/>
                </a:solidFill>
                <a:latin typeface="Canva Sans"/>
                <a:ea typeface="Canva Sans"/>
                <a:cs typeface="Canva Sans"/>
                <a:sym typeface="Canva Sans"/>
              </a:rPr>
              <a:t>→ Mỗi ca duyệt phòng và các môn trong ca.</a:t>
            </a:r>
          </a:p>
          <a:p>
            <a:pPr algn="l">
              <a:lnSpc>
                <a:spcPts val="3552"/>
              </a:lnSpc>
            </a:pPr>
            <a:endParaRPr lang="en-US" sz="2400">
              <a:solidFill>
                <a:srgbClr val="FDFEFD"/>
              </a:solidFill>
              <a:latin typeface="Canva Sans"/>
              <a:ea typeface="Canva Sans"/>
              <a:cs typeface="Canva Sans"/>
              <a:sym typeface="Canva Sans"/>
            </a:endParaRPr>
          </a:p>
          <a:p>
            <a:pPr algn="l">
              <a:lnSpc>
                <a:spcPts val="3552"/>
              </a:lnSpc>
            </a:pPr>
            <a:endParaRPr lang="en-US" sz="2400">
              <a:solidFill>
                <a:srgbClr val="FDFEFD"/>
              </a:solidFill>
              <a:latin typeface="Canva Sans"/>
              <a:ea typeface="Canva Sans"/>
              <a:cs typeface="Canva Sans"/>
              <a:sym typeface="Canva Sans"/>
            </a:endParaRPr>
          </a:p>
        </p:txBody>
      </p:sp>
      <p:sp>
        <p:nvSpPr>
          <p:cNvPr id="16" name="TextBox 16"/>
          <p:cNvSpPr txBox="1"/>
          <p:nvPr/>
        </p:nvSpPr>
        <p:spPr>
          <a:xfrm>
            <a:off x="8587358" y="4760422"/>
            <a:ext cx="9376193" cy="941070"/>
          </a:xfrm>
          <a:prstGeom prst="rect">
            <a:avLst/>
          </a:prstGeom>
        </p:spPr>
        <p:txBody>
          <a:bodyPr lIns="0" tIns="0" rIns="0" bIns="0" rtlCol="0" anchor="t">
            <a:spAutoFit/>
          </a:bodyPr>
          <a:lstStyle/>
          <a:p>
            <a:pPr algn="ctr">
              <a:lnSpc>
                <a:spcPts val="3780"/>
              </a:lnSpc>
              <a:spcBef>
                <a:spcPct val="0"/>
              </a:spcBef>
            </a:pPr>
            <a:r>
              <a:rPr lang="en-US" sz="2700" i="1">
                <a:solidFill>
                  <a:srgbClr val="FFFFFF"/>
                </a:solidFill>
                <a:latin typeface="Canva Sans Italics"/>
                <a:ea typeface="Canva Sans Italics"/>
                <a:cs typeface="Canva Sans Italics"/>
                <a:sym typeface="Canva Sans Italics"/>
              </a:rPr>
              <a:t>→  Thuật toán có độ phức tạp đa thức, xử lý tốt dữ liệu lớn, chạy nhanh nhưng không đảm bảo tối ưu toàn cục.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626258" y="2657651"/>
            <a:ext cx="12516322" cy="2104079"/>
          </a:xfrm>
          <a:custGeom>
            <a:avLst/>
            <a:gdLst/>
            <a:ahLst/>
            <a:cxnLst/>
            <a:rect l="l" t="t" r="r" b="b"/>
            <a:pathLst>
              <a:path w="12516322" h="2104079">
                <a:moveTo>
                  <a:pt x="0" y="0"/>
                </a:moveTo>
                <a:lnTo>
                  <a:pt x="12516322" y="0"/>
                </a:lnTo>
                <a:lnTo>
                  <a:pt x="12516322" y="2104079"/>
                </a:lnTo>
                <a:lnTo>
                  <a:pt x="0" y="2104079"/>
                </a:lnTo>
                <a:lnTo>
                  <a:pt x="0" y="0"/>
                </a:lnTo>
                <a:close/>
              </a:path>
            </a:pathLst>
          </a:custGeom>
          <a:blipFill>
            <a:blip r:embed="rId6"/>
            <a:stretch>
              <a:fillRect/>
            </a:stretch>
          </a:blipFill>
        </p:spPr>
      </p:sp>
      <p:sp>
        <p:nvSpPr>
          <p:cNvPr id="15" name="Freeform 15"/>
          <p:cNvSpPr/>
          <p:nvPr/>
        </p:nvSpPr>
        <p:spPr>
          <a:xfrm>
            <a:off x="626738" y="5237980"/>
            <a:ext cx="9317417" cy="4111847"/>
          </a:xfrm>
          <a:custGeom>
            <a:avLst/>
            <a:gdLst/>
            <a:ahLst/>
            <a:cxnLst/>
            <a:rect l="l" t="t" r="r" b="b"/>
            <a:pathLst>
              <a:path w="9317417" h="4111847">
                <a:moveTo>
                  <a:pt x="0" y="0"/>
                </a:moveTo>
                <a:lnTo>
                  <a:pt x="9317417" y="0"/>
                </a:lnTo>
                <a:lnTo>
                  <a:pt x="9317417" y="4111847"/>
                </a:lnTo>
                <a:lnTo>
                  <a:pt x="0" y="4111847"/>
                </a:lnTo>
                <a:lnTo>
                  <a:pt x="0" y="0"/>
                </a:lnTo>
                <a:close/>
              </a:path>
            </a:pathLst>
          </a:custGeom>
          <a:blipFill>
            <a:blip r:embed="rId7"/>
            <a:stretch>
              <a:fillRect/>
            </a:stretch>
          </a:blipFill>
        </p:spPr>
      </p:sp>
      <p:sp>
        <p:nvSpPr>
          <p:cNvPr id="16" name="TextBox 16"/>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7" name="TextBox 17"/>
          <p:cNvSpPr txBox="1"/>
          <p:nvPr/>
        </p:nvSpPr>
        <p:spPr>
          <a:xfrm>
            <a:off x="10593936" y="5714230"/>
            <a:ext cx="6919549" cy="26479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  Đa số sinh viên chỉ phải thi 01 môn duy nhất trong ngày</a:t>
            </a:r>
          </a:p>
          <a:p>
            <a:pPr algn="just">
              <a:lnSpc>
                <a:spcPts val="4200"/>
              </a:lnSpc>
              <a:spcBef>
                <a:spcPct val="0"/>
              </a:spcBef>
            </a:pPr>
            <a:r>
              <a:rPr lang="en-US" sz="3000">
                <a:solidFill>
                  <a:srgbClr val="FFFFFF"/>
                </a:solidFill>
                <a:latin typeface="Canva Sans"/>
                <a:ea typeface="Canva Sans"/>
                <a:cs typeface="Canva Sans"/>
                <a:sym typeface="Canva Sans"/>
              </a:rPr>
              <a:t>→  Thuật toán đã loại bỏ hoàn toàn các trường hợp sinh viên phải thi từ 03 môn trở lên trong cùng một ngày.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531190" y="3512624"/>
            <a:ext cx="8132155" cy="6403905"/>
          </a:xfrm>
          <a:custGeom>
            <a:avLst/>
            <a:gdLst/>
            <a:ahLst/>
            <a:cxnLst/>
            <a:rect l="l" t="t" r="r" b="b"/>
            <a:pathLst>
              <a:path w="8132155" h="6403905">
                <a:moveTo>
                  <a:pt x="0" y="0"/>
                </a:moveTo>
                <a:lnTo>
                  <a:pt x="8132156" y="0"/>
                </a:lnTo>
                <a:lnTo>
                  <a:pt x="8132156" y="6403904"/>
                </a:lnTo>
                <a:lnTo>
                  <a:pt x="0" y="6403904"/>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6" name="TextBox 16"/>
          <p:cNvSpPr txBox="1"/>
          <p:nvPr/>
        </p:nvSpPr>
        <p:spPr>
          <a:xfrm>
            <a:off x="10130422" y="3761826"/>
            <a:ext cx="6919549" cy="58483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  Thuật toán DSATUR phân bổ số lớp HP theo ngày và theo ca đồng đều hơn</a:t>
            </a:r>
          </a:p>
          <a:p>
            <a:pPr algn="just">
              <a:lnSpc>
                <a:spcPts val="4200"/>
              </a:lnSpc>
              <a:spcBef>
                <a:spcPct val="0"/>
              </a:spcBef>
            </a:pPr>
            <a:r>
              <a:rPr lang="en-US" sz="3000">
                <a:solidFill>
                  <a:srgbClr val="FFFFFF"/>
                </a:solidFill>
                <a:latin typeface="Canva Sans"/>
                <a:ea typeface="Canva Sans"/>
                <a:cs typeface="Canva Sans"/>
                <a:sym typeface="Canva Sans"/>
              </a:rPr>
              <a:t>→ Thuật toán tham lam có xu hướng tạo ra các ngày “cao điểm” với rất nhiều lớp thi và một số ngày tải thấp, phân bố không đều.</a:t>
            </a:r>
          </a:p>
          <a:p>
            <a:pPr algn="just">
              <a:lnSpc>
                <a:spcPts val="4200"/>
              </a:lnSpc>
              <a:spcBef>
                <a:spcPct val="0"/>
              </a:spcBef>
            </a:pPr>
            <a:r>
              <a:rPr lang="en-US" sz="3000">
                <a:solidFill>
                  <a:srgbClr val="FFFFFF"/>
                </a:solidFill>
                <a:latin typeface="Canva Sans"/>
                <a:ea typeface="Canva Sans"/>
                <a:cs typeface="Canva Sans"/>
                <a:sym typeface="Canva Sans"/>
              </a:rPr>
              <a:t>→  Điều này cho thấy DSATUR giúp cân bằng tải tổ chức tốt hơn, còn tham lam dễ gây quá tải cục bộ theo ngày.</a:t>
            </a:r>
          </a:p>
        </p:txBody>
      </p:sp>
      <p:sp>
        <p:nvSpPr>
          <p:cNvPr id="17" name="TextBox 17"/>
          <p:cNvSpPr txBox="1"/>
          <p:nvPr/>
        </p:nvSpPr>
        <p:spPr>
          <a:xfrm>
            <a:off x="5827" y="2600501"/>
            <a:ext cx="8767739" cy="497841"/>
          </a:xfrm>
          <a:prstGeom prst="rect">
            <a:avLst/>
          </a:prstGeom>
        </p:spPr>
        <p:txBody>
          <a:bodyPr lIns="0" tIns="0" rIns="0" bIns="0" rtlCol="0" anchor="t">
            <a:spAutoFit/>
          </a:bodyPr>
          <a:lstStyle/>
          <a:p>
            <a:pPr algn="ctr">
              <a:lnSpc>
                <a:spcPts val="4059"/>
              </a:lnSpc>
              <a:spcBef>
                <a:spcPct val="0"/>
              </a:spcBef>
            </a:pPr>
            <a:r>
              <a:rPr lang="en-US" sz="2899">
                <a:solidFill>
                  <a:srgbClr val="FFFFFF"/>
                </a:solidFill>
                <a:latin typeface="Canva Sans"/>
                <a:ea typeface="Canva Sans"/>
                <a:cs typeface="Canva Sans"/>
                <a:sym typeface="Canva Sans"/>
              </a:rPr>
              <a:t>Tổng quy mô lớp HP theo ngày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533663" y="3326941"/>
            <a:ext cx="8431037" cy="6448079"/>
          </a:xfrm>
          <a:custGeom>
            <a:avLst/>
            <a:gdLst/>
            <a:ahLst/>
            <a:cxnLst/>
            <a:rect l="l" t="t" r="r" b="b"/>
            <a:pathLst>
              <a:path w="8431037" h="6448079">
                <a:moveTo>
                  <a:pt x="0" y="0"/>
                </a:moveTo>
                <a:lnTo>
                  <a:pt x="8431037" y="0"/>
                </a:lnTo>
                <a:lnTo>
                  <a:pt x="8431037" y="6448080"/>
                </a:lnTo>
                <a:lnTo>
                  <a:pt x="0" y="6448080"/>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6" name="TextBox 16"/>
          <p:cNvSpPr txBox="1"/>
          <p:nvPr/>
        </p:nvSpPr>
        <p:spPr>
          <a:xfrm>
            <a:off x="10339751" y="4658949"/>
            <a:ext cx="6919549" cy="31813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 DSATUR phân bổ số lượng sinh viên theo ngày tương đối đồng đều</a:t>
            </a:r>
          </a:p>
          <a:p>
            <a:pPr algn="just">
              <a:lnSpc>
                <a:spcPts val="4200"/>
              </a:lnSpc>
              <a:spcBef>
                <a:spcPct val="0"/>
              </a:spcBef>
            </a:pPr>
            <a:r>
              <a:rPr lang="en-US" sz="3000">
                <a:solidFill>
                  <a:srgbClr val="FFFFFF"/>
                </a:solidFill>
                <a:latin typeface="Canva Sans"/>
                <a:ea typeface="Canva Sans"/>
                <a:cs typeface="Canva Sans"/>
                <a:sym typeface="Canva Sans"/>
              </a:rPr>
              <a:t>→ Tham lam tạo ra sự chênh lệch rõ rệt giữa các ngày, có những ngày quy mô rất cao và những ngày lại khá thấp, cho thấy hiện tượng dồn tải</a:t>
            </a:r>
          </a:p>
        </p:txBody>
      </p:sp>
      <p:sp>
        <p:nvSpPr>
          <p:cNvPr id="17" name="TextBox 17"/>
          <p:cNvSpPr txBox="1"/>
          <p:nvPr/>
        </p:nvSpPr>
        <p:spPr>
          <a:xfrm>
            <a:off x="5827" y="2600501"/>
            <a:ext cx="8767739" cy="497841"/>
          </a:xfrm>
          <a:prstGeom prst="rect">
            <a:avLst/>
          </a:prstGeom>
        </p:spPr>
        <p:txBody>
          <a:bodyPr lIns="0" tIns="0" rIns="0" bIns="0" rtlCol="0" anchor="t">
            <a:spAutoFit/>
          </a:bodyPr>
          <a:lstStyle/>
          <a:p>
            <a:pPr algn="ctr">
              <a:lnSpc>
                <a:spcPts val="4059"/>
              </a:lnSpc>
              <a:spcBef>
                <a:spcPct val="0"/>
              </a:spcBef>
            </a:pPr>
            <a:r>
              <a:rPr lang="en-US" sz="2899">
                <a:solidFill>
                  <a:srgbClr val="FFFFFF"/>
                </a:solidFill>
                <a:latin typeface="Canva Sans"/>
                <a:ea typeface="Canva Sans"/>
                <a:cs typeface="Canva Sans"/>
                <a:sym typeface="Canva Sans"/>
              </a:rPr>
              <a:t>Tổng quy mô sinh viên theo ngày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392179" y="3250741"/>
            <a:ext cx="8232295" cy="6419073"/>
          </a:xfrm>
          <a:custGeom>
            <a:avLst/>
            <a:gdLst/>
            <a:ahLst/>
            <a:cxnLst/>
            <a:rect l="l" t="t" r="r" b="b"/>
            <a:pathLst>
              <a:path w="8232295" h="6419073">
                <a:moveTo>
                  <a:pt x="0" y="0"/>
                </a:moveTo>
                <a:lnTo>
                  <a:pt x="8232296" y="0"/>
                </a:lnTo>
                <a:lnTo>
                  <a:pt x="8232296" y="6419073"/>
                </a:lnTo>
                <a:lnTo>
                  <a:pt x="0" y="6419073"/>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6" name="TextBox 16"/>
          <p:cNvSpPr txBox="1"/>
          <p:nvPr/>
        </p:nvSpPr>
        <p:spPr>
          <a:xfrm>
            <a:off x="10339751" y="4658949"/>
            <a:ext cx="6919549" cy="31813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 DSATUR phân bổ phòng giữa các ca khá cân bằng hơn theo từng ngày, các ca 08:30–13:00–15:30 không bị dồn lệch quá mạnh</a:t>
            </a:r>
          </a:p>
          <a:p>
            <a:pPr algn="just">
              <a:lnSpc>
                <a:spcPts val="4200"/>
              </a:lnSpc>
              <a:spcBef>
                <a:spcPct val="0"/>
              </a:spcBef>
            </a:pPr>
            <a:r>
              <a:rPr lang="en-US" sz="3000">
                <a:solidFill>
                  <a:srgbClr val="FFFFFF"/>
                </a:solidFill>
                <a:latin typeface="Canva Sans"/>
                <a:ea typeface="Canva Sans"/>
                <a:cs typeface="Canva Sans"/>
                <a:sym typeface="Canva Sans"/>
              </a:rPr>
              <a:t>→ Còn thuật toán tham lam có xu hướng dồn nhiều phòng vào ca 08:30</a:t>
            </a:r>
          </a:p>
        </p:txBody>
      </p:sp>
      <p:sp>
        <p:nvSpPr>
          <p:cNvPr id="17" name="TextBox 17"/>
          <p:cNvSpPr txBox="1"/>
          <p:nvPr/>
        </p:nvSpPr>
        <p:spPr>
          <a:xfrm>
            <a:off x="5827" y="2600501"/>
            <a:ext cx="8767739" cy="497841"/>
          </a:xfrm>
          <a:prstGeom prst="rect">
            <a:avLst/>
          </a:prstGeom>
        </p:spPr>
        <p:txBody>
          <a:bodyPr lIns="0" tIns="0" rIns="0" bIns="0" rtlCol="0" anchor="t">
            <a:spAutoFit/>
          </a:bodyPr>
          <a:lstStyle/>
          <a:p>
            <a:pPr algn="ctr">
              <a:lnSpc>
                <a:spcPts val="4059"/>
              </a:lnSpc>
              <a:spcBef>
                <a:spcPct val="0"/>
              </a:spcBef>
            </a:pPr>
            <a:r>
              <a:rPr lang="en-US" sz="2899">
                <a:solidFill>
                  <a:srgbClr val="FFFFFF"/>
                </a:solidFill>
                <a:latin typeface="Canva Sans"/>
                <a:ea typeface="Canva Sans"/>
                <a:cs typeface="Canva Sans"/>
                <a:sym typeface="Canva Sans"/>
              </a:rPr>
              <a:t>Thống kê phòng thi theo ca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523816" y="3326941"/>
            <a:ext cx="8467858" cy="6539141"/>
          </a:xfrm>
          <a:custGeom>
            <a:avLst/>
            <a:gdLst/>
            <a:ahLst/>
            <a:cxnLst/>
            <a:rect l="l" t="t" r="r" b="b"/>
            <a:pathLst>
              <a:path w="8467858" h="6539141">
                <a:moveTo>
                  <a:pt x="0" y="0"/>
                </a:moveTo>
                <a:lnTo>
                  <a:pt x="8467858" y="0"/>
                </a:lnTo>
                <a:lnTo>
                  <a:pt x="8467858" y="6539142"/>
                </a:lnTo>
                <a:lnTo>
                  <a:pt x="0" y="6539142"/>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6" name="TextBox 16"/>
          <p:cNvSpPr txBox="1"/>
          <p:nvPr/>
        </p:nvSpPr>
        <p:spPr>
          <a:xfrm>
            <a:off x="9689749" y="3269791"/>
            <a:ext cx="6919549" cy="21145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 Dựa trên số liệu từ hai biểu đồ thuật toán tham lam cho kết quả tốt hơn DSATUR về mặt giảm áp lực thi liên tiếp cho sinh viên.</a:t>
            </a:r>
          </a:p>
        </p:txBody>
      </p:sp>
      <p:sp>
        <p:nvSpPr>
          <p:cNvPr id="17" name="TextBox 17"/>
          <p:cNvSpPr txBox="1"/>
          <p:nvPr/>
        </p:nvSpPr>
        <p:spPr>
          <a:xfrm>
            <a:off x="5827" y="2600501"/>
            <a:ext cx="8767739" cy="497841"/>
          </a:xfrm>
          <a:prstGeom prst="rect">
            <a:avLst/>
          </a:prstGeom>
        </p:spPr>
        <p:txBody>
          <a:bodyPr lIns="0" tIns="0" rIns="0" bIns="0" rtlCol="0" anchor="t">
            <a:spAutoFit/>
          </a:bodyPr>
          <a:lstStyle/>
          <a:p>
            <a:pPr algn="ctr">
              <a:lnSpc>
                <a:spcPts val="4059"/>
              </a:lnSpc>
              <a:spcBef>
                <a:spcPct val="0"/>
              </a:spcBef>
            </a:pPr>
            <a:r>
              <a:rPr lang="en-US" sz="2899">
                <a:solidFill>
                  <a:srgbClr val="FFFFFF"/>
                </a:solidFill>
                <a:latin typeface="Canva Sans"/>
                <a:ea typeface="Canva Sans"/>
                <a:cs typeface="Canva Sans"/>
                <a:sym typeface="Canva Sans"/>
              </a:rPr>
              <a:t>Thời gian ôn tập sinh viên &lt;= 6 môn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Freeform 14"/>
          <p:cNvSpPr/>
          <p:nvPr/>
        </p:nvSpPr>
        <p:spPr>
          <a:xfrm>
            <a:off x="626738" y="3250741"/>
            <a:ext cx="8676886" cy="6700560"/>
          </a:xfrm>
          <a:custGeom>
            <a:avLst/>
            <a:gdLst/>
            <a:ahLst/>
            <a:cxnLst/>
            <a:rect l="l" t="t" r="r" b="b"/>
            <a:pathLst>
              <a:path w="8676886" h="6700560">
                <a:moveTo>
                  <a:pt x="0" y="0"/>
                </a:moveTo>
                <a:lnTo>
                  <a:pt x="8676886" y="0"/>
                </a:lnTo>
                <a:lnTo>
                  <a:pt x="8676886" y="6700560"/>
                </a:lnTo>
                <a:lnTo>
                  <a:pt x="0" y="6700560"/>
                </a:lnTo>
                <a:lnTo>
                  <a:pt x="0" y="0"/>
                </a:lnTo>
                <a:close/>
              </a:path>
            </a:pathLst>
          </a:custGeom>
          <a:blipFill>
            <a:blip r:embed="rId6"/>
            <a:stretch>
              <a:fillRect/>
            </a:stretch>
          </a:blipFill>
        </p:spPr>
      </p:sp>
      <p:sp>
        <p:nvSpPr>
          <p:cNvPr id="15" name="TextBox 15"/>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6" name="TextBox 16"/>
          <p:cNvSpPr txBox="1"/>
          <p:nvPr/>
        </p:nvSpPr>
        <p:spPr>
          <a:xfrm>
            <a:off x="10037263" y="3193591"/>
            <a:ext cx="6919549" cy="31813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 Tham lam loại bỏ được thi sát ca nhưng phân bố khoảng nghỉ kém đều hơn</a:t>
            </a:r>
          </a:p>
          <a:p>
            <a:pPr algn="just">
              <a:lnSpc>
                <a:spcPts val="4200"/>
              </a:lnSpc>
              <a:spcBef>
                <a:spcPct val="0"/>
              </a:spcBef>
            </a:pPr>
            <a:r>
              <a:rPr lang="en-US" sz="3000">
                <a:solidFill>
                  <a:srgbClr val="FFFFFF"/>
                </a:solidFill>
                <a:latin typeface="Canva Sans"/>
                <a:ea typeface="Canva Sans"/>
                <a:cs typeface="Canva Sans"/>
                <a:sym typeface="Canva Sans"/>
              </a:rPr>
              <a:t>→ Tham lam giãn lịch tốt hơn nhưng DSATUR vẫn chấp nhận một số ca thi liên tiếp</a:t>
            </a:r>
          </a:p>
        </p:txBody>
      </p:sp>
      <p:sp>
        <p:nvSpPr>
          <p:cNvPr id="17" name="TextBox 17"/>
          <p:cNvSpPr txBox="1"/>
          <p:nvPr/>
        </p:nvSpPr>
        <p:spPr>
          <a:xfrm>
            <a:off x="5827" y="2600501"/>
            <a:ext cx="8767739" cy="497841"/>
          </a:xfrm>
          <a:prstGeom prst="rect">
            <a:avLst/>
          </a:prstGeom>
        </p:spPr>
        <p:txBody>
          <a:bodyPr lIns="0" tIns="0" rIns="0" bIns="0" rtlCol="0" anchor="t">
            <a:spAutoFit/>
          </a:bodyPr>
          <a:lstStyle/>
          <a:p>
            <a:pPr algn="ctr">
              <a:lnSpc>
                <a:spcPts val="4059"/>
              </a:lnSpc>
              <a:spcBef>
                <a:spcPct val="0"/>
              </a:spcBef>
            </a:pPr>
            <a:r>
              <a:rPr lang="en-US" sz="2899">
                <a:solidFill>
                  <a:srgbClr val="FFFFFF"/>
                </a:solidFill>
                <a:latin typeface="Canva Sans"/>
                <a:ea typeface="Canva Sans"/>
                <a:cs typeface="Canva Sans"/>
                <a:sym typeface="Canva Sans"/>
              </a:rPr>
              <a:t>Thời gian ôn tập sinh viên &gt; 6 môn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QUẢ</a:t>
            </a:r>
          </a:p>
        </p:txBody>
      </p:sp>
      <p:sp>
        <p:nvSpPr>
          <p:cNvPr id="15" name="TextBox 15"/>
          <p:cNvSpPr txBox="1"/>
          <p:nvPr/>
        </p:nvSpPr>
        <p:spPr>
          <a:xfrm>
            <a:off x="392179" y="3250107"/>
            <a:ext cx="14320817" cy="47815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Canva Sans"/>
                <a:ea typeface="Canva Sans"/>
                <a:cs typeface="Canva Sans"/>
                <a:sym typeface="Canva Sans"/>
              </a:rPr>
              <a:t>→Thuật toán tham lam ưu tiên mạnh các ràng buộc mềm liên quan đến trải nghiệm sinh viên, đặc biệt là tránh việc thi hai ca liên tiếp, nên lịch thi tạo ra thân thiện hơn cho người học và đảm bảo có thời gian nghỉ giữa các môn; đổi lại, cách phân bố lịch của tham lam kém linh hoạt hơn và có xu hướng giãn lịch khá xa</a:t>
            </a:r>
          </a:p>
          <a:p>
            <a:pPr algn="just">
              <a:lnSpc>
                <a:spcPts val="4200"/>
              </a:lnSpc>
              <a:spcBef>
                <a:spcPct val="0"/>
              </a:spcBef>
            </a:pPr>
            <a:endParaRPr lang="en-US" sz="3000">
              <a:solidFill>
                <a:srgbClr val="FFFFFF"/>
              </a:solidFill>
              <a:latin typeface="Canva Sans"/>
              <a:ea typeface="Canva Sans"/>
              <a:cs typeface="Canva Sans"/>
              <a:sym typeface="Canva Sans"/>
            </a:endParaRPr>
          </a:p>
          <a:p>
            <a:pPr algn="just">
              <a:lnSpc>
                <a:spcPts val="4200"/>
              </a:lnSpc>
              <a:spcBef>
                <a:spcPct val="0"/>
              </a:spcBef>
            </a:pPr>
            <a:r>
              <a:rPr lang="en-US" sz="3000">
                <a:solidFill>
                  <a:srgbClr val="FFFFFF"/>
                </a:solidFill>
                <a:latin typeface="Canva Sans"/>
                <a:ea typeface="Canva Sans"/>
                <a:cs typeface="Canva Sans"/>
                <a:sym typeface="Canva Sans"/>
              </a:rPr>
              <a:t>→ DSATUR tập trung vào cấu trúc xung đột và tính đẹp của bài toán tô màu, nên lịch thi nhìn cân đối hơn về mặt phân bố ca và ngày, nhưng vẫn chấp nhận tồn tại một số trường hợp sinh viên bị thi sát ca.</a:t>
            </a:r>
          </a:p>
        </p:txBody>
      </p:sp>
      <p:sp>
        <p:nvSpPr>
          <p:cNvPr id="16" name="TextBox 16"/>
          <p:cNvSpPr txBox="1"/>
          <p:nvPr/>
        </p:nvSpPr>
        <p:spPr>
          <a:xfrm>
            <a:off x="-1883320" y="2590976"/>
            <a:ext cx="8767739" cy="563881"/>
          </a:xfrm>
          <a:prstGeom prst="rect">
            <a:avLst/>
          </a:prstGeom>
        </p:spPr>
        <p:txBody>
          <a:bodyPr lIns="0" tIns="0" rIns="0" bIns="0" rtlCol="0" anchor="t">
            <a:spAutoFit/>
          </a:bodyPr>
          <a:lstStyle/>
          <a:p>
            <a:pPr algn="ctr">
              <a:lnSpc>
                <a:spcPts val="4619"/>
              </a:lnSpc>
              <a:spcBef>
                <a:spcPct val="0"/>
              </a:spcBef>
            </a:pPr>
            <a:r>
              <a:rPr lang="en-US" sz="3299">
                <a:solidFill>
                  <a:srgbClr val="FFFFFF"/>
                </a:solidFill>
                <a:latin typeface="Canva Sans"/>
                <a:ea typeface="Canva Sans"/>
                <a:cs typeface="Canva Sans"/>
                <a:sym typeface="Canva Sans"/>
              </a:rPr>
              <a:t>Tổng kết thử nghiệm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KẾT LUẬN</a:t>
            </a:r>
          </a:p>
        </p:txBody>
      </p:sp>
      <p:sp>
        <p:nvSpPr>
          <p:cNvPr id="15" name="TextBox 15"/>
          <p:cNvSpPr txBox="1"/>
          <p:nvPr/>
        </p:nvSpPr>
        <p:spPr>
          <a:xfrm>
            <a:off x="621548" y="2509471"/>
            <a:ext cx="17044903" cy="6011925"/>
          </a:xfrm>
          <a:prstGeom prst="rect">
            <a:avLst/>
          </a:prstGeom>
        </p:spPr>
        <p:txBody>
          <a:bodyPr lIns="0" tIns="0" rIns="0" bIns="0" rtlCol="0" anchor="t">
            <a:spAutoFit/>
          </a:bodyPr>
          <a:lstStyle/>
          <a:p>
            <a:pPr marL="561342" lvl="1" indent="-280671" algn="just">
              <a:lnSpc>
                <a:spcPts val="6032"/>
              </a:lnSpc>
              <a:buFont typeface="Arial"/>
              <a:buChar char="•"/>
            </a:pPr>
            <a:r>
              <a:rPr lang="en-US" sz="2600">
                <a:solidFill>
                  <a:srgbClr val="FFFFFF"/>
                </a:solidFill>
                <a:latin typeface="Canva Sans"/>
                <a:ea typeface="Canva Sans"/>
                <a:cs typeface="Canva Sans"/>
                <a:sym typeface="Canva Sans"/>
              </a:rPr>
              <a:t>Mô hình hóa xếp lịch thi thành bài toán tô màu đồ thị (NP-khó).</a:t>
            </a:r>
          </a:p>
          <a:p>
            <a:pPr marL="561342" lvl="1" indent="-280671" algn="just">
              <a:lnSpc>
                <a:spcPts val="6032"/>
              </a:lnSpc>
              <a:buFont typeface="Arial"/>
              <a:buChar char="•"/>
            </a:pPr>
            <a:r>
              <a:rPr lang="en-US" sz="2600">
                <a:solidFill>
                  <a:srgbClr val="FFFFFF"/>
                </a:solidFill>
                <a:latin typeface="Canva Sans"/>
                <a:ea typeface="Canva Sans"/>
                <a:cs typeface="Canva Sans"/>
                <a:sym typeface="Canva Sans"/>
              </a:rPr>
              <a:t>Áp dụng Greedy + Degree và DSATUR có thể tìm lời giải heuristic hiệu quả.</a:t>
            </a:r>
          </a:p>
          <a:p>
            <a:pPr marL="561342" lvl="1" indent="-280671" algn="just">
              <a:lnSpc>
                <a:spcPts val="6032"/>
              </a:lnSpc>
              <a:buFont typeface="Arial"/>
              <a:buChar char="•"/>
            </a:pPr>
            <a:r>
              <a:rPr lang="en-US" sz="2600">
                <a:solidFill>
                  <a:srgbClr val="FFFFFF"/>
                </a:solidFill>
                <a:latin typeface="Canva Sans"/>
                <a:ea typeface="Canva Sans"/>
                <a:cs typeface="Canva Sans"/>
                <a:sym typeface="Canva Sans"/>
              </a:rPr>
              <a:t>Thuật toán có độ phức tạp đa thức → xử lý tốt dữ liệu lớn.</a:t>
            </a:r>
          </a:p>
          <a:p>
            <a:pPr marL="561342" lvl="1" indent="-280671" algn="just">
              <a:lnSpc>
                <a:spcPts val="6032"/>
              </a:lnSpc>
              <a:buFont typeface="Arial"/>
              <a:buChar char="•"/>
            </a:pPr>
            <a:r>
              <a:rPr lang="en-US" sz="2600">
                <a:solidFill>
                  <a:srgbClr val="FFFFFF"/>
                </a:solidFill>
                <a:latin typeface="Canva Sans"/>
                <a:ea typeface="Canva Sans"/>
                <a:cs typeface="Canva Sans"/>
                <a:sym typeface="Canva Sans"/>
              </a:rPr>
              <a:t>Hướng phát triển:</a:t>
            </a:r>
          </a:p>
          <a:p>
            <a:pPr marL="1122684" lvl="2" indent="-374228" algn="just">
              <a:lnSpc>
                <a:spcPts val="6032"/>
              </a:lnSpc>
              <a:buFont typeface="Arial"/>
              <a:buChar char="⚬"/>
            </a:pPr>
            <a:r>
              <a:rPr lang="en-US" sz="2600">
                <a:solidFill>
                  <a:srgbClr val="FFFFFF"/>
                </a:solidFill>
                <a:latin typeface="Canva Sans"/>
                <a:ea typeface="Canva Sans"/>
                <a:cs typeface="Canva Sans"/>
                <a:sym typeface="Canva Sans"/>
              </a:rPr>
              <a:t>Kết hợp Genetic Algorithm / Tabu Search để cải thiện tối ưu toàn cục.</a:t>
            </a:r>
          </a:p>
          <a:p>
            <a:pPr marL="1122684" lvl="2" indent="-374228" algn="just">
              <a:lnSpc>
                <a:spcPts val="6032"/>
              </a:lnSpc>
              <a:buFont typeface="Arial"/>
              <a:buChar char="⚬"/>
            </a:pPr>
            <a:r>
              <a:rPr lang="en-US" sz="2600">
                <a:solidFill>
                  <a:srgbClr val="FFFFFF"/>
                </a:solidFill>
                <a:latin typeface="Canva Sans"/>
                <a:ea typeface="Canva Sans"/>
                <a:cs typeface="Canva Sans"/>
                <a:sym typeface="Canva Sans"/>
              </a:rPr>
              <a:t>Mở rộng tối ưu đa mục tiêu (multi-objective).</a:t>
            </a:r>
          </a:p>
          <a:p>
            <a:pPr marL="1122684" lvl="2" indent="-374228" algn="just">
              <a:lnSpc>
                <a:spcPts val="6032"/>
              </a:lnSpc>
              <a:buFont typeface="Arial"/>
              <a:buChar char="⚬"/>
            </a:pPr>
            <a:r>
              <a:rPr lang="en-US" sz="2600">
                <a:solidFill>
                  <a:srgbClr val="FFFFFF"/>
                </a:solidFill>
                <a:latin typeface="Canva Sans"/>
                <a:ea typeface="Canva Sans"/>
                <a:cs typeface="Canva Sans"/>
                <a:sym typeface="Canva Sans"/>
              </a:rPr>
              <a:t>Tích hợp vào hệ thống quản lý đào tạo thực tế.</a:t>
            </a:r>
          </a:p>
          <a:p>
            <a:pPr algn="just">
              <a:lnSpc>
                <a:spcPts val="6032"/>
              </a:lnSpc>
            </a:pPr>
            <a:endParaRPr lang="en-US" sz="2600">
              <a:solidFill>
                <a:srgbClr val="FFFFFF"/>
              </a:solidFill>
              <a:latin typeface="Canva Sans"/>
              <a:ea typeface="Canva Sans"/>
              <a:cs typeface="Canva Sans"/>
              <a:sym typeface="Canv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8575" y="0"/>
            <a:ext cx="18288000" cy="10109527"/>
            <a:chOff x="0" y="0"/>
            <a:chExt cx="4816593" cy="2662592"/>
          </a:xfrm>
        </p:grpSpPr>
        <p:sp>
          <p:nvSpPr>
            <p:cNvPr id="4" name="Freeform 4"/>
            <p:cNvSpPr/>
            <p:nvPr/>
          </p:nvSpPr>
          <p:spPr>
            <a:xfrm>
              <a:off x="0" y="0"/>
              <a:ext cx="4816592" cy="2662592"/>
            </a:xfrm>
            <a:custGeom>
              <a:avLst/>
              <a:gdLst/>
              <a:ahLst/>
              <a:cxnLst/>
              <a:rect l="l" t="t" r="r" b="b"/>
              <a:pathLst>
                <a:path w="4816592" h="2662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816593" cy="2700692"/>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392179" y="2419526"/>
            <a:ext cx="6492240" cy="0"/>
          </a:xfrm>
          <a:prstGeom prst="line">
            <a:avLst/>
          </a:prstGeom>
          <a:ln w="19050" cap="flat">
            <a:solidFill>
              <a:srgbClr val="40597C"/>
            </a:solidFill>
            <a:prstDash val="solid"/>
            <a:headEnd type="none" w="sm" len="sm"/>
            <a:tailEnd type="none" w="sm" len="sm"/>
          </a:ln>
        </p:spPr>
      </p:sp>
      <p:sp>
        <p:nvSpPr>
          <p:cNvPr id="7" name="Freeform 7"/>
          <p:cNvSpPr/>
          <p:nvPr/>
        </p:nvSpPr>
        <p:spPr>
          <a:xfrm rot="-10792239" flipH="1" flipV="1">
            <a:off x="-724606" y="8954135"/>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792239" flipH="1" flipV="1">
            <a:off x="16612207" y="-936064"/>
            <a:ext cx="2702689" cy="2579840"/>
          </a:xfrm>
          <a:custGeom>
            <a:avLst/>
            <a:gdLst/>
            <a:ahLst/>
            <a:cxnLst/>
            <a:rect l="l" t="t" r="r" b="b"/>
            <a:pathLst>
              <a:path w="2702689" h="2579840">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626738" y="550533"/>
            <a:ext cx="2291645" cy="652047"/>
            <a:chOff x="0" y="0"/>
            <a:chExt cx="3055526" cy="869397"/>
          </a:xfrm>
        </p:grpSpPr>
        <p:grpSp>
          <p:nvGrpSpPr>
            <p:cNvPr id="10" name="Group 10"/>
            <p:cNvGrpSpPr/>
            <p:nvPr/>
          </p:nvGrpSpPr>
          <p:grpSpPr>
            <a:xfrm>
              <a:off x="0" y="0"/>
              <a:ext cx="747138" cy="869397"/>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id="12" name="TextBox 12"/>
              <p:cNvSpPr txBox="1"/>
              <p:nvPr/>
            </p:nvSpPr>
            <p:spPr>
              <a:xfrm>
                <a:off x="0" y="101600"/>
                <a:ext cx="698500" cy="571500"/>
              </a:xfrm>
              <a:prstGeom prst="rect">
                <a:avLst/>
              </a:prstGeom>
            </p:spPr>
            <p:txBody>
              <a:bodyPr lIns="27034" tIns="27034" rIns="27034" bIns="27034" rtlCol="0" anchor="ctr"/>
              <a:lstStyle/>
              <a:p>
                <a:pPr algn="ctr">
                  <a:lnSpc>
                    <a:spcPts val="2659"/>
                  </a:lnSpc>
                </a:pPr>
                <a:endParaRPr/>
              </a:p>
            </p:txBody>
          </p:sp>
        </p:grpSp>
        <p:sp>
          <p:nvSpPr>
            <p:cNvPr id="13" name="TextBox 13"/>
            <p:cNvSpPr txBox="1"/>
            <p:nvPr/>
          </p:nvSpPr>
          <p:spPr>
            <a:xfrm>
              <a:off x="954234" y="93383"/>
              <a:ext cx="2101293" cy="397532"/>
            </a:xfrm>
            <a:prstGeom prst="rect">
              <a:avLst/>
            </a:prstGeom>
          </p:spPr>
          <p:txBody>
            <a:bodyPr lIns="0" tIns="0" rIns="0" bIns="0" rtlCol="0" anchor="t">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id="14" name="TextBox 14"/>
          <p:cNvSpPr txBox="1"/>
          <p:nvPr/>
        </p:nvSpPr>
        <p:spPr>
          <a:xfrm>
            <a:off x="392179" y="1207823"/>
            <a:ext cx="12227102" cy="975606"/>
          </a:xfrm>
          <a:prstGeom prst="rect">
            <a:avLst/>
          </a:prstGeom>
        </p:spPr>
        <p:txBody>
          <a:bodyPr lIns="0" tIns="0" rIns="0" bIns="0" rtlCol="0" anchor="t">
            <a:spAutoFit/>
          </a:bodyPr>
          <a:lstStyle/>
          <a:p>
            <a:pPr algn="l">
              <a:lnSpc>
                <a:spcPts val="7651"/>
              </a:lnSpc>
            </a:pPr>
            <a:r>
              <a:rPr lang="en-US" sz="5465" spc="-54">
                <a:solidFill>
                  <a:srgbClr val="348BFF"/>
                </a:solidFill>
                <a:latin typeface="Times New Roman"/>
                <a:ea typeface="Times New Roman"/>
                <a:cs typeface="Times New Roman"/>
                <a:sym typeface="Times New Roman"/>
              </a:rPr>
              <a:t>TÀI LIỆU THAM KHẢO</a:t>
            </a:r>
          </a:p>
        </p:txBody>
      </p:sp>
      <p:sp>
        <p:nvSpPr>
          <p:cNvPr id="15" name="TextBox 15"/>
          <p:cNvSpPr txBox="1"/>
          <p:nvPr/>
        </p:nvSpPr>
        <p:spPr>
          <a:xfrm>
            <a:off x="626738" y="2929510"/>
            <a:ext cx="15982560" cy="2608706"/>
          </a:xfrm>
          <a:prstGeom prst="rect">
            <a:avLst/>
          </a:prstGeom>
        </p:spPr>
        <p:txBody>
          <a:bodyPr lIns="0" tIns="0" rIns="0" bIns="0" rtlCol="0" anchor="t">
            <a:spAutoFit/>
          </a:bodyPr>
          <a:lstStyle/>
          <a:p>
            <a:pPr marL="561342" lvl="1" indent="-280671" algn="just">
              <a:lnSpc>
                <a:spcPts val="5304"/>
              </a:lnSpc>
              <a:buAutoNum type="arabicPeriod"/>
            </a:pPr>
            <a:r>
              <a:rPr lang="en-US" sz="2600" i="1">
                <a:solidFill>
                  <a:srgbClr val="FFFFFF"/>
                </a:solidFill>
                <a:latin typeface="Canva Sans Italics"/>
                <a:ea typeface="Canva Sans Italics"/>
                <a:cs typeface="Canva Sans Italics"/>
                <a:sym typeface="Canva Sans Italics"/>
              </a:rPr>
              <a:t>University Exam Scheduling System Using Graph Coloring Algorithm and RFID Technology - Akhan Akbulut and Güray Yılmaz, Member, IACSIT</a:t>
            </a:r>
          </a:p>
          <a:p>
            <a:pPr marL="561342" lvl="1" indent="-280671" algn="just">
              <a:lnSpc>
                <a:spcPts val="5304"/>
              </a:lnSpc>
              <a:buAutoNum type="arabicPeriod"/>
            </a:pPr>
            <a:r>
              <a:rPr lang="en-US" sz="2600" i="1">
                <a:solidFill>
                  <a:srgbClr val="FFFFFF"/>
                </a:solidFill>
                <a:latin typeface="Canva Sans Italics"/>
                <a:ea typeface="Canva Sans Italics"/>
                <a:cs typeface="Canva Sans Italics"/>
                <a:sym typeface="Canva Sans Italics"/>
              </a:rPr>
              <a:t>New Graph Coloring Algorithms - Dr. Hussein Al-Omari and Khair Eddin Sabri</a:t>
            </a:r>
          </a:p>
          <a:p>
            <a:pPr algn="just">
              <a:lnSpc>
                <a:spcPts val="5304"/>
              </a:lnSpc>
            </a:pPr>
            <a:endParaRPr lang="en-US" sz="2600" i="1">
              <a:solidFill>
                <a:srgbClr val="FFFFFF"/>
              </a:solidFill>
              <a:latin typeface="Canva Sans Italics"/>
              <a:ea typeface="Canva Sans Italics"/>
              <a:cs typeface="Canva Sans Italics"/>
              <a:sym typeface="Canva Sans Itali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00000">
                <a:alpha val="69804"/>
              </a:srgbClr>
            </a:solidFill>
            <a:ln w="123825" cap="sq">
              <a:solidFill>
                <a:srgbClr val="000000">
                  <a:alpha val="69804"/>
                </a:srgbClr>
              </a:solidFill>
              <a:prstDash val="solid"/>
              <a:miter/>
            </a:ln>
          </p:spPr>
        </p:sp>
        <p:sp>
          <p:nvSpPr>
            <p:cNvPr id="5" name="TextBox 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8944306" y="5180427"/>
            <a:ext cx="399388" cy="8135684"/>
          </a:xfrm>
          <a:custGeom>
            <a:avLst/>
            <a:gdLst/>
            <a:ahLst/>
            <a:cxnLst/>
            <a:rect l="l" t="t" r="r" b="b"/>
            <a:pathLst>
              <a:path w="399388" h="8135684">
                <a:moveTo>
                  <a:pt x="0" y="0"/>
                </a:moveTo>
                <a:lnTo>
                  <a:pt x="399388" y="0"/>
                </a:lnTo>
                <a:lnTo>
                  <a:pt x="399388" y="8135683"/>
                </a:lnTo>
                <a:lnTo>
                  <a:pt x="0" y="8135683"/>
                </a:lnTo>
                <a:lnTo>
                  <a:pt x="0" y="0"/>
                </a:lnTo>
                <a:close/>
              </a:path>
            </a:pathLst>
          </a:custGeom>
          <a:blipFill>
            <a:blip r:embed="rId3">
              <a:alphaModFix amt="65999"/>
            </a:blip>
            <a:stretch>
              <a:fillRect/>
            </a:stretch>
          </a:blipFill>
        </p:spPr>
      </p:sp>
      <p:sp>
        <p:nvSpPr>
          <p:cNvPr id="7" name="Freeform 7"/>
          <p:cNvSpPr/>
          <p:nvPr/>
        </p:nvSpPr>
        <p:spPr>
          <a:xfrm rot="-10800000" flipH="1">
            <a:off x="-895973" y="-128681"/>
            <a:ext cx="3775893" cy="3604261"/>
          </a:xfrm>
          <a:custGeom>
            <a:avLst/>
            <a:gdLst/>
            <a:ahLst/>
            <a:cxnLst/>
            <a:rect l="l" t="t" r="r" b="b"/>
            <a:pathLst>
              <a:path w="3775893" h="3604261">
                <a:moveTo>
                  <a:pt x="3775893" y="0"/>
                </a:moveTo>
                <a:lnTo>
                  <a:pt x="0" y="0"/>
                </a:lnTo>
                <a:lnTo>
                  <a:pt x="0" y="3604262"/>
                </a:lnTo>
                <a:lnTo>
                  <a:pt x="3775893" y="3604262"/>
                </a:lnTo>
                <a:lnTo>
                  <a:pt x="3775893"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800000" flipH="1">
            <a:off x="15576737" y="7107131"/>
            <a:ext cx="3775893" cy="3604261"/>
          </a:xfrm>
          <a:custGeom>
            <a:avLst/>
            <a:gdLst/>
            <a:ahLst/>
            <a:cxnLst/>
            <a:rect l="l" t="t" r="r" b="b"/>
            <a:pathLst>
              <a:path w="3775893" h="3604261">
                <a:moveTo>
                  <a:pt x="3775893" y="0"/>
                </a:moveTo>
                <a:lnTo>
                  <a:pt x="0" y="0"/>
                </a:lnTo>
                <a:lnTo>
                  <a:pt x="0" y="3604261"/>
                </a:lnTo>
                <a:lnTo>
                  <a:pt x="3775893" y="3604261"/>
                </a:lnTo>
                <a:lnTo>
                  <a:pt x="3775893"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1756839" y="4198358"/>
            <a:ext cx="14774323" cy="1982991"/>
          </a:xfrm>
          <a:prstGeom prst="rect">
            <a:avLst/>
          </a:prstGeom>
        </p:spPr>
        <p:txBody>
          <a:bodyPr lIns="0" tIns="0" rIns="0" bIns="0" rtlCol="0" anchor="t">
            <a:spAutoFit/>
          </a:bodyPr>
          <a:lstStyle/>
          <a:p>
            <a:pPr algn="ctr">
              <a:lnSpc>
                <a:spcPts val="16295"/>
              </a:lnSpc>
            </a:pPr>
            <a:r>
              <a:rPr lang="en-US" sz="11639" spc="-116">
                <a:solidFill>
                  <a:srgbClr val="348BFF"/>
                </a:solidFill>
                <a:latin typeface="Mokoto"/>
                <a:ea typeface="Mokoto"/>
                <a:cs typeface="Mokoto"/>
                <a:sym typeface="Mokoto"/>
              </a:rPr>
              <a:t>THANK YOU</a:t>
            </a:r>
          </a:p>
        </p:txBody>
      </p:sp>
      <p:grpSp>
        <p:nvGrpSpPr>
          <p:cNvPr id="10" name="Group 10"/>
          <p:cNvGrpSpPr/>
          <p:nvPr/>
        </p:nvGrpSpPr>
        <p:grpSpPr>
          <a:xfrm>
            <a:off x="7514097" y="2037196"/>
            <a:ext cx="3259806" cy="927521"/>
            <a:chOff x="0" y="0"/>
            <a:chExt cx="4346408" cy="1236694"/>
          </a:xfrm>
        </p:grpSpPr>
        <p:grpSp>
          <p:nvGrpSpPr>
            <p:cNvPr id="11" name="Group 11"/>
            <p:cNvGrpSpPr/>
            <p:nvPr/>
          </p:nvGrpSpPr>
          <p:grpSpPr>
            <a:xfrm>
              <a:off x="0" y="0"/>
              <a:ext cx="1062784" cy="1236694"/>
              <a:chOff x="0" y="0"/>
              <a:chExt cx="698500" cy="812800"/>
            </a:xfrm>
          </p:grpSpPr>
          <p:sp>
            <p:nvSpPr>
              <p:cNvPr id="12" name="Freeform 1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ln w="142875" cap="sq">
                <a:solidFill>
                  <a:srgbClr val="348BFF"/>
                </a:solidFill>
                <a:prstDash val="solid"/>
                <a:miter/>
              </a:ln>
            </p:spPr>
          </p:sp>
          <p:sp>
            <p:nvSpPr>
              <p:cNvPr id="13" name="TextBox 13"/>
              <p:cNvSpPr txBox="1"/>
              <p:nvPr/>
            </p:nvSpPr>
            <p:spPr>
              <a:xfrm>
                <a:off x="0" y="101600"/>
                <a:ext cx="698500" cy="571500"/>
              </a:xfrm>
              <a:prstGeom prst="rect">
                <a:avLst/>
              </a:prstGeom>
            </p:spPr>
            <p:txBody>
              <a:bodyPr lIns="38456" tIns="38456" rIns="38456" bIns="38456" rtlCol="0" anchor="ctr"/>
              <a:lstStyle/>
              <a:p>
                <a:pPr algn="ctr">
                  <a:lnSpc>
                    <a:spcPts val="2659"/>
                  </a:lnSpc>
                </a:pPr>
                <a:endParaRPr/>
              </a:p>
            </p:txBody>
          </p:sp>
        </p:grpSp>
        <p:sp>
          <p:nvSpPr>
            <p:cNvPr id="14" name="TextBox 14"/>
            <p:cNvSpPr txBox="1"/>
            <p:nvPr/>
          </p:nvSpPr>
          <p:spPr>
            <a:xfrm>
              <a:off x="1357373" y="150408"/>
              <a:ext cx="2989035" cy="1086287"/>
            </a:xfrm>
            <a:prstGeom prst="rect">
              <a:avLst/>
            </a:prstGeom>
          </p:spPr>
          <p:txBody>
            <a:bodyPr lIns="0" tIns="0" rIns="0" bIns="0" rtlCol="0" anchor="t">
              <a:spAutoFit/>
            </a:bodyPr>
            <a:lstStyle/>
            <a:p>
              <a:pPr algn="l">
                <a:lnSpc>
                  <a:spcPts val="3179"/>
                </a:lnSpc>
              </a:pPr>
              <a:r>
                <a:rPr lang="en-US" sz="2649">
                  <a:solidFill>
                    <a:srgbClr val="FFFFFF"/>
                  </a:solidFill>
                  <a:latin typeface="Mokoto"/>
                  <a:ea typeface="Mokoto"/>
                  <a:cs typeface="Mokoto"/>
                  <a:sym typeface="Mokoto"/>
                </a:rPr>
                <a:t>Company</a:t>
              </a:r>
            </a:p>
            <a:p>
              <a:pPr algn="l">
                <a:lnSpc>
                  <a:spcPts val="3179"/>
                </a:lnSpc>
              </a:pPr>
              <a:r>
                <a:rPr lang="en-US" sz="2649">
                  <a:solidFill>
                    <a:srgbClr val="FFFFFF"/>
                  </a:solidFill>
                  <a:latin typeface="Mokoto"/>
                  <a:ea typeface="Mokoto"/>
                  <a:cs typeface="Mokoto"/>
                  <a:sym typeface="Mokoto"/>
                </a:rPr>
                <a:t>Logo</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2640</Words>
  <Application>Microsoft Office PowerPoint</Application>
  <PresentationFormat>Custom</PresentationFormat>
  <Paragraphs>392</Paragraphs>
  <Slides>33</Slides>
  <Notes>22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7" baseType="lpstr">
      <vt:lpstr>Arimo</vt:lpstr>
      <vt:lpstr>Arimo Bold</vt:lpstr>
      <vt:lpstr>Arial</vt:lpstr>
      <vt:lpstr>Calibri</vt:lpstr>
      <vt:lpstr>Canva Sans Italics</vt:lpstr>
      <vt:lpstr>Canva Sans Bold</vt:lpstr>
      <vt:lpstr>Times New Roman</vt:lpstr>
      <vt:lpstr>Canva Sans</vt:lpstr>
      <vt:lpstr>Roboto</vt:lpstr>
      <vt:lpstr>Roboto Bold</vt:lpstr>
      <vt:lpstr>Mokoto</vt:lpstr>
      <vt:lpstr>Roboto Italics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Đồ án cuối môn</dc:title>
  <cp:lastModifiedBy>Lâm Trần</cp:lastModifiedBy>
  <cp:revision>2</cp:revision>
  <dcterms:created xsi:type="dcterms:W3CDTF">2006-08-16T00:00:00Z</dcterms:created>
  <dcterms:modified xsi:type="dcterms:W3CDTF">2026-02-28T11:09:23Z</dcterms:modified>
  <dc:identifier>DAHCeRGglm8</dc:identifier>
</cp:coreProperties>
</file>