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738" r:id="rId2"/>
  </p:sldMasterIdLst>
  <p:notesMasterIdLst>
    <p:notesMasterId r:id="rId23"/>
  </p:notesMasterIdLst>
  <p:sldIdLst>
    <p:sldId id="25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1" r:id="rId17"/>
    <p:sldId id="282" r:id="rId18"/>
    <p:sldId id="283" r:id="rId19"/>
    <p:sldId id="284" r:id="rId20"/>
    <p:sldId id="285" r:id="rId21"/>
    <p:sldId id="286" r:id="rId22"/>
  </p:sldIdLst>
  <p:sldSz cx="9144000" cy="5143500" type="screen16x9"/>
  <p:notesSz cx="6858000" cy="9144000"/>
  <p:embeddedFontLst>
    <p:embeddedFont>
      <p:font typeface="Malgun Gothic" panose="020B0503020000020004" pitchFamily="34" charset="-127"/>
      <p:regular r:id="rId24"/>
      <p:bold r:id="rId25"/>
    </p:embeddedFont>
    <p:embeddedFont>
      <p:font typeface="Old Standard TT" panose="020B0604020202020204" charset="0"/>
      <p:regular r:id="rId26"/>
      <p:bold r:id="rId27"/>
      <p:italic r:id="rId28"/>
    </p:embeddedFont>
    <p:embeddedFont>
      <p:font typeface="Trebuchet MS" panose="020B0603020202020204" pitchFamily="34" charset="0"/>
      <p:regular r:id="rId29"/>
      <p:bold r:id="rId30"/>
      <p:italic r:id="rId31"/>
      <p:boldItalic r:id="rId32"/>
    </p:embeddedFont>
    <p:embeddedFont>
      <p:font typeface="Wingdings 3" panose="05040102010807070707" pitchFamily="18" charset="2"/>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4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370A1E-E82C-4BBB-9AFE-C815F493BB12}">
  <a:tblStyle styleId="{9C370A1E-E82C-4BBB-9AFE-C815F493BB1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7"/>
      </p:cViewPr>
      <p:guideLst>
        <p:guide orient="horz" pos="184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9" name="Google Shape;16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Ngoài ra còn Chisq có thể sử dụng trong kiểm định so sánh nhưng không được nhắc đến, tồn tại tương tự prop (chi bình phương cả) trong so sánh các tỉ lệ nhưng kém hiệu quả hơn fisher. Mà n to tính fisher phải mất nửa tiếng với ~~k obs.</a:t>
            </a:r>
            <a:endParaRPr/>
          </a:p>
        </p:txBody>
      </p:sp>
      <p:sp>
        <p:nvSpPr>
          <p:cNvPr id="249" name="Google Shape;2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c72140a10d_0_11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Phân tích H0, e.t.c. của đề bài =&gt; Có phù hợp không với kiểm định này không. </a:t>
            </a:r>
            <a:endParaRPr/>
          </a:p>
          <a:p>
            <a:pPr marL="0" lvl="0" indent="0" algn="l" rtl="0">
              <a:spcBef>
                <a:spcPts val="0"/>
              </a:spcBef>
              <a:spcAft>
                <a:spcPts val="0"/>
              </a:spcAft>
              <a:buNone/>
            </a:pPr>
            <a:r>
              <a:rPr lang="en-US"/>
              <a:t>Giả thiết test nào sẽ tốt</a:t>
            </a:r>
            <a:endParaRPr/>
          </a:p>
          <a:p>
            <a:pPr marL="0" lvl="0" indent="0" algn="l" rtl="0">
              <a:spcBef>
                <a:spcPts val="0"/>
              </a:spcBef>
              <a:spcAft>
                <a:spcPts val="0"/>
              </a:spcAft>
              <a:buNone/>
            </a:pPr>
            <a:endParaRPr/>
          </a:p>
        </p:txBody>
      </p:sp>
      <p:sp>
        <p:nvSpPr>
          <p:cNvPr id="283" name="Google Shape;283;gc72140a10d_0_1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c72140a10d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Lướt.</a:t>
            </a:r>
            <a:endParaRPr/>
          </a:p>
          <a:p>
            <a:pPr marL="0" lvl="0" indent="0" algn="l" rtl="0">
              <a:spcBef>
                <a:spcPts val="0"/>
              </a:spcBef>
              <a:spcAft>
                <a:spcPts val="0"/>
              </a:spcAft>
              <a:buNone/>
            </a:pPr>
            <a:r>
              <a:rPr lang="en-US"/>
              <a:t>Mọi người biết hết rồi.</a:t>
            </a:r>
            <a:endParaRPr/>
          </a:p>
          <a:p>
            <a:pPr marL="0" lvl="0" indent="0" algn="l" rtl="0">
              <a:spcBef>
                <a:spcPts val="0"/>
              </a:spcBef>
              <a:spcAft>
                <a:spcPts val="0"/>
              </a:spcAft>
              <a:buNone/>
            </a:pPr>
            <a:r>
              <a:rPr lang="en-US"/>
              <a:t>Note cái F là Wald dùng cho nhị phân với biến giả (model có nó gọi là LPM).</a:t>
            </a:r>
            <a:endParaRPr/>
          </a:p>
          <a:p>
            <a:pPr marL="0" lvl="0" indent="0" algn="l" rtl="0">
              <a:spcBef>
                <a:spcPts val="0"/>
              </a:spcBef>
              <a:spcAft>
                <a:spcPts val="0"/>
              </a:spcAft>
              <a:buNone/>
            </a:pPr>
            <a:r>
              <a:rPr lang="en-US"/>
              <a:t>Cái F là tương đương với % tất cả bằng 0 hay 1.</a:t>
            </a:r>
            <a:endParaRPr/>
          </a:p>
        </p:txBody>
      </p:sp>
      <p:sp>
        <p:nvSpPr>
          <p:cNvPr id="290" name="Google Shape;290;gc72140a1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c72140a10d_0_11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Nói cái nào tính cái nào. Kết luận rút ra. Có thể link đến file colab. Cái này cũng không có đồ thị gì mấy chán chết</a:t>
            </a:r>
            <a:endParaRPr/>
          </a:p>
        </p:txBody>
      </p:sp>
      <p:sp>
        <p:nvSpPr>
          <p:cNvPr id="300" name="Google Shape;300;gc72140a10d_0_1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72140a10d_0_11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Hiệu chỉnh liên tục, dựa trên lý thuyết của định lý giới hạn trung tâm. Tự dẫn link liên hệ từ tài liệu.</a:t>
            </a:r>
            <a:endParaRPr/>
          </a:p>
        </p:txBody>
      </p:sp>
      <p:sp>
        <p:nvSpPr>
          <p:cNvPr id="308" name="Google Shape;308;gc72140a10d_0_1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c72140a10d_0_11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Phân tích H0, H1 và cách tính các miền bác bỏ kèm kết luận so sánh việc hiệu chỉnh</a:t>
            </a:r>
            <a:endParaRPr/>
          </a:p>
        </p:txBody>
      </p:sp>
      <p:sp>
        <p:nvSpPr>
          <p:cNvPr id="315" name="Google Shape;315;gc72140a10d_0_1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c72140a10d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RCode. giải thích code và phân tích các câu lệnh, ý nghĩa so sánh như trang trk, k có gì lắm</a:t>
            </a:r>
            <a:endParaRPr/>
          </a:p>
        </p:txBody>
      </p:sp>
      <p:sp>
        <p:nvSpPr>
          <p:cNvPr id="324" name="Google Shape;324;gc72140a1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c72140a10d_0_12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Kết quả tìm khoảng tin cậy bằng lệnh test khi có/không có hiệu chỉnh. Giải thích và match với slide trước của chính xác. Lưu ý toàn bộ CI này đều coi p0 là giá trị trung bình của p để tính theo.</a:t>
            </a:r>
            <a:endParaRPr/>
          </a:p>
        </p:txBody>
      </p:sp>
      <p:sp>
        <p:nvSpPr>
          <p:cNvPr id="330" name="Google Shape;330;gc72140a10d_0_1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c72140a10d_0_11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Nhận xét kết quả các kiểu. Nchung là bh thì vẫn same same nhau nhưng khi tdoi mẫu thì nó sẽ chênh. Mà còn cần xét cả 1-beta nữa. error II .</a:t>
            </a:r>
            <a:endParaRPr/>
          </a:p>
          <a:p>
            <a:pPr marL="0" lvl="0" indent="0" algn="l" rtl="0">
              <a:spcBef>
                <a:spcPts val="0"/>
              </a:spcBef>
              <a:spcAft>
                <a:spcPts val="0"/>
              </a:spcAft>
              <a:buNone/>
            </a:pPr>
            <a:endParaRPr/>
          </a:p>
          <a:p>
            <a:pPr marL="0" lvl="0" indent="0" algn="l" rtl="0">
              <a:spcBef>
                <a:spcPts val="0"/>
              </a:spcBef>
              <a:spcAft>
                <a:spcPts val="0"/>
              </a:spcAft>
              <a:buNone/>
            </a:pPr>
            <a:r>
              <a:rPr lang="en-US"/>
              <a:t>Hết p0.</a:t>
            </a:r>
            <a:endParaRPr/>
          </a:p>
        </p:txBody>
      </p:sp>
      <p:sp>
        <p:nvSpPr>
          <p:cNvPr id="337" name="Google Shape;337;gc72140a10d_0_1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c72140a10d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c72140a10d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Từ đây là so sánh các tỷ lệ với nhau rồi.</a:t>
            </a:r>
            <a:endParaRPr/>
          </a:p>
        </p:txBody>
      </p:sp>
      <p:sp>
        <p:nvSpPr>
          <p:cNvPr id="345" name="Google Shape;345;gc72140a10d_0_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c72140a10d_0_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gc72140a10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c72140a10d_0_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Xác định p-value</a:t>
            </a:r>
            <a:endParaRPr/>
          </a:p>
        </p:txBody>
      </p:sp>
      <p:sp>
        <p:nvSpPr>
          <p:cNvPr id="365" name="Google Shape;365;gc72140a10d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c72140a10d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gc72140a10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c72140a10d_0_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gc72140a10d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c72140a10d_0_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Trường hợp n của mẫu lớn</a:t>
            </a:r>
            <a:endParaRPr/>
          </a:p>
        </p:txBody>
      </p:sp>
      <p:sp>
        <p:nvSpPr>
          <p:cNvPr id="400" name="Google Shape;400;gc72140a10d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c72140a10d_0_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rgbClr val="3F3F3F"/>
              </a:buClr>
              <a:buSzPts val="1400"/>
              <a:buFont typeface="Arial"/>
              <a:buNone/>
            </a:pPr>
            <a:r>
              <a:rPr lang="en-US" sz="1400">
                <a:solidFill>
                  <a:srgbClr val="3F3F3F"/>
                </a:solidFill>
                <a:latin typeface="Arial"/>
                <a:ea typeface="Arial"/>
                <a:cs typeface="Arial"/>
                <a:sym typeface="Arial"/>
              </a:rPr>
              <a:t>Xác định miền bác bỏ</a:t>
            </a:r>
            <a:endParaRPr/>
          </a:p>
        </p:txBody>
      </p:sp>
      <p:sp>
        <p:nvSpPr>
          <p:cNvPr id="412" name="Google Shape;412;gc72140a10d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c72140a10d_0_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gc72140a10d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c72140a10d_0_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gc72140a10d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c72140a10d_0_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gc72140a10d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sic Layout">
  <p:cSld name="Basic Layout">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5"/>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2" name="Google Shape;32;p5"/>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a:blip r:embed="rId2">
            <a:alphaModFix/>
          </a:blip>
          <a:stretch>
            <a:fillRect/>
          </a:stretch>
        </a:blipFill>
        <a:effectLst/>
      </p:bgPr>
    </p:bg>
    <p:spTree>
      <p:nvGrpSpPr>
        <p:cNvPr id="1" name="Shape 3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Basic Layout">
  <p:cSld name="1_Basic Layout">
    <p:bg>
      <p:bgPr>
        <a:blipFill>
          <a:blip r:embed="rId2">
            <a:alphaModFix/>
          </a:blip>
          <a:stretch>
            <a:fillRect/>
          </a:stretch>
        </a:blipFill>
        <a:effectLst/>
      </p:bgPr>
    </p:bg>
    <p:spTree>
      <p:nvGrpSpPr>
        <p:cNvPr id="1" name="Shape 34"/>
        <p:cNvGrpSpPr/>
        <p:nvPr/>
      </p:nvGrpSpPr>
      <p:grpSpPr>
        <a:xfrm>
          <a:off x="0" y="0"/>
          <a:ext cx="0" cy="0"/>
          <a:chOff x="0" y="0"/>
          <a:chExt cx="0" cy="0"/>
        </a:xfrm>
      </p:grpSpPr>
      <p:grpSp>
        <p:nvGrpSpPr>
          <p:cNvPr id="35" name="Google Shape;35;p7"/>
          <p:cNvGrpSpPr/>
          <p:nvPr/>
        </p:nvGrpSpPr>
        <p:grpSpPr>
          <a:xfrm>
            <a:off x="2843808" y="377122"/>
            <a:ext cx="3456384" cy="3465247"/>
            <a:chOff x="1115616" y="1275607"/>
            <a:chExt cx="2585656" cy="2592286"/>
          </a:xfrm>
        </p:grpSpPr>
        <p:pic>
          <p:nvPicPr>
            <p:cNvPr id="36" name="Google Shape;36;p7" descr="E:\002-KIMS BUSINESS\007-02-Googleslidesppt\02-GSppt-Contents-Kim\20170215\03-abs\item01-png.png"/>
            <p:cNvPicPr preferRelativeResize="0"/>
            <p:nvPr/>
          </p:nvPicPr>
          <p:blipFill rotWithShape="1">
            <a:blip r:embed="rId3">
              <a:alphaModFix/>
            </a:blip>
            <a:srcRect/>
            <a:stretch/>
          </p:blipFill>
          <p:spPr>
            <a:xfrm>
              <a:off x="1115616" y="1275607"/>
              <a:ext cx="2585656" cy="2592286"/>
            </a:xfrm>
            <a:prstGeom prst="rect">
              <a:avLst/>
            </a:prstGeom>
            <a:noFill/>
            <a:ln>
              <a:noFill/>
            </a:ln>
          </p:spPr>
        </p:pic>
        <p:sp>
          <p:nvSpPr>
            <p:cNvPr id="37" name="Google Shape;37;p7"/>
            <p:cNvSpPr/>
            <p:nvPr/>
          </p:nvSpPr>
          <p:spPr>
            <a:xfrm>
              <a:off x="1796376" y="1959682"/>
              <a:ext cx="1224136" cy="12241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38" name="Google Shape;38;p7"/>
          <p:cNvSpPr txBox="1">
            <a:spLocks noGrp="1"/>
          </p:cNvSpPr>
          <p:nvPr>
            <p:ph type="body" idx="1"/>
          </p:nvPr>
        </p:nvSpPr>
        <p:spPr>
          <a:xfrm>
            <a:off x="2829098" y="3829794"/>
            <a:ext cx="3456384" cy="57606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1"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9" name="Google Shape;39;p7"/>
          <p:cNvSpPr txBox="1">
            <a:spLocks noGrp="1"/>
          </p:cNvSpPr>
          <p:nvPr>
            <p:ph type="body" idx="2"/>
          </p:nvPr>
        </p:nvSpPr>
        <p:spPr>
          <a:xfrm>
            <a:off x="2828950" y="4443958"/>
            <a:ext cx="3456384"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Basic Layout">
  <p:cSld name="3_Basic Layout">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8"/>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2" name="Google Shape;42;p8"/>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Basic Layout">
  <p:cSld name="2_Basic Layout">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9"/>
          <p:cNvSpPr>
            <a:spLocks noGrp="1"/>
          </p:cNvSpPr>
          <p:nvPr>
            <p:ph type="pic" idx="2"/>
          </p:nvPr>
        </p:nvSpPr>
        <p:spPr>
          <a:xfrm>
            <a:off x="863568" y="1599822"/>
            <a:ext cx="1440000" cy="1440000"/>
          </a:xfrm>
          <a:prstGeom prst="ellipse">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45" name="Google Shape;45;p9"/>
          <p:cNvSpPr>
            <a:spLocks noGrp="1"/>
          </p:cNvSpPr>
          <p:nvPr>
            <p:ph type="pic" idx="3"/>
          </p:nvPr>
        </p:nvSpPr>
        <p:spPr>
          <a:xfrm>
            <a:off x="2842131" y="1597374"/>
            <a:ext cx="1440000" cy="1440000"/>
          </a:xfrm>
          <a:prstGeom prst="ellipse">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46" name="Google Shape;46;p9"/>
          <p:cNvSpPr>
            <a:spLocks noGrp="1"/>
          </p:cNvSpPr>
          <p:nvPr>
            <p:ph type="pic" idx="4"/>
          </p:nvPr>
        </p:nvSpPr>
        <p:spPr>
          <a:xfrm>
            <a:off x="4834733" y="1597374"/>
            <a:ext cx="1440000" cy="1440000"/>
          </a:xfrm>
          <a:prstGeom prst="ellipse">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47" name="Google Shape;47;p9"/>
          <p:cNvSpPr>
            <a:spLocks noGrp="1"/>
          </p:cNvSpPr>
          <p:nvPr>
            <p:ph type="pic" idx="5"/>
          </p:nvPr>
        </p:nvSpPr>
        <p:spPr>
          <a:xfrm>
            <a:off x="6827011" y="1599822"/>
            <a:ext cx="1440000" cy="1440000"/>
          </a:xfrm>
          <a:prstGeom prst="ellipse">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48" name="Google Shape;48;p9"/>
          <p:cNvSpPr/>
          <p:nvPr/>
        </p:nvSpPr>
        <p:spPr>
          <a:xfrm>
            <a:off x="683568" y="1419822"/>
            <a:ext cx="1800000" cy="1800000"/>
          </a:xfrm>
          <a:prstGeom prst="blockArc">
            <a:avLst>
              <a:gd name="adj1" fmla="val 10800000"/>
              <a:gd name="adj2" fmla="val 94979"/>
              <a:gd name="adj3" fmla="val 5402"/>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9" name="Google Shape;49;p9"/>
          <p:cNvSpPr/>
          <p:nvPr/>
        </p:nvSpPr>
        <p:spPr>
          <a:xfrm>
            <a:off x="2671382" y="1419822"/>
            <a:ext cx="1800000" cy="1800000"/>
          </a:xfrm>
          <a:prstGeom prst="blockArc">
            <a:avLst>
              <a:gd name="adj1" fmla="val 10800000"/>
              <a:gd name="adj2" fmla="val 94979"/>
              <a:gd name="adj3" fmla="val 5402"/>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0" name="Google Shape;50;p9"/>
          <p:cNvSpPr/>
          <p:nvPr/>
        </p:nvSpPr>
        <p:spPr>
          <a:xfrm>
            <a:off x="4659196" y="1419822"/>
            <a:ext cx="1800000" cy="1800000"/>
          </a:xfrm>
          <a:prstGeom prst="blockArc">
            <a:avLst>
              <a:gd name="adj1" fmla="val 10800000"/>
              <a:gd name="adj2" fmla="val 94979"/>
              <a:gd name="adj3" fmla="val 5402"/>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1" name="Google Shape;51;p9"/>
          <p:cNvSpPr/>
          <p:nvPr/>
        </p:nvSpPr>
        <p:spPr>
          <a:xfrm>
            <a:off x="6647011" y="1419822"/>
            <a:ext cx="1800000" cy="1800000"/>
          </a:xfrm>
          <a:prstGeom prst="blockArc">
            <a:avLst>
              <a:gd name="adj1" fmla="val 10800000"/>
              <a:gd name="adj2" fmla="val 94979"/>
              <a:gd name="adj3" fmla="val 5402"/>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2" name="Google Shape;52;p9"/>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3" name="Google Shape;53;p9"/>
          <p:cNvSpPr txBox="1">
            <a:spLocks noGrp="1"/>
          </p:cNvSpPr>
          <p:nvPr>
            <p:ph type="body" idx="6"/>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con sets layout">
  <p:cSld name="icon sets layout">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56" name="Google Shape;56;p10"/>
          <p:cNvGrpSpPr/>
          <p:nvPr/>
        </p:nvGrpSpPr>
        <p:grpSpPr>
          <a:xfrm>
            <a:off x="354008" y="1131589"/>
            <a:ext cx="2849840" cy="3649171"/>
            <a:chOff x="354008" y="1131589"/>
            <a:chExt cx="2849840" cy="3649171"/>
          </a:xfrm>
        </p:grpSpPr>
        <p:sp>
          <p:nvSpPr>
            <p:cNvPr id="57" name="Google Shape;57;p10"/>
            <p:cNvSpPr/>
            <p:nvPr/>
          </p:nvSpPr>
          <p:spPr>
            <a:xfrm>
              <a:off x="354008" y="1131589"/>
              <a:ext cx="2849840" cy="3649171"/>
            </a:xfrm>
            <a:prstGeom prst="roundRect">
              <a:avLst>
                <a:gd name="adj" fmla="val 396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8" name="Google Shape;58;p10"/>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9" name="Google Shape;59;p10"/>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4_Basic Layout">
  <p:cSld name="4_Basic Layout">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1"/>
          <p:cNvSpPr>
            <a:spLocks noGrp="1"/>
          </p:cNvSpPr>
          <p:nvPr>
            <p:ph type="pic" idx="2"/>
          </p:nvPr>
        </p:nvSpPr>
        <p:spPr>
          <a:xfrm>
            <a:off x="2771800" y="1404764"/>
            <a:ext cx="6372200" cy="3024336"/>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32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3" name="Google Shape;63;p11"/>
          <p:cNvSpPr txBox="1">
            <a:spLocks noGrp="1"/>
          </p:cNvSpPr>
          <p:nvPr>
            <p:ph type="body" idx="3"/>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Basic Layout">
  <p:cSld name="5_Basic Layout">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12"/>
          <p:cNvSpPr>
            <a:spLocks noGrp="1"/>
          </p:cNvSpPr>
          <p:nvPr>
            <p:ph type="pic" idx="2"/>
          </p:nvPr>
        </p:nvSpPr>
        <p:spPr>
          <a:xfrm>
            <a:off x="0" y="0"/>
            <a:ext cx="3059832" cy="2196000"/>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6" name="Google Shape;66;p12"/>
          <p:cNvSpPr>
            <a:spLocks noGrp="1"/>
          </p:cNvSpPr>
          <p:nvPr>
            <p:ph type="pic" idx="3"/>
          </p:nvPr>
        </p:nvSpPr>
        <p:spPr>
          <a:xfrm>
            <a:off x="6084000" y="2947500"/>
            <a:ext cx="3060000" cy="2196000"/>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_Basic Layout">
  <p:cSld name="6_Basic Layout">
    <p:bg>
      <p:bgPr>
        <a:blipFill>
          <a:blip r:embed="rId2">
            <a:alphaModFix/>
          </a:blip>
          <a:stretch>
            <a:fillRect/>
          </a:stretch>
        </a:blipFill>
        <a:effectLst/>
      </p:bgPr>
    </p:bg>
    <p:spTree>
      <p:nvGrpSpPr>
        <p:cNvPr id="1" name="Shape 67"/>
        <p:cNvGrpSpPr/>
        <p:nvPr/>
      </p:nvGrpSpPr>
      <p:grpSpPr>
        <a:xfrm>
          <a:off x="0" y="0"/>
          <a:ext cx="0" cy="0"/>
          <a:chOff x="0" y="0"/>
          <a:chExt cx="0" cy="0"/>
        </a:xfrm>
      </p:grpSpPr>
      <p:sp>
        <p:nvSpPr>
          <p:cNvPr id="68" name="Google Shape;68;p13"/>
          <p:cNvSpPr>
            <a:spLocks noGrp="1"/>
          </p:cNvSpPr>
          <p:nvPr>
            <p:ph type="pic" idx="2"/>
          </p:nvPr>
        </p:nvSpPr>
        <p:spPr>
          <a:xfrm>
            <a:off x="3528392" y="0"/>
            <a:ext cx="2123728" cy="3219822"/>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9" name="Google Shape;69;p13"/>
          <p:cNvSpPr>
            <a:spLocks noGrp="1"/>
          </p:cNvSpPr>
          <p:nvPr>
            <p:ph type="pic" idx="3"/>
          </p:nvPr>
        </p:nvSpPr>
        <p:spPr>
          <a:xfrm>
            <a:off x="7020272" y="1923678"/>
            <a:ext cx="2123728" cy="3219822"/>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7_Basic Layout">
  <p:cSld name="7_Basic Layout">
    <p:bg>
      <p:bgPr>
        <a:blipFill>
          <a:blip r:embed="rId2">
            <a:alphaModFix/>
          </a:blip>
          <a:stretch>
            <a:fillRect/>
          </a:stretch>
        </a:blipFill>
        <a:effectLst/>
      </p:bgPr>
    </p:bg>
    <p:spTree>
      <p:nvGrpSpPr>
        <p:cNvPr id="1" name="Shape 70"/>
        <p:cNvGrpSpPr/>
        <p:nvPr/>
      </p:nvGrpSpPr>
      <p:grpSpPr>
        <a:xfrm>
          <a:off x="0" y="0"/>
          <a:ext cx="0" cy="0"/>
          <a:chOff x="0" y="0"/>
          <a:chExt cx="0" cy="0"/>
        </a:xfrm>
      </p:grpSpPr>
      <p:sp>
        <p:nvSpPr>
          <p:cNvPr id="71" name="Google Shape;71;p14"/>
          <p:cNvSpPr>
            <a:spLocks noGrp="1"/>
          </p:cNvSpPr>
          <p:nvPr>
            <p:ph type="pic" idx="2"/>
          </p:nvPr>
        </p:nvSpPr>
        <p:spPr>
          <a:xfrm>
            <a:off x="717858" y="1275606"/>
            <a:ext cx="2448545" cy="2024054"/>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2" name="Google Shape;72;p14"/>
          <p:cNvSpPr>
            <a:spLocks noGrp="1"/>
          </p:cNvSpPr>
          <p:nvPr>
            <p:ph type="pic" idx="3"/>
          </p:nvPr>
        </p:nvSpPr>
        <p:spPr>
          <a:xfrm>
            <a:off x="3339542" y="1275606"/>
            <a:ext cx="2448273" cy="2024054"/>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3" name="Google Shape;73;p14"/>
          <p:cNvSpPr>
            <a:spLocks noGrp="1"/>
          </p:cNvSpPr>
          <p:nvPr>
            <p:ph type="pic" idx="4"/>
          </p:nvPr>
        </p:nvSpPr>
        <p:spPr>
          <a:xfrm>
            <a:off x="5960954" y="1275606"/>
            <a:ext cx="2448273" cy="2024054"/>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4" name="Google Shape;74;p14"/>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5" name="Google Shape;75;p14"/>
          <p:cNvSpPr txBox="1">
            <a:spLocks noGrp="1"/>
          </p:cNvSpPr>
          <p:nvPr>
            <p:ph type="body" idx="5"/>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8_Basic Layout">
  <p:cSld name="8_Basic Layout">
    <p:bg>
      <p:bgPr>
        <a:blipFill>
          <a:blip r:embed="rId2">
            <a:alphaModFix/>
          </a:blip>
          <a:stretch>
            <a:fillRect/>
          </a:stretch>
        </a:blipFill>
        <a:effectLst/>
      </p:bgPr>
    </p:bg>
    <p:spTree>
      <p:nvGrpSpPr>
        <p:cNvPr id="1" name="Shape 76"/>
        <p:cNvGrpSpPr/>
        <p:nvPr/>
      </p:nvGrpSpPr>
      <p:grpSpPr>
        <a:xfrm>
          <a:off x="0" y="0"/>
          <a:ext cx="0" cy="0"/>
          <a:chOff x="0" y="0"/>
          <a:chExt cx="0" cy="0"/>
        </a:xfrm>
      </p:grpSpPr>
      <p:pic>
        <p:nvPicPr>
          <p:cNvPr id="77" name="Google Shape;77;p15" descr="D:\Fullppt\005-PNG이미지\모니터.png"/>
          <p:cNvPicPr preferRelativeResize="0"/>
          <p:nvPr/>
        </p:nvPicPr>
        <p:blipFill rotWithShape="1">
          <a:blip r:embed="rId3">
            <a:alphaModFix/>
          </a:blip>
          <a:srcRect/>
          <a:stretch/>
        </p:blipFill>
        <p:spPr>
          <a:xfrm>
            <a:off x="1482286" y="1275606"/>
            <a:ext cx="2923753" cy="2518619"/>
          </a:xfrm>
          <a:prstGeom prst="rect">
            <a:avLst/>
          </a:prstGeom>
          <a:noFill/>
          <a:ln>
            <a:noFill/>
          </a:ln>
        </p:spPr>
      </p:pic>
      <p:pic>
        <p:nvPicPr>
          <p:cNvPr id="78" name="Google Shape;78;p15" descr="D:\Fullppt\005-PNG이미지\모니터.png"/>
          <p:cNvPicPr preferRelativeResize="0"/>
          <p:nvPr/>
        </p:nvPicPr>
        <p:blipFill rotWithShape="1">
          <a:blip r:embed="rId3">
            <a:alphaModFix/>
          </a:blip>
          <a:srcRect/>
          <a:stretch/>
        </p:blipFill>
        <p:spPr>
          <a:xfrm>
            <a:off x="4722646" y="1275606"/>
            <a:ext cx="2923753" cy="2518619"/>
          </a:xfrm>
          <a:prstGeom prst="rect">
            <a:avLst/>
          </a:prstGeom>
          <a:noFill/>
          <a:ln>
            <a:noFill/>
          </a:ln>
        </p:spPr>
      </p:pic>
      <p:sp>
        <p:nvSpPr>
          <p:cNvPr id="79" name="Google Shape;79;p15"/>
          <p:cNvSpPr>
            <a:spLocks noGrp="1"/>
          </p:cNvSpPr>
          <p:nvPr>
            <p:ph type="pic" idx="2"/>
          </p:nvPr>
        </p:nvSpPr>
        <p:spPr>
          <a:xfrm>
            <a:off x="1582656" y="1374406"/>
            <a:ext cx="2700000" cy="1584833"/>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80" name="Google Shape;80;p15"/>
          <p:cNvSpPr>
            <a:spLocks noGrp="1"/>
          </p:cNvSpPr>
          <p:nvPr>
            <p:ph type="pic" idx="3"/>
          </p:nvPr>
        </p:nvSpPr>
        <p:spPr>
          <a:xfrm>
            <a:off x="4820964" y="1374406"/>
            <a:ext cx="2736000" cy="1584833"/>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81" name="Google Shape;81;p15"/>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2" name="Google Shape;82;p15"/>
          <p:cNvSpPr txBox="1">
            <a:spLocks noGrp="1"/>
          </p:cNvSpPr>
          <p:nvPr>
            <p:ph type="body" idx="4"/>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9_Basic Layout">
  <p:cSld name="9_Basic Layout">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16"/>
          <p:cNvSpPr/>
          <p:nvPr/>
        </p:nvSpPr>
        <p:spPr>
          <a:xfrm>
            <a:off x="2847111" y="1179745"/>
            <a:ext cx="3401564" cy="3401564"/>
          </a:xfrm>
          <a:prstGeom prst="donut">
            <a:avLst>
              <a:gd name="adj" fmla="val 1353"/>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85" name="Google Shape;85;p16" descr="D:\Fullppt\PNG이미지\핸드폰2.png"/>
          <p:cNvPicPr preferRelativeResize="0"/>
          <p:nvPr/>
        </p:nvPicPr>
        <p:blipFill rotWithShape="1">
          <a:blip r:embed="rId3">
            <a:alphaModFix/>
          </a:blip>
          <a:srcRect/>
          <a:stretch/>
        </p:blipFill>
        <p:spPr>
          <a:xfrm>
            <a:off x="2735225" y="1079005"/>
            <a:ext cx="3373328" cy="4085033"/>
          </a:xfrm>
          <a:prstGeom prst="rect">
            <a:avLst/>
          </a:prstGeom>
          <a:noFill/>
          <a:ln>
            <a:noFill/>
          </a:ln>
        </p:spPr>
      </p:pic>
      <p:sp>
        <p:nvSpPr>
          <p:cNvPr id="86" name="Google Shape;86;p16"/>
          <p:cNvSpPr>
            <a:spLocks noGrp="1"/>
          </p:cNvSpPr>
          <p:nvPr>
            <p:ph type="pic" idx="2"/>
          </p:nvPr>
        </p:nvSpPr>
        <p:spPr>
          <a:xfrm>
            <a:off x="3566328" y="1217153"/>
            <a:ext cx="1945465" cy="3005145"/>
          </a:xfrm>
          <a:prstGeom prst="rect">
            <a:avLst/>
          </a:prstGeom>
          <a:solidFill>
            <a:srgbClr val="F2F2F2"/>
          </a:solidFill>
          <a:ln>
            <a:noFill/>
          </a:ln>
        </p:spPr>
        <p:txBody>
          <a:bodyPr spcFirstLastPara="1" wrap="square" lIns="91425" tIns="45700" rIns="91425" bIns="45700" anchor="ctr" anchorCtr="0">
            <a:noAutofit/>
          </a:bodyPr>
          <a:lstStyle>
            <a:lvl1pPr marR="0" lvl="0" algn="ctr" rtl="0">
              <a:spcBef>
                <a:spcPts val="24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87" name="Google Shape;87;p16"/>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8" name="Google Shape;88;p16"/>
          <p:cNvSpPr txBox="1">
            <a:spLocks noGrp="1"/>
          </p:cNvSpPr>
          <p:nvPr>
            <p:ph type="body" idx="3"/>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1" name="Google Shape;91;p17"/>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Autofit/>
          </a:bodyPr>
          <a:lstStyle>
            <a:lvl1pPr marL="457200" marR="0" lvl="0"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92" name="Google Shape;92;p17"/>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Autofit/>
          </a:bodyPr>
          <a:lstStyle>
            <a:lvl1pPr marL="457200" marR="0" lvl="0"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spcBef>
                <a:spcPts val="27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93" name="Google Shape;93;p1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4" name="Google Shape;94;p1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5" name="Google Shape;95;p1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96"/>
        <p:cNvGrpSpPr/>
        <p:nvPr/>
      </p:nvGrpSpPr>
      <p:grpSpPr>
        <a:xfrm>
          <a:off x="0" y="0"/>
          <a:ext cx="0" cy="0"/>
          <a:chOff x="0" y="0"/>
          <a:chExt cx="0" cy="0"/>
        </a:xfrm>
      </p:grpSpPr>
      <p:sp>
        <p:nvSpPr>
          <p:cNvPr id="97" name="Google Shape;97;p18"/>
          <p:cNvSpPr txBox="1">
            <a:spLocks noGrp="1"/>
          </p:cNvSpPr>
          <p:nvPr>
            <p:ph type="subTitle" idx="1"/>
          </p:nvPr>
        </p:nvSpPr>
        <p:spPr>
          <a:xfrm>
            <a:off x="2915816" y="465516"/>
            <a:ext cx="5770984" cy="216024"/>
          </a:xfrm>
          <a:prstGeom prst="rect">
            <a:avLst/>
          </a:prstGeom>
          <a:noFill/>
          <a:ln>
            <a:noFill/>
          </a:ln>
        </p:spPr>
        <p:txBody>
          <a:bodyPr spcFirstLastPara="1" wrap="square" lIns="91425" tIns="45700" rIns="91425" bIns="45700" anchor="ctr" anchorCtr="0">
            <a:noAutofit/>
          </a:bodyPr>
          <a:lstStyle>
            <a:lvl1pPr marR="0" lvl="0" algn="r" rtl="0">
              <a:spcBef>
                <a:spcPts val="240"/>
              </a:spcBef>
              <a:spcAft>
                <a:spcPts val="0"/>
              </a:spcAft>
              <a:buClr>
                <a:srgbClr val="1D2631"/>
              </a:buClr>
              <a:buSzPts val="1200"/>
              <a:buFont typeface="Arial"/>
              <a:buNone/>
              <a:defRPr sz="1200" b="0" i="0" u="none" strike="noStrike" cap="small">
                <a:solidFill>
                  <a:srgbClr val="1D2631"/>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Arial"/>
                <a:ea typeface="Arial"/>
                <a:cs typeface="Arial"/>
                <a:sym typeface="Arial"/>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98" name="Google Shape;98;p18"/>
          <p:cNvSpPr txBox="1">
            <a:spLocks noGrp="1"/>
          </p:cNvSpPr>
          <p:nvPr>
            <p:ph type="title"/>
          </p:nvPr>
        </p:nvSpPr>
        <p:spPr>
          <a:xfrm>
            <a:off x="2915816" y="2307"/>
            <a:ext cx="5770984" cy="463209"/>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9" name="Google Shape;99;p18"/>
          <p:cNvPicPr preferRelativeResize="0"/>
          <p:nvPr/>
        </p:nvPicPr>
        <p:blipFill rotWithShape="1">
          <a:blip r:embed="rId2">
            <a:alphaModFix/>
          </a:blip>
          <a:srcRect/>
          <a:stretch/>
        </p:blipFill>
        <p:spPr>
          <a:xfrm>
            <a:off x="142876" y="53560"/>
            <a:ext cx="1285852" cy="39919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x">
  <p:cSld name="TITLE_AND_BODY">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609600" y="188120"/>
            <a:ext cx="7886700" cy="421481"/>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2700"/>
              <a:buFont typeface="Arial"/>
              <a:buNone/>
              <a:defRPr sz="27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2" name="Google Shape;102;p19"/>
          <p:cNvSpPr txBox="1">
            <a:spLocks noGrp="1"/>
          </p:cNvSpPr>
          <p:nvPr>
            <p:ph type="body" idx="1"/>
          </p:nvPr>
        </p:nvSpPr>
        <p:spPr>
          <a:xfrm>
            <a:off x="628650" y="561975"/>
            <a:ext cx="7886700" cy="3143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ver Slide layout">
  <p:cSld name="Cover Slide layout">
    <p:bg>
      <p:bgPr>
        <a:blipFill>
          <a:blip r:embed="rId2">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0"/>
          <p:cNvSpPr txBox="1">
            <a:spLocks noGrp="1"/>
          </p:cNvSpPr>
          <p:nvPr>
            <p:ph type="body" idx="1"/>
          </p:nvPr>
        </p:nvSpPr>
        <p:spPr>
          <a:xfrm>
            <a:off x="3923928" y="2643759"/>
            <a:ext cx="5220000" cy="10800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720"/>
              </a:spcBef>
              <a:spcAft>
                <a:spcPts val="0"/>
              </a:spcAft>
              <a:buClr>
                <a:srgbClr val="3F3F3F"/>
              </a:buClr>
              <a:buSzPts val="3600"/>
              <a:buFont typeface="Arial"/>
              <a:buNone/>
              <a:defRPr sz="3600" b="1"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body" idx="2"/>
          </p:nvPr>
        </p:nvSpPr>
        <p:spPr>
          <a:xfrm>
            <a:off x="3923928" y="3723878"/>
            <a:ext cx="5220000" cy="5040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4932866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149143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177800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6751912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7750407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4643686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5897868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9550504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2716638046"/>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90244187"/>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50" dirty="0">
              <a:solidFill>
                <a:schemeClr val="accent1">
                  <a:lumMod val="60000"/>
                  <a:lumOff val="40000"/>
                </a:schemeClr>
              </a:solidFill>
              <a:latin typeface="Arial"/>
            </a:endParaRPr>
          </a:p>
        </p:txBody>
      </p:sp>
    </p:spTree>
    <p:extLst>
      <p:ext uri="{BB962C8B-B14F-4D97-AF65-F5344CB8AC3E}">
        <p14:creationId xmlns:p14="http://schemas.microsoft.com/office/powerpoint/2010/main" val="230769801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7094315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30751655"/>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16077147"/>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26038958"/>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05363224"/>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ver Slide layout">
  <p:cSld name="Cover Slide layout">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body" idx="1"/>
          </p:nvPr>
        </p:nvSpPr>
        <p:spPr>
          <a:xfrm>
            <a:off x="3923928" y="2643759"/>
            <a:ext cx="5220072" cy="108012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720"/>
              </a:spcBef>
              <a:spcAft>
                <a:spcPts val="0"/>
              </a:spcAft>
              <a:buClr>
                <a:srgbClr val="3F3F3F"/>
              </a:buClr>
              <a:buSzPts val="3600"/>
              <a:buFont typeface="Arial"/>
              <a:buNone/>
              <a:defRPr sz="3600" b="1"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body" idx="2"/>
          </p:nvPr>
        </p:nvSpPr>
        <p:spPr>
          <a:xfrm>
            <a:off x="3923928" y="3723878"/>
            <a:ext cx="5219924" cy="50405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801706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3/16/2026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3777453"/>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4"/>
          <p:cNvSpPr txBox="1">
            <a:spLocks noGrp="1"/>
          </p:cNvSpPr>
          <p:nvPr>
            <p:ph type="body" idx="1"/>
          </p:nvPr>
        </p:nvSpPr>
        <p:spPr>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3F3F3F"/>
              </a:buClr>
              <a:buSzPts val="3200"/>
              <a:buNone/>
            </a:pPr>
            <a:r>
              <a:rPr lang="en-US" sz="3200" dirty="0" err="1"/>
              <a:t>Kiểm</a:t>
            </a:r>
            <a:r>
              <a:rPr lang="en-US" sz="3200" dirty="0"/>
              <a:t> </a:t>
            </a:r>
            <a:r>
              <a:rPr lang="en-US" sz="3200" dirty="0" err="1"/>
              <a:t>định</a:t>
            </a:r>
            <a:r>
              <a:rPr lang="en-US" sz="3200" dirty="0"/>
              <a:t> </a:t>
            </a:r>
            <a:r>
              <a:rPr lang="en-US" sz="3200" dirty="0" err="1"/>
              <a:t>giả</a:t>
            </a:r>
            <a:r>
              <a:rPr lang="en-US" sz="3200" dirty="0"/>
              <a:t> </a:t>
            </a:r>
            <a:r>
              <a:rPr lang="en-US" sz="3200" dirty="0" err="1"/>
              <a:t>thuyết</a:t>
            </a:r>
            <a:endParaRPr sz="3200" dirty="0"/>
          </a:p>
        </p:txBody>
      </p:sp>
      <p:sp>
        <p:nvSpPr>
          <p:cNvPr id="172" name="Google Shape;172;p34"/>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3F3F3F"/>
              </a:buClr>
              <a:buSzPts val="1400"/>
              <a:buNone/>
            </a:pPr>
            <a:r>
              <a:rPr lang="en-US" b="1" dirty="0" err="1"/>
              <a:t>Kiểm</a:t>
            </a:r>
            <a:r>
              <a:rPr lang="en-US" b="1" dirty="0"/>
              <a:t> </a:t>
            </a:r>
            <a:r>
              <a:rPr lang="en-US" b="1" dirty="0" err="1"/>
              <a:t>định</a:t>
            </a:r>
            <a:r>
              <a:rPr lang="en-US" b="1" dirty="0"/>
              <a:t> </a:t>
            </a:r>
            <a:r>
              <a:rPr lang="en-US" b="1" dirty="0" err="1"/>
              <a:t>cho</a:t>
            </a:r>
            <a:r>
              <a:rPr lang="en-US" b="1" dirty="0"/>
              <a:t> </a:t>
            </a:r>
            <a:r>
              <a:rPr lang="en-US" b="1" dirty="0" err="1"/>
              <a:t>tỷ</a:t>
            </a:r>
            <a:r>
              <a:rPr lang="en-US" b="1" dirty="0"/>
              <a:t> </a:t>
            </a:r>
            <a:r>
              <a:rPr lang="en-US" b="1" dirty="0" err="1"/>
              <a:t>lệ</a:t>
            </a:r>
            <a:endParaRPr b="1" dirty="0"/>
          </a:p>
        </p:txBody>
      </p:sp>
      <p:grpSp>
        <p:nvGrpSpPr>
          <p:cNvPr id="173" name="Google Shape;173;p34"/>
          <p:cNvGrpSpPr/>
          <p:nvPr/>
        </p:nvGrpSpPr>
        <p:grpSpPr>
          <a:xfrm>
            <a:off x="3650519" y="2738626"/>
            <a:ext cx="129393" cy="1440160"/>
            <a:chOff x="3424672" y="2643758"/>
            <a:chExt cx="283232" cy="1584176"/>
          </a:xfrm>
        </p:grpSpPr>
        <p:sp>
          <p:nvSpPr>
            <p:cNvPr id="174" name="Google Shape;174;p34"/>
            <p:cNvSpPr/>
            <p:nvPr/>
          </p:nvSpPr>
          <p:spPr>
            <a:xfrm>
              <a:off x="3635896" y="2643758"/>
              <a:ext cx="72008" cy="15841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5" name="Google Shape;175;p34"/>
            <p:cNvSpPr/>
            <p:nvPr/>
          </p:nvSpPr>
          <p:spPr>
            <a:xfrm>
              <a:off x="3565490" y="2643758"/>
              <a:ext cx="72007" cy="158417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6" name="Google Shape;176;p34"/>
            <p:cNvSpPr/>
            <p:nvPr/>
          </p:nvSpPr>
          <p:spPr>
            <a:xfrm>
              <a:off x="3495081" y="2643758"/>
              <a:ext cx="72007" cy="1584176"/>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7" name="Google Shape;177;p34"/>
            <p:cNvSpPr/>
            <p:nvPr/>
          </p:nvSpPr>
          <p:spPr>
            <a:xfrm>
              <a:off x="3424672" y="2643758"/>
              <a:ext cx="72008" cy="158417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5"/>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dirty="0"/>
              <a:t>1.Proportion test</a:t>
            </a:r>
            <a:endParaRPr dirty="0"/>
          </a:p>
        </p:txBody>
      </p:sp>
      <p:cxnSp>
        <p:nvCxnSpPr>
          <p:cNvPr id="252" name="Google Shape;252;p45"/>
          <p:cNvCxnSpPr>
            <a:stCxn id="253" idx="6"/>
            <a:endCxn id="254" idx="2"/>
          </p:cNvCxnSpPr>
          <p:nvPr/>
        </p:nvCxnSpPr>
        <p:spPr>
          <a:xfrm flipH="1">
            <a:off x="5640081" y="3028075"/>
            <a:ext cx="330000" cy="1023300"/>
          </a:xfrm>
          <a:prstGeom prst="bentConnector3">
            <a:avLst>
              <a:gd name="adj1" fmla="val 50008"/>
            </a:avLst>
          </a:prstGeom>
          <a:noFill/>
          <a:ln w="9525" cap="flat" cmpd="sng">
            <a:solidFill>
              <a:srgbClr val="C2C2C2"/>
            </a:solidFill>
            <a:prstDash val="solid"/>
            <a:round/>
            <a:headEnd type="none" w="sm" len="sm"/>
            <a:tailEnd type="none" w="sm" len="sm"/>
          </a:ln>
        </p:spPr>
      </p:cxnSp>
      <p:cxnSp>
        <p:nvCxnSpPr>
          <p:cNvPr id="255" name="Google Shape;255;p45"/>
          <p:cNvCxnSpPr>
            <a:stCxn id="253" idx="6"/>
            <a:endCxn id="256" idx="2"/>
          </p:cNvCxnSpPr>
          <p:nvPr/>
        </p:nvCxnSpPr>
        <p:spPr>
          <a:xfrm rot="10800000">
            <a:off x="5640081" y="2092075"/>
            <a:ext cx="330000" cy="936000"/>
          </a:xfrm>
          <a:prstGeom prst="bentConnector3">
            <a:avLst>
              <a:gd name="adj1" fmla="val 50008"/>
            </a:avLst>
          </a:prstGeom>
          <a:noFill/>
          <a:ln w="9525" cap="flat" cmpd="sng">
            <a:solidFill>
              <a:srgbClr val="C2C2C2"/>
            </a:solidFill>
            <a:prstDash val="solid"/>
            <a:round/>
            <a:headEnd type="none" w="sm" len="sm"/>
            <a:tailEnd type="none" w="sm" len="sm"/>
          </a:ln>
        </p:spPr>
      </p:cxnSp>
      <p:cxnSp>
        <p:nvCxnSpPr>
          <p:cNvPr id="257" name="Google Shape;257;p45"/>
          <p:cNvCxnSpPr>
            <a:stCxn id="258" idx="3"/>
            <a:endCxn id="259" idx="2"/>
          </p:cNvCxnSpPr>
          <p:nvPr/>
        </p:nvCxnSpPr>
        <p:spPr>
          <a:xfrm flipH="1">
            <a:off x="2665547" y="2092075"/>
            <a:ext cx="515100" cy="442500"/>
          </a:xfrm>
          <a:prstGeom prst="bentConnector3">
            <a:avLst>
              <a:gd name="adj1" fmla="val 103873"/>
            </a:avLst>
          </a:prstGeom>
          <a:noFill/>
          <a:ln w="9525" cap="flat" cmpd="sng">
            <a:solidFill>
              <a:srgbClr val="000000"/>
            </a:solidFill>
            <a:prstDash val="lgDash"/>
            <a:round/>
            <a:headEnd type="none" w="sm" len="sm"/>
            <a:tailEnd type="none" w="sm" len="sm"/>
          </a:ln>
        </p:spPr>
      </p:cxnSp>
      <p:cxnSp>
        <p:nvCxnSpPr>
          <p:cNvPr id="260" name="Google Shape;260;p45"/>
          <p:cNvCxnSpPr>
            <a:stCxn id="261" idx="3"/>
            <a:endCxn id="262" idx="2"/>
          </p:cNvCxnSpPr>
          <p:nvPr/>
        </p:nvCxnSpPr>
        <p:spPr>
          <a:xfrm rot="10800000">
            <a:off x="2665547" y="3506875"/>
            <a:ext cx="515100" cy="526200"/>
          </a:xfrm>
          <a:prstGeom prst="bentConnector3">
            <a:avLst>
              <a:gd name="adj1" fmla="val 50005"/>
            </a:avLst>
          </a:prstGeom>
          <a:noFill/>
          <a:ln w="9525" cap="flat" cmpd="sng">
            <a:solidFill>
              <a:schemeClr val="dk2"/>
            </a:solidFill>
            <a:prstDash val="solid"/>
            <a:round/>
            <a:headEnd type="none" w="sm" len="sm"/>
            <a:tailEnd type="none" w="sm" len="sm"/>
          </a:ln>
        </p:spPr>
      </p:cxnSp>
      <p:cxnSp>
        <p:nvCxnSpPr>
          <p:cNvPr id="263" name="Google Shape;263;p45"/>
          <p:cNvCxnSpPr>
            <a:stCxn id="261" idx="3"/>
            <a:endCxn id="264" idx="2"/>
          </p:cNvCxnSpPr>
          <p:nvPr/>
        </p:nvCxnSpPr>
        <p:spPr>
          <a:xfrm flipH="1">
            <a:off x="2665547" y="4033075"/>
            <a:ext cx="515100" cy="388200"/>
          </a:xfrm>
          <a:prstGeom prst="bentConnector3">
            <a:avLst>
              <a:gd name="adj1" fmla="val 50005"/>
            </a:avLst>
          </a:prstGeom>
          <a:noFill/>
          <a:ln w="9525" cap="flat" cmpd="sng">
            <a:solidFill>
              <a:schemeClr val="dk2"/>
            </a:solidFill>
            <a:prstDash val="solid"/>
            <a:round/>
            <a:headEnd type="none" w="sm" len="sm"/>
            <a:tailEnd type="none" w="sm" len="sm"/>
          </a:ln>
        </p:spPr>
      </p:cxnSp>
      <p:grpSp>
        <p:nvGrpSpPr>
          <p:cNvPr id="265" name="Google Shape;265;p45"/>
          <p:cNvGrpSpPr/>
          <p:nvPr/>
        </p:nvGrpSpPr>
        <p:grpSpPr>
          <a:xfrm flipH="1">
            <a:off x="970800" y="1475275"/>
            <a:ext cx="1694697" cy="319200"/>
            <a:chOff x="5592550" y="1018950"/>
            <a:chExt cx="1356300" cy="319200"/>
          </a:xfrm>
        </p:grpSpPr>
        <p:sp>
          <p:nvSpPr>
            <p:cNvPr id="266" name="Google Shape;266;p45"/>
            <p:cNvSpPr/>
            <p:nvPr/>
          </p:nvSpPr>
          <p:spPr>
            <a:xfrm>
              <a:off x="5766550" y="1018950"/>
              <a:ext cx="1182300" cy="319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solidFill>
                    <a:srgbClr val="3D3D3D"/>
                  </a:solidFill>
                </a:rPr>
                <a:t>Mẫu lớn hơn 50</a:t>
              </a:r>
              <a:endParaRPr>
                <a:solidFill>
                  <a:srgbClr val="3D3D3D"/>
                </a:solidFill>
              </a:endParaRPr>
            </a:p>
          </p:txBody>
        </p:sp>
        <p:sp>
          <p:nvSpPr>
            <p:cNvPr id="267" name="Google Shape;267;p45"/>
            <p:cNvSpPr/>
            <p:nvPr/>
          </p:nvSpPr>
          <p:spPr>
            <a:xfrm>
              <a:off x="5592550" y="1091550"/>
              <a:ext cx="174000" cy="174000"/>
            </a:xfrm>
            <a:prstGeom prst="ellipse">
              <a:avLst/>
            </a:prstGeom>
            <a:solidFill>
              <a:srgbClr val="505050"/>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grpSp>
      <p:grpSp>
        <p:nvGrpSpPr>
          <p:cNvPr id="268" name="Google Shape;268;p45"/>
          <p:cNvGrpSpPr/>
          <p:nvPr/>
        </p:nvGrpSpPr>
        <p:grpSpPr>
          <a:xfrm flipH="1">
            <a:off x="3180647" y="1932475"/>
            <a:ext cx="2459379" cy="319200"/>
            <a:chOff x="3211975" y="1476150"/>
            <a:chExt cx="1968290" cy="319200"/>
          </a:xfrm>
        </p:grpSpPr>
        <p:sp>
          <p:nvSpPr>
            <p:cNvPr id="258" name="Google Shape;258;p45"/>
            <p:cNvSpPr/>
            <p:nvPr/>
          </p:nvSpPr>
          <p:spPr>
            <a:xfrm>
              <a:off x="3385965" y="1476150"/>
              <a:ext cx="1794300" cy="319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rgbClr val="3D3D3D"/>
                  </a:solidFill>
                </a:rPr>
                <a:t>Xấp xỉ chuẩn (prop.test)</a:t>
              </a:r>
              <a:endParaRPr>
                <a:solidFill>
                  <a:srgbClr val="3D3D3D"/>
                </a:solidFill>
              </a:endParaRPr>
            </a:p>
            <a:p>
              <a:pPr marL="457200" lvl="0" indent="-317500" algn="l" rtl="0">
                <a:spcBef>
                  <a:spcPts val="0"/>
                </a:spcBef>
                <a:spcAft>
                  <a:spcPts val="0"/>
                </a:spcAft>
                <a:buClr>
                  <a:srgbClr val="3D3D3D"/>
                </a:buClr>
                <a:buSzPts val="1400"/>
                <a:buChar char="●"/>
              </a:pPr>
              <a:r>
                <a:rPr lang="en-US">
                  <a:solidFill>
                    <a:srgbClr val="3D3D3D"/>
                  </a:solidFill>
                </a:rPr>
                <a:t>Mẫu phải thỏa điều kiện</a:t>
              </a:r>
              <a:endParaRPr>
                <a:solidFill>
                  <a:srgbClr val="3D3D3D"/>
                </a:solidFill>
              </a:endParaRPr>
            </a:p>
            <a:p>
              <a:pPr marL="457200" lvl="0" indent="-317500" algn="l" rtl="0">
                <a:spcBef>
                  <a:spcPts val="0"/>
                </a:spcBef>
                <a:spcAft>
                  <a:spcPts val="0"/>
                </a:spcAft>
                <a:buClr>
                  <a:srgbClr val="3D3D3D"/>
                </a:buClr>
                <a:buSzPts val="1400"/>
                <a:buChar char="●"/>
              </a:pPr>
              <a:r>
                <a:rPr lang="en-US">
                  <a:solidFill>
                    <a:srgbClr val="3D3D3D"/>
                  </a:solidFill>
                </a:rPr>
                <a:t>Ít phép tính</a:t>
              </a:r>
              <a:endParaRPr>
                <a:solidFill>
                  <a:srgbClr val="3D3D3D"/>
                </a:solidFill>
              </a:endParaRPr>
            </a:p>
            <a:p>
              <a:pPr marL="457200" lvl="0" indent="-317500" algn="l" rtl="0">
                <a:spcBef>
                  <a:spcPts val="0"/>
                </a:spcBef>
                <a:spcAft>
                  <a:spcPts val="0"/>
                </a:spcAft>
                <a:buClr>
                  <a:srgbClr val="3D3D3D"/>
                </a:buClr>
                <a:buSzPts val="1400"/>
                <a:buChar char="●"/>
              </a:pPr>
              <a:r>
                <a:rPr lang="en-US">
                  <a:solidFill>
                    <a:srgbClr val="3D3D3D"/>
                  </a:solidFill>
                </a:rPr>
                <a:t>Nhanh</a:t>
              </a:r>
              <a:endParaRPr>
                <a:solidFill>
                  <a:srgbClr val="3D3D3D"/>
                </a:solidFill>
              </a:endParaRPr>
            </a:p>
          </p:txBody>
        </p:sp>
        <p:sp>
          <p:nvSpPr>
            <p:cNvPr id="256" name="Google Shape;256;p45"/>
            <p:cNvSpPr/>
            <p:nvPr/>
          </p:nvSpPr>
          <p:spPr>
            <a:xfrm>
              <a:off x="3211975" y="1548750"/>
              <a:ext cx="174000" cy="174000"/>
            </a:xfrm>
            <a:prstGeom prst="ellipse">
              <a:avLst/>
            </a:prstGeom>
            <a:solidFill>
              <a:srgbClr val="414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45"/>
          <p:cNvGrpSpPr/>
          <p:nvPr/>
        </p:nvGrpSpPr>
        <p:grpSpPr>
          <a:xfrm flipH="1">
            <a:off x="5970081" y="2868475"/>
            <a:ext cx="2428044" cy="319200"/>
            <a:chOff x="1015813" y="2412150"/>
            <a:chExt cx="1943212" cy="319200"/>
          </a:xfrm>
        </p:grpSpPr>
        <p:sp>
          <p:nvSpPr>
            <p:cNvPr id="270" name="Google Shape;270;p45"/>
            <p:cNvSpPr/>
            <p:nvPr/>
          </p:nvSpPr>
          <p:spPr>
            <a:xfrm>
              <a:off x="1015813" y="2412150"/>
              <a:ext cx="1891500" cy="319200"/>
            </a:xfrm>
            <a:prstGeom prst="roundRect">
              <a:avLst>
                <a:gd name="adj" fmla="val 16667"/>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endParaRPr b="1" dirty="0">
                <a:solidFill>
                  <a:srgbClr val="3D3D3D"/>
                </a:solidFill>
              </a:endParaRPr>
            </a:p>
            <a:p>
              <a:pPr marL="139700" lvl="0" algn="l" rtl="0">
                <a:spcBef>
                  <a:spcPts val="0"/>
                </a:spcBef>
                <a:spcAft>
                  <a:spcPts val="0"/>
                </a:spcAft>
                <a:buClr>
                  <a:srgbClr val="3D3D3D"/>
                </a:buClr>
                <a:buSzPts val="1400"/>
              </a:pPr>
              <a:r>
                <a:rPr lang="en-US" b="1" dirty="0" err="1">
                  <a:solidFill>
                    <a:srgbClr val="3D3D3D"/>
                  </a:solidFill>
                </a:rPr>
                <a:t>Kiểm</a:t>
              </a:r>
              <a:r>
                <a:rPr lang="en-US" b="1" dirty="0">
                  <a:solidFill>
                    <a:srgbClr val="3D3D3D"/>
                  </a:solidFill>
                </a:rPr>
                <a:t> </a:t>
              </a:r>
              <a:r>
                <a:rPr lang="en-US" b="1" dirty="0" err="1">
                  <a:solidFill>
                    <a:srgbClr val="3D3D3D"/>
                  </a:solidFill>
                </a:rPr>
                <a:t>định</a:t>
              </a:r>
              <a:r>
                <a:rPr lang="en-US" b="1" dirty="0">
                  <a:solidFill>
                    <a:srgbClr val="3D3D3D"/>
                  </a:solidFill>
                </a:rPr>
                <a:t> 1 </a:t>
              </a:r>
              <a:r>
                <a:rPr lang="en-US" b="1" dirty="0" err="1">
                  <a:solidFill>
                    <a:srgbClr val="3D3D3D"/>
                  </a:solidFill>
                </a:rPr>
                <a:t>tỷ</a:t>
              </a:r>
              <a:r>
                <a:rPr lang="en-US" b="1" dirty="0">
                  <a:solidFill>
                    <a:srgbClr val="3D3D3D"/>
                  </a:solidFill>
                </a:rPr>
                <a:t> </a:t>
              </a:r>
              <a:r>
                <a:rPr lang="en-US" b="1" dirty="0" err="1">
                  <a:solidFill>
                    <a:srgbClr val="3D3D3D"/>
                  </a:solidFill>
                </a:rPr>
                <a:t>lệ</a:t>
              </a:r>
              <a:endParaRPr b="1" dirty="0">
                <a:solidFill>
                  <a:srgbClr val="3D3D3D"/>
                </a:solidFill>
              </a:endParaRPr>
            </a:p>
            <a:p>
              <a:pPr marL="457200" lvl="0" indent="0" algn="l" rtl="0">
                <a:spcBef>
                  <a:spcPts val="0"/>
                </a:spcBef>
                <a:spcAft>
                  <a:spcPts val="0"/>
                </a:spcAft>
                <a:buNone/>
              </a:pPr>
              <a:endParaRPr b="1" dirty="0">
                <a:solidFill>
                  <a:srgbClr val="3D3D3D"/>
                </a:solidFill>
              </a:endParaRPr>
            </a:p>
            <a:p>
              <a:pPr marL="139700" lvl="0" algn="l" rtl="0">
                <a:lnSpc>
                  <a:spcPct val="200000"/>
                </a:lnSpc>
                <a:spcBef>
                  <a:spcPts val="0"/>
                </a:spcBef>
                <a:spcAft>
                  <a:spcPts val="0"/>
                </a:spcAft>
                <a:buClr>
                  <a:srgbClr val="3D3D3D"/>
                </a:buClr>
                <a:buSzPts val="1400"/>
              </a:pPr>
              <a:r>
                <a:rPr lang="en-US" b="1" dirty="0">
                  <a:solidFill>
                    <a:srgbClr val="3D3D3D"/>
                  </a:solidFill>
                </a:rPr>
                <a:t>So </a:t>
              </a:r>
              <a:r>
                <a:rPr lang="en-US" b="1" dirty="0" err="1">
                  <a:solidFill>
                    <a:srgbClr val="3D3D3D"/>
                  </a:solidFill>
                </a:rPr>
                <a:t>sánh</a:t>
              </a:r>
              <a:r>
                <a:rPr lang="en-US" b="1" dirty="0">
                  <a:solidFill>
                    <a:srgbClr val="3D3D3D"/>
                  </a:solidFill>
                </a:rPr>
                <a:t> </a:t>
              </a:r>
              <a:r>
                <a:rPr lang="en-US" b="1" dirty="0" err="1">
                  <a:solidFill>
                    <a:srgbClr val="3D3D3D"/>
                  </a:solidFill>
                </a:rPr>
                <a:t>tỷ</a:t>
              </a:r>
              <a:r>
                <a:rPr lang="en-US" b="1" dirty="0">
                  <a:solidFill>
                    <a:srgbClr val="3D3D3D"/>
                  </a:solidFill>
                </a:rPr>
                <a:t> </a:t>
              </a:r>
              <a:r>
                <a:rPr lang="en-US" b="1" dirty="0" err="1">
                  <a:solidFill>
                    <a:srgbClr val="3D3D3D"/>
                  </a:solidFill>
                </a:rPr>
                <a:t>lệ</a:t>
              </a:r>
              <a:endParaRPr b="1" dirty="0">
                <a:solidFill>
                  <a:srgbClr val="3D3D3D"/>
                </a:solidFill>
              </a:endParaRPr>
            </a:p>
          </p:txBody>
        </p:sp>
        <p:sp>
          <p:nvSpPr>
            <p:cNvPr id="253" name="Google Shape;253;p45"/>
            <p:cNvSpPr/>
            <p:nvPr/>
          </p:nvSpPr>
          <p:spPr>
            <a:xfrm>
              <a:off x="2785025" y="2484750"/>
              <a:ext cx="174000" cy="174000"/>
            </a:xfrm>
            <a:prstGeom prst="ellipse">
              <a:avLst/>
            </a:prstGeom>
            <a:solidFill>
              <a:srgbClr val="2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45"/>
          <p:cNvGrpSpPr/>
          <p:nvPr/>
        </p:nvGrpSpPr>
        <p:grpSpPr>
          <a:xfrm flipH="1">
            <a:off x="3180647" y="3804475"/>
            <a:ext cx="2459379" cy="457200"/>
            <a:chOff x="3211975" y="3348150"/>
            <a:chExt cx="1968290" cy="457200"/>
          </a:xfrm>
        </p:grpSpPr>
        <p:sp>
          <p:nvSpPr>
            <p:cNvPr id="261" name="Google Shape;261;p45"/>
            <p:cNvSpPr/>
            <p:nvPr/>
          </p:nvSpPr>
          <p:spPr>
            <a:xfrm>
              <a:off x="3385965" y="3348150"/>
              <a:ext cx="1794300" cy="457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rgbClr val="3D3D3D"/>
                  </a:solidFill>
                </a:rPr>
                <a:t>Chính xác (binom.test, fisher.test)</a:t>
              </a:r>
              <a:endParaRPr>
                <a:solidFill>
                  <a:srgbClr val="3D3D3D"/>
                </a:solidFill>
              </a:endParaRPr>
            </a:p>
            <a:p>
              <a:pPr marL="457200" lvl="0" indent="-317500" algn="l" rtl="0">
                <a:spcBef>
                  <a:spcPts val="0"/>
                </a:spcBef>
                <a:spcAft>
                  <a:spcPts val="0"/>
                </a:spcAft>
                <a:buClr>
                  <a:srgbClr val="3D3D3D"/>
                </a:buClr>
                <a:buSzPts val="1400"/>
                <a:buChar char="●"/>
              </a:pPr>
              <a:r>
                <a:rPr lang="en-US">
                  <a:solidFill>
                    <a:srgbClr val="3D3D3D"/>
                  </a:solidFill>
                </a:rPr>
                <a:t>Với mọi điều kiện n,p</a:t>
              </a:r>
              <a:endParaRPr>
                <a:solidFill>
                  <a:srgbClr val="3D3D3D"/>
                </a:solidFill>
              </a:endParaRPr>
            </a:p>
            <a:p>
              <a:pPr marL="457200" lvl="0" indent="-317500" algn="l" rtl="0">
                <a:spcBef>
                  <a:spcPts val="0"/>
                </a:spcBef>
                <a:spcAft>
                  <a:spcPts val="0"/>
                </a:spcAft>
                <a:buClr>
                  <a:srgbClr val="3D3D3D"/>
                </a:buClr>
                <a:buSzPts val="1400"/>
                <a:buChar char="●"/>
              </a:pPr>
              <a:r>
                <a:rPr lang="en-US">
                  <a:solidFill>
                    <a:srgbClr val="3D3D3D"/>
                  </a:solidFill>
                </a:rPr>
                <a:t>Nhiều phép tính</a:t>
              </a:r>
              <a:endParaRPr>
                <a:solidFill>
                  <a:srgbClr val="3D3D3D"/>
                </a:solidFill>
              </a:endParaRPr>
            </a:p>
            <a:p>
              <a:pPr marL="457200" lvl="0" indent="-317500" algn="l" rtl="0">
                <a:spcBef>
                  <a:spcPts val="0"/>
                </a:spcBef>
                <a:spcAft>
                  <a:spcPts val="0"/>
                </a:spcAft>
                <a:buClr>
                  <a:srgbClr val="3D3D3D"/>
                </a:buClr>
                <a:buSzPts val="1400"/>
                <a:buChar char="●"/>
              </a:pPr>
              <a:r>
                <a:rPr lang="en-US">
                  <a:solidFill>
                    <a:srgbClr val="3D3D3D"/>
                  </a:solidFill>
                </a:rPr>
                <a:t>Chậm</a:t>
              </a:r>
              <a:endParaRPr>
                <a:solidFill>
                  <a:srgbClr val="3D3D3D"/>
                </a:solidFill>
              </a:endParaRPr>
            </a:p>
          </p:txBody>
        </p:sp>
        <p:sp>
          <p:nvSpPr>
            <p:cNvPr id="254" name="Google Shape;254;p45"/>
            <p:cNvSpPr/>
            <p:nvPr/>
          </p:nvSpPr>
          <p:spPr>
            <a:xfrm>
              <a:off x="3211975" y="3508025"/>
              <a:ext cx="174000" cy="174000"/>
            </a:xfrm>
            <a:prstGeom prst="ellipse">
              <a:avLst/>
            </a:prstGeom>
            <a:solidFill>
              <a:srgbClr val="414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272;p45"/>
          <p:cNvGrpSpPr/>
          <p:nvPr/>
        </p:nvGrpSpPr>
        <p:grpSpPr>
          <a:xfrm flipH="1">
            <a:off x="745880" y="2389675"/>
            <a:ext cx="1919618" cy="319200"/>
            <a:chOff x="5592550" y="1933350"/>
            <a:chExt cx="1536309" cy="319200"/>
          </a:xfrm>
        </p:grpSpPr>
        <p:sp>
          <p:nvSpPr>
            <p:cNvPr id="273" name="Google Shape;273;p45"/>
            <p:cNvSpPr/>
            <p:nvPr/>
          </p:nvSpPr>
          <p:spPr>
            <a:xfrm>
              <a:off x="5766559" y="1933350"/>
              <a:ext cx="1362300" cy="319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solidFill>
                    <a:srgbClr val="3D3D3D"/>
                  </a:solidFill>
                </a:rPr>
                <a:t>p trong [0,2;0,8]</a:t>
              </a:r>
              <a:endParaRPr>
                <a:solidFill>
                  <a:srgbClr val="3D3D3D"/>
                </a:solidFill>
              </a:endParaRPr>
            </a:p>
          </p:txBody>
        </p:sp>
        <p:sp>
          <p:nvSpPr>
            <p:cNvPr id="259" name="Google Shape;259;p45"/>
            <p:cNvSpPr/>
            <p:nvPr/>
          </p:nvSpPr>
          <p:spPr>
            <a:xfrm>
              <a:off x="5592550" y="1991250"/>
              <a:ext cx="174000" cy="174000"/>
            </a:xfrm>
            <a:prstGeom prst="ellipse">
              <a:avLst/>
            </a:prstGeom>
            <a:solidFill>
              <a:srgbClr val="505050"/>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grpSp>
      <p:grpSp>
        <p:nvGrpSpPr>
          <p:cNvPr id="274" name="Google Shape;274;p45"/>
          <p:cNvGrpSpPr/>
          <p:nvPr/>
        </p:nvGrpSpPr>
        <p:grpSpPr>
          <a:xfrm flipH="1">
            <a:off x="970800" y="3347275"/>
            <a:ext cx="1694697" cy="319200"/>
            <a:chOff x="5592550" y="2890950"/>
            <a:chExt cx="1356300" cy="319200"/>
          </a:xfrm>
        </p:grpSpPr>
        <p:sp>
          <p:nvSpPr>
            <p:cNvPr id="275" name="Google Shape;275;p45"/>
            <p:cNvSpPr/>
            <p:nvPr/>
          </p:nvSpPr>
          <p:spPr>
            <a:xfrm>
              <a:off x="5766550" y="2890950"/>
              <a:ext cx="1182300" cy="319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solidFill>
                    <a:srgbClr val="3D3D3D"/>
                  </a:solidFill>
                </a:rPr>
                <a:t>mẫu nhỏ</a:t>
              </a:r>
              <a:endParaRPr>
                <a:solidFill>
                  <a:srgbClr val="3D3D3D"/>
                </a:solidFill>
              </a:endParaRPr>
            </a:p>
          </p:txBody>
        </p:sp>
        <p:sp>
          <p:nvSpPr>
            <p:cNvPr id="262" name="Google Shape;262;p45"/>
            <p:cNvSpPr/>
            <p:nvPr/>
          </p:nvSpPr>
          <p:spPr>
            <a:xfrm>
              <a:off x="5592550" y="2963550"/>
              <a:ext cx="174000" cy="174000"/>
            </a:xfrm>
            <a:prstGeom prst="ellipse">
              <a:avLst/>
            </a:prstGeom>
            <a:solidFill>
              <a:srgbClr val="505050"/>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grpSp>
      <p:grpSp>
        <p:nvGrpSpPr>
          <p:cNvPr id="276" name="Google Shape;276;p45"/>
          <p:cNvGrpSpPr/>
          <p:nvPr/>
        </p:nvGrpSpPr>
        <p:grpSpPr>
          <a:xfrm flipH="1">
            <a:off x="753378" y="4261675"/>
            <a:ext cx="1912119" cy="319200"/>
            <a:chOff x="5592550" y="3805350"/>
            <a:chExt cx="1530307" cy="319200"/>
          </a:xfrm>
        </p:grpSpPr>
        <p:sp>
          <p:nvSpPr>
            <p:cNvPr id="277" name="Google Shape;277;p45"/>
            <p:cNvSpPr/>
            <p:nvPr/>
          </p:nvSpPr>
          <p:spPr>
            <a:xfrm>
              <a:off x="5766557" y="3805350"/>
              <a:ext cx="1356300" cy="319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solidFill>
                    <a:srgbClr val="3D3D3D"/>
                  </a:solidFill>
                </a:rPr>
                <a:t>p ngoài [0,2;0,8]</a:t>
              </a:r>
              <a:endParaRPr>
                <a:solidFill>
                  <a:srgbClr val="3D3D3D"/>
                </a:solidFill>
              </a:endParaRPr>
            </a:p>
          </p:txBody>
        </p:sp>
        <p:sp>
          <p:nvSpPr>
            <p:cNvPr id="264" name="Google Shape;264;p45"/>
            <p:cNvSpPr/>
            <p:nvPr/>
          </p:nvSpPr>
          <p:spPr>
            <a:xfrm>
              <a:off x="5592550" y="3877950"/>
              <a:ext cx="174000" cy="174000"/>
            </a:xfrm>
            <a:prstGeom prst="ellipse">
              <a:avLst/>
            </a:prstGeom>
            <a:solidFill>
              <a:srgbClr val="505050"/>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grpSp>
      <p:sp>
        <p:nvSpPr>
          <p:cNvPr id="278" name="Google Shape;278;p45"/>
          <p:cNvSpPr txBox="1">
            <a:spLocks noGrp="1"/>
          </p:cNvSpPr>
          <p:nvPr>
            <p:ph type="body" idx="2"/>
          </p:nvPr>
        </p:nvSpPr>
        <p:spPr>
          <a:xfrm>
            <a:off x="0" y="1021842"/>
            <a:ext cx="9144000" cy="288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r>
              <a:rPr lang="en-US" dirty="0" err="1"/>
              <a:t>Là</a:t>
            </a:r>
            <a:r>
              <a:rPr lang="en-US" dirty="0"/>
              <a:t> </a:t>
            </a:r>
            <a:r>
              <a:rPr lang="en-US" dirty="0" err="1"/>
              <a:t>kiểm</a:t>
            </a:r>
            <a:r>
              <a:rPr lang="en-US" dirty="0"/>
              <a:t> </a:t>
            </a:r>
            <a:r>
              <a:rPr lang="en-US" dirty="0" err="1"/>
              <a:t>định</a:t>
            </a:r>
            <a:r>
              <a:rPr lang="en-US" dirty="0"/>
              <a:t> </a:t>
            </a:r>
            <a:r>
              <a:rPr lang="en-US" dirty="0" err="1"/>
              <a:t>giả</a:t>
            </a:r>
            <a:r>
              <a:rPr lang="en-US" dirty="0"/>
              <a:t> </a:t>
            </a:r>
            <a:r>
              <a:rPr lang="en-US" dirty="0" err="1"/>
              <a:t>thiết</a:t>
            </a:r>
            <a:r>
              <a:rPr lang="en-US" dirty="0"/>
              <a:t> </a:t>
            </a:r>
            <a:r>
              <a:rPr lang="en-US" dirty="0" err="1"/>
              <a:t>cho</a:t>
            </a:r>
            <a:r>
              <a:rPr lang="en-US" dirty="0"/>
              <a:t> </a:t>
            </a:r>
            <a:r>
              <a:rPr lang="en-US" dirty="0" err="1"/>
              <a:t>tỷ</a:t>
            </a:r>
            <a:r>
              <a:rPr lang="en-US" dirty="0"/>
              <a:t> </a:t>
            </a:r>
            <a:r>
              <a:rPr lang="en-US" dirty="0" err="1"/>
              <a:t>lệ</a:t>
            </a:r>
            <a:r>
              <a:rPr lang="en-US" dirty="0"/>
              <a:t> p (hay </a:t>
            </a:r>
            <a:r>
              <a:rPr lang="en-US" dirty="0">
                <a:solidFill>
                  <a:srgbClr val="5F6368"/>
                </a:solidFill>
                <a:highlight>
                  <a:srgbClr val="FFFFFF"/>
                </a:highlight>
              </a:rPr>
              <a:t>π</a:t>
            </a:r>
            <a:r>
              <a:rPr lang="en-US" dirty="0">
                <a:solidFill>
                  <a:srgbClr val="4D5156"/>
                </a:solidFill>
                <a:highlight>
                  <a:srgbClr val="FFFFFF"/>
                </a:highlight>
              </a:rPr>
              <a:t>) </a:t>
            </a:r>
            <a:r>
              <a:rPr lang="en-US" dirty="0" err="1">
                <a:solidFill>
                  <a:srgbClr val="4D5156"/>
                </a:solidFill>
                <a:highlight>
                  <a:srgbClr val="FFFFFF"/>
                </a:highlight>
              </a:rPr>
              <a:t>của</a:t>
            </a:r>
            <a:r>
              <a:rPr lang="en-US" dirty="0">
                <a:solidFill>
                  <a:srgbClr val="4D5156"/>
                </a:solidFill>
                <a:highlight>
                  <a:srgbClr val="FFFFFF"/>
                </a:highlight>
              </a:rPr>
              <a:t> 1 hay </a:t>
            </a:r>
            <a:r>
              <a:rPr lang="en-US" dirty="0" err="1">
                <a:solidFill>
                  <a:srgbClr val="4D5156"/>
                </a:solidFill>
                <a:highlight>
                  <a:srgbClr val="FFFFFF"/>
                </a:highlight>
              </a:rPr>
              <a:t>nhiều</a:t>
            </a:r>
            <a:r>
              <a:rPr lang="en-US" dirty="0">
                <a:solidFill>
                  <a:srgbClr val="4D5156"/>
                </a:solidFill>
                <a:highlight>
                  <a:srgbClr val="FFFFFF"/>
                </a:highlight>
              </a:rPr>
              <a:t> </a:t>
            </a:r>
            <a:r>
              <a:rPr lang="en-US" dirty="0" err="1">
                <a:solidFill>
                  <a:srgbClr val="4D5156"/>
                </a:solidFill>
                <a:highlight>
                  <a:srgbClr val="FFFFFF"/>
                </a:highlight>
              </a:rPr>
              <a:t>phân</a:t>
            </a:r>
            <a:r>
              <a:rPr lang="en-US" dirty="0">
                <a:solidFill>
                  <a:srgbClr val="4D5156"/>
                </a:solidFill>
                <a:highlight>
                  <a:srgbClr val="FFFFFF"/>
                </a:highlight>
              </a:rPr>
              <a:t> </a:t>
            </a:r>
            <a:r>
              <a:rPr lang="en-US" dirty="0" err="1">
                <a:solidFill>
                  <a:srgbClr val="4D5156"/>
                </a:solidFill>
                <a:highlight>
                  <a:srgbClr val="FFFFFF"/>
                </a:highlight>
              </a:rPr>
              <a:t>phối</a:t>
            </a:r>
            <a:r>
              <a:rPr lang="en-US" dirty="0">
                <a:solidFill>
                  <a:srgbClr val="4D5156"/>
                </a:solidFill>
                <a:highlight>
                  <a:srgbClr val="FFFFFF"/>
                </a:highlight>
              </a:rPr>
              <a:t> </a:t>
            </a:r>
            <a:r>
              <a:rPr lang="en-US" dirty="0" err="1">
                <a:solidFill>
                  <a:srgbClr val="4D5156"/>
                </a:solidFill>
                <a:highlight>
                  <a:srgbClr val="FFFFFF"/>
                </a:highlight>
              </a:rPr>
              <a:t>nhị</a:t>
            </a:r>
            <a:r>
              <a:rPr lang="en-US" dirty="0">
                <a:solidFill>
                  <a:srgbClr val="4D5156"/>
                </a:solidFill>
                <a:highlight>
                  <a:srgbClr val="FFFFFF"/>
                </a:highlight>
              </a:rPr>
              <a:t> </a:t>
            </a:r>
            <a:r>
              <a:rPr lang="en-US" dirty="0" err="1">
                <a:solidFill>
                  <a:srgbClr val="4D5156"/>
                </a:solidFill>
                <a:highlight>
                  <a:srgbClr val="FFFFFF"/>
                </a:highlight>
              </a:rPr>
              <a:t>thức</a:t>
            </a:r>
            <a:r>
              <a:rPr lang="en-US" dirty="0">
                <a:solidFill>
                  <a:srgbClr val="4D5156"/>
                </a:solidFill>
                <a:highlight>
                  <a:srgbClr val="FFFFFF"/>
                </a:highlight>
              </a:rPr>
              <a:t> B(</a:t>
            </a:r>
            <a:r>
              <a:rPr lang="en-US" dirty="0" err="1">
                <a:solidFill>
                  <a:srgbClr val="4D5156"/>
                </a:solidFill>
                <a:highlight>
                  <a:srgbClr val="FFFFFF"/>
                </a:highlight>
              </a:rPr>
              <a:t>n,p</a:t>
            </a:r>
            <a:r>
              <a:rPr lang="en-US" dirty="0">
                <a:solidFill>
                  <a:srgbClr val="4D5156"/>
                </a:solidFill>
                <a:highlight>
                  <a:srgbClr val="FFFFFF"/>
                </a:highlight>
              </a:rPr>
              <a:t>).</a:t>
            </a:r>
            <a:endParaRPr dirty="0">
              <a:solidFill>
                <a:srgbClr val="4D5156"/>
              </a:solidFill>
              <a:highlight>
                <a:srgbClr val="FFFFFF"/>
              </a:highlight>
            </a:endParaRPr>
          </a:p>
          <a:p>
            <a:pPr marL="0" lvl="0" indent="0" algn="ctr" rtl="0">
              <a:spcBef>
                <a:spcPts val="0"/>
              </a:spcBef>
              <a:spcAft>
                <a:spcPts val="0"/>
              </a:spcAft>
              <a:buClr>
                <a:srgbClr val="3F3F3F"/>
              </a:buClr>
              <a:buSzPts val="1400"/>
              <a:buNone/>
            </a:pPr>
            <a:r>
              <a:rPr lang="en-US" dirty="0" err="1">
                <a:solidFill>
                  <a:srgbClr val="4D5156"/>
                </a:solidFill>
                <a:highlight>
                  <a:srgbClr val="FFFFFF"/>
                </a:highlight>
              </a:rPr>
              <a:t>Để</a:t>
            </a:r>
            <a:r>
              <a:rPr lang="en-US" dirty="0">
                <a:solidFill>
                  <a:srgbClr val="4D5156"/>
                </a:solidFill>
                <a:highlight>
                  <a:srgbClr val="FFFFFF"/>
                </a:highlight>
              </a:rPr>
              <a:t> </a:t>
            </a:r>
            <a:r>
              <a:rPr lang="en-US" dirty="0" err="1">
                <a:solidFill>
                  <a:srgbClr val="4D5156"/>
                </a:solidFill>
                <a:highlight>
                  <a:srgbClr val="FFFFFF"/>
                </a:highlight>
              </a:rPr>
              <a:t>dễ</a:t>
            </a:r>
            <a:r>
              <a:rPr lang="en-US" dirty="0">
                <a:solidFill>
                  <a:srgbClr val="4D5156"/>
                </a:solidFill>
                <a:highlight>
                  <a:srgbClr val="FFFFFF"/>
                </a:highlight>
              </a:rPr>
              <a:t> </a:t>
            </a:r>
            <a:r>
              <a:rPr lang="en-US" dirty="0" err="1">
                <a:solidFill>
                  <a:srgbClr val="4D5156"/>
                </a:solidFill>
                <a:highlight>
                  <a:srgbClr val="FFFFFF"/>
                </a:highlight>
              </a:rPr>
              <a:t>hiểu</a:t>
            </a:r>
            <a:r>
              <a:rPr lang="en-US" dirty="0">
                <a:solidFill>
                  <a:srgbClr val="4D5156"/>
                </a:solidFill>
                <a:highlight>
                  <a:srgbClr val="FFFFFF"/>
                </a:highlight>
              </a:rPr>
              <a:t> </a:t>
            </a:r>
            <a:r>
              <a:rPr lang="en-US" dirty="0" err="1">
                <a:solidFill>
                  <a:srgbClr val="4D5156"/>
                </a:solidFill>
                <a:highlight>
                  <a:srgbClr val="FFFFFF"/>
                </a:highlight>
              </a:rPr>
              <a:t>hơn</a:t>
            </a:r>
            <a:r>
              <a:rPr lang="en-US" dirty="0">
                <a:solidFill>
                  <a:srgbClr val="4D5156"/>
                </a:solidFill>
                <a:highlight>
                  <a:srgbClr val="FFFFFF"/>
                </a:highlight>
              </a:rPr>
              <a:t>, </a:t>
            </a:r>
            <a:r>
              <a:rPr lang="en-US" dirty="0" err="1">
                <a:solidFill>
                  <a:srgbClr val="4D5156"/>
                </a:solidFill>
                <a:highlight>
                  <a:srgbClr val="FFFFFF"/>
                </a:highlight>
              </a:rPr>
              <a:t>có</a:t>
            </a:r>
            <a:r>
              <a:rPr lang="en-US" dirty="0">
                <a:solidFill>
                  <a:srgbClr val="4D5156"/>
                </a:solidFill>
                <a:highlight>
                  <a:srgbClr val="FFFFFF"/>
                </a:highlight>
              </a:rPr>
              <a:t> </a:t>
            </a:r>
            <a:r>
              <a:rPr lang="en-US" dirty="0" err="1">
                <a:solidFill>
                  <a:srgbClr val="4D5156"/>
                </a:solidFill>
                <a:highlight>
                  <a:srgbClr val="FFFFFF"/>
                </a:highlight>
              </a:rPr>
              <a:t>thể</a:t>
            </a:r>
            <a:r>
              <a:rPr lang="en-US" dirty="0">
                <a:solidFill>
                  <a:srgbClr val="4D5156"/>
                </a:solidFill>
                <a:highlight>
                  <a:srgbClr val="FFFFFF"/>
                </a:highlight>
              </a:rPr>
              <a:t> </a:t>
            </a:r>
            <a:r>
              <a:rPr lang="en-US" dirty="0" err="1">
                <a:solidFill>
                  <a:srgbClr val="4D5156"/>
                </a:solidFill>
                <a:highlight>
                  <a:srgbClr val="FFFFFF"/>
                </a:highlight>
              </a:rPr>
              <a:t>gọi</a:t>
            </a:r>
            <a:r>
              <a:rPr lang="en-US" dirty="0">
                <a:solidFill>
                  <a:srgbClr val="4D5156"/>
                </a:solidFill>
                <a:highlight>
                  <a:srgbClr val="FFFFFF"/>
                </a:highlight>
              </a:rPr>
              <a:t> </a:t>
            </a:r>
            <a:r>
              <a:rPr lang="en-US" dirty="0" err="1">
                <a:solidFill>
                  <a:srgbClr val="4D5156"/>
                </a:solidFill>
                <a:highlight>
                  <a:srgbClr val="FFFFFF"/>
                </a:highlight>
              </a:rPr>
              <a:t>là</a:t>
            </a:r>
            <a:r>
              <a:rPr lang="en-US" dirty="0">
                <a:solidFill>
                  <a:srgbClr val="4D5156"/>
                </a:solidFill>
                <a:highlight>
                  <a:srgbClr val="FFFFFF"/>
                </a:highlight>
              </a:rPr>
              <a:t> </a:t>
            </a:r>
            <a:r>
              <a:rPr lang="en-US" dirty="0" err="1">
                <a:solidFill>
                  <a:srgbClr val="4D5156"/>
                </a:solidFill>
                <a:highlight>
                  <a:srgbClr val="FFFFFF"/>
                </a:highlight>
              </a:rPr>
              <a:t>kiểm</a:t>
            </a:r>
            <a:r>
              <a:rPr lang="en-US" dirty="0">
                <a:solidFill>
                  <a:srgbClr val="4D5156"/>
                </a:solidFill>
                <a:highlight>
                  <a:srgbClr val="FFFFFF"/>
                </a:highlight>
              </a:rPr>
              <a:t> </a:t>
            </a:r>
            <a:r>
              <a:rPr lang="en-US" dirty="0" err="1">
                <a:solidFill>
                  <a:srgbClr val="4D5156"/>
                </a:solidFill>
                <a:highlight>
                  <a:srgbClr val="FFFFFF"/>
                </a:highlight>
              </a:rPr>
              <a:t>định</a:t>
            </a:r>
            <a:r>
              <a:rPr lang="en-US" dirty="0">
                <a:solidFill>
                  <a:srgbClr val="4D5156"/>
                </a:solidFill>
                <a:highlight>
                  <a:srgbClr val="FFFFFF"/>
                </a:highlight>
              </a:rPr>
              <a:t> </a:t>
            </a:r>
            <a:r>
              <a:rPr lang="en-US" dirty="0" err="1">
                <a:solidFill>
                  <a:srgbClr val="4D5156"/>
                </a:solidFill>
                <a:highlight>
                  <a:srgbClr val="FFFFFF"/>
                </a:highlight>
              </a:rPr>
              <a:t>cho</a:t>
            </a:r>
            <a:r>
              <a:rPr lang="en-US" dirty="0">
                <a:solidFill>
                  <a:srgbClr val="4D5156"/>
                </a:solidFill>
                <a:highlight>
                  <a:srgbClr val="FFFFFF"/>
                </a:highlight>
              </a:rPr>
              <a:t> </a:t>
            </a:r>
            <a:r>
              <a:rPr lang="en-US" dirty="0" err="1">
                <a:solidFill>
                  <a:srgbClr val="4D5156"/>
                </a:solidFill>
                <a:highlight>
                  <a:srgbClr val="FFFFFF"/>
                </a:highlight>
              </a:rPr>
              <a:t>xác</a:t>
            </a:r>
            <a:r>
              <a:rPr lang="en-US" dirty="0">
                <a:solidFill>
                  <a:srgbClr val="4D5156"/>
                </a:solidFill>
                <a:highlight>
                  <a:srgbClr val="FFFFFF"/>
                </a:highlight>
              </a:rPr>
              <a:t> </a:t>
            </a:r>
            <a:r>
              <a:rPr lang="en-US" dirty="0" err="1">
                <a:solidFill>
                  <a:srgbClr val="4D5156"/>
                </a:solidFill>
                <a:highlight>
                  <a:srgbClr val="FFFFFF"/>
                </a:highlight>
              </a:rPr>
              <a:t>suất</a:t>
            </a:r>
            <a:r>
              <a:rPr lang="en-US" dirty="0">
                <a:solidFill>
                  <a:srgbClr val="4D5156"/>
                </a:solidFill>
                <a:highlight>
                  <a:srgbClr val="FFFFFF"/>
                </a:highlight>
              </a:rPr>
              <a:t> </a:t>
            </a:r>
            <a:r>
              <a:rPr lang="en-US" dirty="0" err="1">
                <a:solidFill>
                  <a:srgbClr val="4D5156"/>
                </a:solidFill>
                <a:highlight>
                  <a:srgbClr val="FFFFFF"/>
                </a:highlight>
              </a:rPr>
              <a:t>thành</a:t>
            </a:r>
            <a:r>
              <a:rPr lang="en-US" dirty="0">
                <a:solidFill>
                  <a:srgbClr val="4D5156"/>
                </a:solidFill>
                <a:highlight>
                  <a:srgbClr val="FFFFFF"/>
                </a:highlight>
              </a:rPr>
              <a:t> </a:t>
            </a:r>
            <a:r>
              <a:rPr lang="en-US" dirty="0" err="1">
                <a:solidFill>
                  <a:srgbClr val="4D5156"/>
                </a:solidFill>
                <a:highlight>
                  <a:srgbClr val="FFFFFF"/>
                </a:highlight>
              </a:rPr>
              <a:t>công</a:t>
            </a:r>
            <a:r>
              <a:rPr lang="en-US" dirty="0">
                <a:solidFill>
                  <a:srgbClr val="4D5156"/>
                </a:solidFill>
                <a:highlight>
                  <a:srgbClr val="FFFFFF"/>
                </a:highlight>
              </a:rPr>
              <a:t> </a:t>
            </a:r>
            <a:r>
              <a:rPr lang="en-US" dirty="0" err="1">
                <a:solidFill>
                  <a:srgbClr val="4D5156"/>
                </a:solidFill>
                <a:highlight>
                  <a:srgbClr val="FFFFFF"/>
                </a:highlight>
              </a:rPr>
              <a:t>của</a:t>
            </a:r>
            <a:r>
              <a:rPr lang="en-US" dirty="0">
                <a:solidFill>
                  <a:srgbClr val="4D5156"/>
                </a:solidFill>
                <a:highlight>
                  <a:srgbClr val="FFFFFF"/>
                </a:highlight>
              </a:rPr>
              <a:t> 1 </a:t>
            </a:r>
            <a:r>
              <a:rPr lang="en-US" dirty="0" err="1">
                <a:solidFill>
                  <a:srgbClr val="4D5156"/>
                </a:solidFill>
                <a:highlight>
                  <a:srgbClr val="FFFFFF"/>
                </a:highlight>
              </a:rPr>
              <a:t>quan</a:t>
            </a:r>
            <a:r>
              <a:rPr lang="en-US" dirty="0">
                <a:solidFill>
                  <a:srgbClr val="4D5156"/>
                </a:solidFill>
                <a:highlight>
                  <a:srgbClr val="FFFFFF"/>
                </a:highlight>
              </a:rPr>
              <a:t> </a:t>
            </a:r>
            <a:r>
              <a:rPr lang="en-US" dirty="0" err="1">
                <a:solidFill>
                  <a:srgbClr val="4D5156"/>
                </a:solidFill>
                <a:highlight>
                  <a:srgbClr val="FFFFFF"/>
                </a:highlight>
              </a:rPr>
              <a:t>sát</a:t>
            </a:r>
            <a:r>
              <a:rPr lang="en-US" dirty="0">
                <a:solidFill>
                  <a:srgbClr val="4D5156"/>
                </a:solidFill>
                <a:highlight>
                  <a:srgbClr val="FFFFFF"/>
                </a:highlight>
              </a:rPr>
              <a:t> </a:t>
            </a:r>
            <a:r>
              <a:rPr lang="en-US" dirty="0" err="1">
                <a:solidFill>
                  <a:srgbClr val="4D5156"/>
                </a:solidFill>
                <a:highlight>
                  <a:srgbClr val="FFFFFF"/>
                </a:highlight>
              </a:rPr>
              <a:t>bất</a:t>
            </a:r>
            <a:r>
              <a:rPr lang="en-US" dirty="0">
                <a:solidFill>
                  <a:srgbClr val="4D5156"/>
                </a:solidFill>
                <a:highlight>
                  <a:srgbClr val="FFFFFF"/>
                </a:highlight>
              </a:rPr>
              <a:t> </a:t>
            </a:r>
            <a:r>
              <a:rPr lang="en-US" dirty="0" err="1">
                <a:solidFill>
                  <a:srgbClr val="4D5156"/>
                </a:solidFill>
                <a:highlight>
                  <a:srgbClr val="FFFFFF"/>
                </a:highlight>
              </a:rPr>
              <a:t>kỳ</a:t>
            </a:r>
            <a:r>
              <a:rPr lang="en-US" dirty="0">
                <a:solidFill>
                  <a:srgbClr val="4D5156"/>
                </a:solidFill>
                <a:highlight>
                  <a:srgbClr val="FFFFFF"/>
                </a:highlight>
              </a:rPr>
              <a:t>.</a:t>
            </a:r>
            <a:r>
              <a:rPr lang="en-US" sz="1050" dirty="0">
                <a:solidFill>
                  <a:srgbClr val="4D5156"/>
                </a:solidFill>
                <a:highlight>
                  <a:srgbClr val="FFFFFF"/>
                </a:highlight>
              </a:rPr>
              <a:t> </a:t>
            </a:r>
            <a:endParaRPr dirty="0"/>
          </a:p>
        </p:txBody>
      </p:sp>
      <p:cxnSp>
        <p:nvCxnSpPr>
          <p:cNvPr id="279" name="Google Shape;279;p45"/>
          <p:cNvCxnSpPr>
            <a:stCxn id="259" idx="2"/>
            <a:endCxn id="261" idx="3"/>
          </p:cNvCxnSpPr>
          <p:nvPr/>
        </p:nvCxnSpPr>
        <p:spPr>
          <a:xfrm>
            <a:off x="2665497" y="2534575"/>
            <a:ext cx="515100" cy="1498500"/>
          </a:xfrm>
          <a:prstGeom prst="bentConnector3">
            <a:avLst>
              <a:gd name="adj1" fmla="val 50005"/>
            </a:avLst>
          </a:prstGeom>
          <a:noFill/>
          <a:ln w="9525" cap="flat" cmpd="sng">
            <a:solidFill>
              <a:schemeClr val="dk2"/>
            </a:solidFill>
            <a:prstDash val="solid"/>
            <a:round/>
            <a:headEnd type="none" w="med" len="med"/>
            <a:tailEnd type="none" w="med" len="med"/>
          </a:ln>
        </p:spPr>
      </p:cxnSp>
      <p:cxnSp>
        <p:nvCxnSpPr>
          <p:cNvPr id="280" name="Google Shape;280;p45"/>
          <p:cNvCxnSpPr>
            <a:stCxn id="258" idx="3"/>
            <a:endCxn id="267" idx="2"/>
          </p:cNvCxnSpPr>
          <p:nvPr/>
        </p:nvCxnSpPr>
        <p:spPr>
          <a:xfrm rot="10800000">
            <a:off x="2665547" y="1634875"/>
            <a:ext cx="515100" cy="457200"/>
          </a:xfrm>
          <a:prstGeom prst="bentConnector3">
            <a:avLst>
              <a:gd name="adj1" fmla="val 103873"/>
            </a:avLst>
          </a:prstGeom>
          <a:noFill/>
          <a:ln w="9525" cap="flat" cmpd="sng">
            <a:solidFill>
              <a:srgbClr val="000000"/>
            </a:solidFill>
            <a:prstDash val="lgDash"/>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6"/>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457200" lvl="0" indent="0" algn="ctr" rtl="0">
              <a:spcBef>
                <a:spcPts val="0"/>
              </a:spcBef>
              <a:spcAft>
                <a:spcPts val="0"/>
              </a:spcAft>
              <a:buNone/>
            </a:pPr>
            <a:endParaRPr dirty="0"/>
          </a:p>
        </p:txBody>
      </p:sp>
      <p:sp>
        <p:nvSpPr>
          <p:cNvPr id="286" name="Google Shape;286;p46"/>
          <p:cNvSpPr txBox="1"/>
          <p:nvPr/>
        </p:nvSpPr>
        <p:spPr>
          <a:xfrm>
            <a:off x="1170550" y="1141175"/>
            <a:ext cx="2801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87" name="Google Shape;287;p46"/>
          <p:cNvSpPr txBox="1"/>
          <p:nvPr/>
        </p:nvSpPr>
        <p:spPr>
          <a:xfrm>
            <a:off x="800025" y="1031400"/>
            <a:ext cx="6615900" cy="212362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err="1"/>
              <a:t>Bài</a:t>
            </a:r>
            <a:r>
              <a:rPr lang="en-US" dirty="0"/>
              <a:t> </a:t>
            </a:r>
            <a:r>
              <a:rPr lang="en-US" dirty="0" err="1"/>
              <a:t>toán</a:t>
            </a:r>
            <a:r>
              <a:rPr lang="en-US"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err="1"/>
              <a:t>Giả</a:t>
            </a:r>
            <a:r>
              <a:rPr lang="en-US" dirty="0"/>
              <a:t> </a:t>
            </a:r>
            <a:r>
              <a:rPr lang="en-US" dirty="0" err="1"/>
              <a:t>thiết</a:t>
            </a:r>
            <a:r>
              <a:rPr lang="en-US" dirty="0"/>
              <a:t> </a:t>
            </a:r>
            <a:r>
              <a:rPr lang="en-US" dirty="0" err="1"/>
              <a:t>từ</a:t>
            </a:r>
            <a:r>
              <a:rPr lang="en-US" dirty="0"/>
              <a:t> </a:t>
            </a:r>
            <a:r>
              <a:rPr lang="en-US" dirty="0" err="1"/>
              <a:t>nghiên</a:t>
            </a:r>
            <a:r>
              <a:rPr lang="en-US" dirty="0"/>
              <a:t> </a:t>
            </a:r>
            <a:r>
              <a:rPr lang="en-US" dirty="0" err="1"/>
              <a:t>cứu</a:t>
            </a:r>
            <a:r>
              <a:rPr lang="en-US" dirty="0"/>
              <a:t>: </a:t>
            </a:r>
            <a:r>
              <a:rPr lang="en-US" dirty="0" err="1"/>
              <a:t>Có</a:t>
            </a:r>
            <a:r>
              <a:rPr lang="en-US" dirty="0"/>
              <a:t> </a:t>
            </a:r>
            <a:r>
              <a:rPr lang="en-US" dirty="0" err="1"/>
              <a:t>không</a:t>
            </a:r>
            <a:r>
              <a:rPr lang="en-US" dirty="0"/>
              <a:t> </a:t>
            </a:r>
            <a:r>
              <a:rPr lang="en-US" dirty="0" err="1"/>
              <a:t>quá</a:t>
            </a:r>
            <a:r>
              <a:rPr lang="en-US" dirty="0"/>
              <a:t> 20% </a:t>
            </a:r>
            <a:r>
              <a:rPr lang="en-US" dirty="0" err="1"/>
              <a:t>sinh</a:t>
            </a:r>
            <a:r>
              <a:rPr lang="en-US" dirty="0"/>
              <a:t> </a:t>
            </a:r>
            <a:r>
              <a:rPr lang="en-US" dirty="0" err="1"/>
              <a:t>viên</a:t>
            </a:r>
            <a:r>
              <a:rPr lang="en-US" dirty="0"/>
              <a:t> </a:t>
            </a:r>
            <a:r>
              <a:rPr lang="en-US" dirty="0" err="1"/>
              <a:t>tốt</a:t>
            </a:r>
            <a:r>
              <a:rPr lang="en-US" dirty="0"/>
              <a:t> </a:t>
            </a:r>
            <a:r>
              <a:rPr lang="en-US" dirty="0" err="1"/>
              <a:t>nghiệp</a:t>
            </a:r>
            <a:r>
              <a:rPr lang="en-US" dirty="0"/>
              <a:t> </a:t>
            </a:r>
            <a:r>
              <a:rPr lang="en-US" dirty="0" err="1"/>
              <a:t>làm</a:t>
            </a:r>
            <a:r>
              <a:rPr lang="en-US" dirty="0"/>
              <a:t> </a:t>
            </a:r>
            <a:r>
              <a:rPr lang="en-US" dirty="0" err="1"/>
              <a:t>đúng</a:t>
            </a:r>
            <a:r>
              <a:rPr lang="en-US" dirty="0"/>
              <a:t> </a:t>
            </a:r>
            <a:r>
              <a:rPr lang="en-US" dirty="0" err="1"/>
              <a:t>ngành</a:t>
            </a:r>
            <a:r>
              <a:rPr lang="en-US" dirty="0"/>
              <a:t>.</a:t>
            </a:r>
            <a:endParaRPr dirty="0"/>
          </a:p>
          <a:p>
            <a:pPr marL="0" lvl="0" indent="0" algn="l" rtl="0">
              <a:spcBef>
                <a:spcPts val="0"/>
              </a:spcBef>
              <a:spcAft>
                <a:spcPts val="0"/>
              </a:spcAft>
              <a:buNone/>
            </a:pPr>
            <a:r>
              <a:rPr lang="en-US" dirty="0"/>
              <a:t>(h0) &lt;= / (h1)  &gt; </a:t>
            </a:r>
          </a:p>
          <a:p>
            <a:pPr marL="0" lvl="0" indent="0" algn="l" rtl="0">
              <a:spcBef>
                <a:spcPts val="0"/>
              </a:spcBef>
              <a:spcAft>
                <a:spcPts val="0"/>
              </a:spcAft>
              <a:buNone/>
            </a:pPr>
            <a:endParaRPr dirty="0"/>
          </a:p>
          <a:p>
            <a:pPr marL="0" lvl="0" indent="0" algn="l" rtl="0">
              <a:spcBef>
                <a:spcPts val="0"/>
              </a:spcBef>
              <a:spcAft>
                <a:spcPts val="0"/>
              </a:spcAft>
              <a:buNone/>
            </a:pPr>
            <a:r>
              <a:rPr lang="en-US" dirty="0" err="1"/>
              <a:t>Mẫu</a:t>
            </a:r>
            <a:r>
              <a:rPr lang="en-US" dirty="0"/>
              <a:t> 500 SV TN</a:t>
            </a:r>
            <a:endParaRPr dirty="0"/>
          </a:p>
          <a:p>
            <a:pPr marL="0" lvl="0" indent="0" algn="l" rtl="0">
              <a:spcBef>
                <a:spcPts val="0"/>
              </a:spcBef>
              <a:spcAft>
                <a:spcPts val="0"/>
              </a:spcAft>
              <a:buNone/>
            </a:pPr>
            <a:r>
              <a:rPr lang="en-US" dirty="0" err="1"/>
              <a:t>Đúng</a:t>
            </a:r>
            <a:r>
              <a:rPr lang="en-US" dirty="0"/>
              <a:t> </a:t>
            </a:r>
            <a:r>
              <a:rPr lang="en-US" dirty="0" err="1"/>
              <a:t>ngành</a:t>
            </a:r>
            <a:r>
              <a:rPr lang="en-US" dirty="0"/>
              <a:t> </a:t>
            </a:r>
            <a:r>
              <a:rPr lang="en-US" dirty="0" err="1"/>
              <a:t>có</a:t>
            </a:r>
            <a:r>
              <a:rPr lang="en-US" dirty="0"/>
              <a:t> 90 SV TN</a:t>
            </a:r>
            <a:endParaRPr dirty="0"/>
          </a:p>
          <a:p>
            <a:pPr marL="457200" lvl="0" indent="-317500" algn="l" rtl="0">
              <a:spcBef>
                <a:spcPts val="0"/>
              </a:spcBef>
              <a:spcAft>
                <a:spcPts val="0"/>
              </a:spcAft>
              <a:buSzPts val="1400"/>
              <a:buAutoNum type="alphaLcPeriod"/>
            </a:pPr>
            <a:r>
              <a:rPr lang="en-US" dirty="0" err="1"/>
              <a:t>Mức</a:t>
            </a:r>
            <a:r>
              <a:rPr lang="en-US" dirty="0"/>
              <a:t> tin </a:t>
            </a:r>
            <a:r>
              <a:rPr lang="en-US" dirty="0" err="1"/>
              <a:t>cậy</a:t>
            </a:r>
            <a:r>
              <a:rPr lang="en-US" dirty="0"/>
              <a:t> 95%, </a:t>
            </a:r>
            <a:r>
              <a:rPr lang="en-US" dirty="0" err="1"/>
              <a:t>có</a:t>
            </a:r>
            <a:r>
              <a:rPr lang="en-US" dirty="0"/>
              <a:t> </a:t>
            </a:r>
            <a:r>
              <a:rPr lang="en-US" dirty="0" err="1"/>
              <a:t>thể</a:t>
            </a:r>
            <a:r>
              <a:rPr lang="en-US" dirty="0"/>
              <a:t> </a:t>
            </a:r>
            <a:r>
              <a:rPr lang="en-US" dirty="0" err="1"/>
              <a:t>bác</a:t>
            </a:r>
            <a:r>
              <a:rPr lang="en-US" dirty="0"/>
              <a:t> </a:t>
            </a:r>
            <a:r>
              <a:rPr lang="en-US" dirty="0" err="1"/>
              <a:t>bỏ</a:t>
            </a:r>
            <a:r>
              <a:rPr lang="en-US" dirty="0"/>
              <a:t> </a:t>
            </a:r>
            <a:r>
              <a:rPr lang="en-US" dirty="0" err="1"/>
              <a:t>giả</a:t>
            </a:r>
            <a:r>
              <a:rPr lang="en-US" dirty="0"/>
              <a:t> </a:t>
            </a:r>
            <a:r>
              <a:rPr lang="en-US" dirty="0" err="1"/>
              <a:t>thiết</a:t>
            </a:r>
            <a:r>
              <a:rPr lang="en-US" dirty="0"/>
              <a:t> </a:t>
            </a:r>
            <a:r>
              <a:rPr lang="en-US" dirty="0" err="1"/>
              <a:t>không</a:t>
            </a:r>
            <a:r>
              <a:rPr lang="en-US" dirty="0"/>
              <a:t>?</a:t>
            </a:r>
            <a:endParaRPr dirty="0"/>
          </a:p>
          <a:p>
            <a:pPr marL="457200" lvl="0" indent="-317500" algn="l" rtl="0">
              <a:spcBef>
                <a:spcPts val="0"/>
              </a:spcBef>
              <a:spcAft>
                <a:spcPts val="0"/>
              </a:spcAft>
              <a:buSzPts val="1400"/>
              <a:buAutoNum type="alphaLcPeriod"/>
            </a:pPr>
            <a:r>
              <a:rPr lang="en-US" dirty="0" err="1"/>
              <a:t>Cùng</a:t>
            </a:r>
            <a:r>
              <a:rPr lang="en-US" dirty="0"/>
              <a:t> </a:t>
            </a:r>
            <a:r>
              <a:rPr lang="en-US" dirty="0" err="1"/>
              <a:t>mức</a:t>
            </a:r>
            <a:r>
              <a:rPr lang="en-US" dirty="0"/>
              <a:t> tin </a:t>
            </a:r>
            <a:r>
              <a:rPr lang="en-US" dirty="0" err="1"/>
              <a:t>cậy</a:t>
            </a:r>
            <a:r>
              <a:rPr lang="en-US" dirty="0"/>
              <a:t>, </a:t>
            </a:r>
            <a:r>
              <a:rPr lang="en-US" dirty="0" err="1"/>
              <a:t>tính</a:t>
            </a:r>
            <a:r>
              <a:rPr lang="en-US" dirty="0"/>
              <a:t> </a:t>
            </a:r>
            <a:r>
              <a:rPr lang="en-US" dirty="0" err="1"/>
              <a:t>khoảng</a:t>
            </a:r>
            <a:r>
              <a:rPr lang="en-US" dirty="0"/>
              <a:t> tin </a:t>
            </a:r>
            <a:r>
              <a:rPr lang="en-US" dirty="0" err="1"/>
              <a:t>cậy</a:t>
            </a:r>
            <a:r>
              <a:rPr lang="en-US" dirty="0"/>
              <a:t> </a:t>
            </a:r>
            <a:r>
              <a:rPr lang="en-US" dirty="0" err="1"/>
              <a:t>cho</a:t>
            </a:r>
            <a:r>
              <a:rPr lang="en-US" dirty="0"/>
              <a:t> % SV TN </a:t>
            </a:r>
            <a:r>
              <a:rPr lang="en-US" dirty="0" err="1"/>
              <a:t>làm</a:t>
            </a:r>
            <a:r>
              <a:rPr lang="en-US" dirty="0"/>
              <a:t> </a:t>
            </a:r>
            <a:r>
              <a:rPr lang="en-US" dirty="0" err="1"/>
              <a:t>đúng</a:t>
            </a:r>
            <a:r>
              <a:rPr lang="en-US" dirty="0"/>
              <a:t> </a:t>
            </a:r>
            <a:r>
              <a:rPr lang="en-US" dirty="0" err="1"/>
              <a:t>ngành</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7"/>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457200" lvl="0" indent="0" algn="ctr" rtl="0">
              <a:spcBef>
                <a:spcPts val="0"/>
              </a:spcBef>
              <a:spcAft>
                <a:spcPts val="0"/>
              </a:spcAft>
              <a:buNone/>
            </a:pPr>
            <a:r>
              <a:rPr lang="en-US">
                <a:solidFill>
                  <a:schemeClr val="hlink"/>
                </a:solidFill>
              </a:rPr>
              <a:t>Exact Binomial Test</a:t>
            </a:r>
            <a:endParaRPr/>
          </a:p>
        </p:txBody>
      </p:sp>
      <p:sp>
        <p:nvSpPr>
          <p:cNvPr id="293" name="Google Shape;293;p47"/>
          <p:cNvSpPr txBox="1"/>
          <p:nvPr/>
        </p:nvSpPr>
        <p:spPr>
          <a:xfrm>
            <a:off x="1170550" y="1141175"/>
            <a:ext cx="2801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294" name="Google Shape;294;p47"/>
          <p:cNvPicPr preferRelativeResize="0"/>
          <p:nvPr/>
        </p:nvPicPr>
        <p:blipFill>
          <a:blip r:embed="rId3">
            <a:alphaModFix/>
          </a:blip>
          <a:stretch>
            <a:fillRect/>
          </a:stretch>
        </p:blipFill>
        <p:spPr>
          <a:xfrm>
            <a:off x="1252300" y="3527938"/>
            <a:ext cx="6357150" cy="1009075"/>
          </a:xfrm>
          <a:prstGeom prst="rect">
            <a:avLst/>
          </a:prstGeom>
          <a:noFill/>
          <a:ln>
            <a:noFill/>
          </a:ln>
        </p:spPr>
      </p:pic>
      <p:pic>
        <p:nvPicPr>
          <p:cNvPr id="295" name="Google Shape;295;p47"/>
          <p:cNvPicPr preferRelativeResize="0"/>
          <p:nvPr/>
        </p:nvPicPr>
        <p:blipFill>
          <a:blip r:embed="rId4">
            <a:alphaModFix/>
          </a:blip>
          <a:stretch>
            <a:fillRect/>
          </a:stretch>
        </p:blipFill>
        <p:spPr>
          <a:xfrm>
            <a:off x="1453825" y="1195954"/>
            <a:ext cx="6236355" cy="2125700"/>
          </a:xfrm>
          <a:prstGeom prst="rect">
            <a:avLst/>
          </a:prstGeom>
          <a:noFill/>
          <a:ln>
            <a:noFill/>
          </a:ln>
        </p:spPr>
      </p:pic>
      <p:sp>
        <p:nvSpPr>
          <p:cNvPr id="296" name="Google Shape;296;p47"/>
          <p:cNvSpPr txBox="1"/>
          <p:nvPr/>
        </p:nvSpPr>
        <p:spPr>
          <a:xfrm>
            <a:off x="2528675" y="3205125"/>
            <a:ext cx="352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Bảng cơ sở bác bỏ của kiểm định</a:t>
            </a:r>
            <a:endParaRPr/>
          </a:p>
        </p:txBody>
      </p:sp>
      <p:sp>
        <p:nvSpPr>
          <p:cNvPr id="297" name="Google Shape;297;p47"/>
          <p:cNvSpPr txBox="1"/>
          <p:nvPr/>
        </p:nvSpPr>
        <p:spPr>
          <a:xfrm>
            <a:off x="2807550" y="4617850"/>
            <a:ext cx="352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Cách tính khoảng tin cậy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8"/>
          <p:cNvSpPr txBox="1"/>
          <p:nvPr/>
        </p:nvSpPr>
        <p:spPr>
          <a:xfrm>
            <a:off x="1170550" y="1141175"/>
            <a:ext cx="2801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303" name="Google Shape;303;p48"/>
          <p:cNvSpPr txBox="1"/>
          <p:nvPr/>
        </p:nvSpPr>
        <p:spPr>
          <a:xfrm>
            <a:off x="2925450" y="4343100"/>
            <a:ext cx="201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Code và kết quả</a:t>
            </a:r>
            <a:endParaRPr/>
          </a:p>
        </p:txBody>
      </p:sp>
      <p:pic>
        <p:nvPicPr>
          <p:cNvPr id="304" name="Google Shape;304;p48"/>
          <p:cNvPicPr preferRelativeResize="0"/>
          <p:nvPr/>
        </p:nvPicPr>
        <p:blipFill>
          <a:blip r:embed="rId3">
            <a:alphaModFix/>
          </a:blip>
          <a:stretch>
            <a:fillRect/>
          </a:stretch>
        </p:blipFill>
        <p:spPr>
          <a:xfrm>
            <a:off x="1323900" y="1141175"/>
            <a:ext cx="6496175" cy="3292275"/>
          </a:xfrm>
          <a:prstGeom prst="rect">
            <a:avLst/>
          </a:prstGeom>
          <a:noFill/>
          <a:ln>
            <a:noFill/>
          </a:ln>
        </p:spPr>
      </p:pic>
      <p:sp>
        <p:nvSpPr>
          <p:cNvPr id="305" name="Google Shape;305;p48"/>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457200" lvl="0" indent="0" algn="ctr" rtl="0">
              <a:spcBef>
                <a:spcPts val="0"/>
              </a:spcBef>
              <a:spcAft>
                <a:spcPts val="0"/>
              </a:spcAft>
              <a:buNone/>
            </a:pPr>
            <a:r>
              <a:rPr lang="en-US">
                <a:solidFill>
                  <a:schemeClr val="hlink"/>
                </a:solidFill>
              </a:rPr>
              <a:t>Exact Binomial Test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9"/>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Proportion Test</a:t>
            </a:r>
            <a:endParaRPr/>
          </a:p>
        </p:txBody>
      </p:sp>
      <p:pic>
        <p:nvPicPr>
          <p:cNvPr id="311" name="Google Shape;311;p49"/>
          <p:cNvPicPr preferRelativeResize="0"/>
          <p:nvPr/>
        </p:nvPicPr>
        <p:blipFill>
          <a:blip r:embed="rId3">
            <a:alphaModFix/>
          </a:blip>
          <a:stretch>
            <a:fillRect/>
          </a:stretch>
        </p:blipFill>
        <p:spPr>
          <a:xfrm>
            <a:off x="1916813" y="1378838"/>
            <a:ext cx="5310375" cy="2385825"/>
          </a:xfrm>
          <a:prstGeom prst="rect">
            <a:avLst/>
          </a:prstGeom>
          <a:noFill/>
          <a:ln>
            <a:noFill/>
          </a:ln>
        </p:spPr>
      </p:pic>
      <p:sp>
        <p:nvSpPr>
          <p:cNvPr id="312" name="Google Shape;312;p49"/>
          <p:cNvSpPr txBox="1"/>
          <p:nvPr/>
        </p:nvSpPr>
        <p:spPr>
          <a:xfrm>
            <a:off x="898950" y="3764650"/>
            <a:ext cx="7346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t>Hệ số hiệu chỉnh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50"/>
          <p:cNvSpPr txBox="1"/>
          <p:nvPr/>
        </p:nvSpPr>
        <p:spPr>
          <a:xfrm>
            <a:off x="1170550" y="1141175"/>
            <a:ext cx="2801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318" name="Google Shape;318;p50"/>
          <p:cNvPicPr preferRelativeResize="0"/>
          <p:nvPr/>
        </p:nvPicPr>
        <p:blipFill>
          <a:blip r:embed="rId3">
            <a:alphaModFix/>
          </a:blip>
          <a:stretch>
            <a:fillRect/>
          </a:stretch>
        </p:blipFill>
        <p:spPr>
          <a:xfrm>
            <a:off x="2148987" y="1463635"/>
            <a:ext cx="4846025" cy="2103430"/>
          </a:xfrm>
          <a:prstGeom prst="rect">
            <a:avLst/>
          </a:prstGeom>
          <a:noFill/>
          <a:ln>
            <a:noFill/>
          </a:ln>
        </p:spPr>
      </p:pic>
      <p:sp>
        <p:nvSpPr>
          <p:cNvPr id="320" name="Google Shape;320;p50"/>
          <p:cNvSpPr txBox="1"/>
          <p:nvPr/>
        </p:nvSpPr>
        <p:spPr>
          <a:xfrm>
            <a:off x="1992525" y="3416314"/>
            <a:ext cx="4845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err="1"/>
              <a:t>Miền</a:t>
            </a:r>
            <a:r>
              <a:rPr lang="en-US" dirty="0"/>
              <a:t> </a:t>
            </a:r>
            <a:r>
              <a:rPr lang="en-US" dirty="0" err="1"/>
              <a:t>bác</a:t>
            </a:r>
            <a:r>
              <a:rPr lang="en-US" dirty="0"/>
              <a:t> </a:t>
            </a:r>
            <a:r>
              <a:rPr lang="en-US" dirty="0" err="1"/>
              <a:t>bỏ</a:t>
            </a:r>
            <a:r>
              <a:rPr lang="en-US" dirty="0"/>
              <a:t> </a:t>
            </a:r>
            <a:r>
              <a:rPr lang="en-US" dirty="0" err="1"/>
              <a:t>có</a:t>
            </a:r>
            <a:r>
              <a:rPr lang="en-US" dirty="0"/>
              <a:t>/</a:t>
            </a:r>
            <a:r>
              <a:rPr lang="en-US" dirty="0" err="1"/>
              <a:t>không</a:t>
            </a:r>
            <a:r>
              <a:rPr lang="en-US" dirty="0"/>
              <a:t> </a:t>
            </a:r>
            <a:r>
              <a:rPr lang="en-US" dirty="0" err="1"/>
              <a:t>có</a:t>
            </a:r>
            <a:r>
              <a:rPr lang="en-US" dirty="0"/>
              <a:t> </a:t>
            </a:r>
            <a:r>
              <a:rPr lang="en-US" dirty="0" err="1"/>
              <a:t>hiệu</a:t>
            </a:r>
            <a:r>
              <a:rPr lang="en-US" dirty="0"/>
              <a:t> </a:t>
            </a:r>
            <a:r>
              <a:rPr lang="en-US" dirty="0" err="1"/>
              <a:t>chỉnh</a:t>
            </a:r>
            <a:r>
              <a:rPr lang="en-US" dirty="0"/>
              <a:t> </a:t>
            </a:r>
            <a:r>
              <a:rPr lang="en-US" dirty="0" err="1"/>
              <a:t>liên</a:t>
            </a:r>
            <a:r>
              <a:rPr lang="en-US" dirty="0"/>
              <a:t> </a:t>
            </a:r>
            <a:r>
              <a:rPr lang="en-US" dirty="0" err="1"/>
              <a:t>tục</a:t>
            </a:r>
            <a:endParaRPr dirty="0"/>
          </a:p>
        </p:txBody>
      </p:sp>
      <p:sp>
        <p:nvSpPr>
          <p:cNvPr id="321" name="Google Shape;321;p50"/>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Proportion Test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51"/>
          <p:cNvPicPr preferRelativeResize="0"/>
          <p:nvPr/>
        </p:nvPicPr>
        <p:blipFill>
          <a:blip r:embed="rId3">
            <a:alphaModFix/>
          </a:blip>
          <a:stretch>
            <a:fillRect/>
          </a:stretch>
        </p:blipFill>
        <p:spPr>
          <a:xfrm>
            <a:off x="387625" y="1094777"/>
            <a:ext cx="7767825" cy="2953950"/>
          </a:xfrm>
          <a:prstGeom prst="rect">
            <a:avLst/>
          </a:prstGeom>
          <a:noFill/>
          <a:ln>
            <a:noFill/>
          </a:ln>
        </p:spPr>
      </p:pic>
      <p:sp>
        <p:nvSpPr>
          <p:cNvPr id="327" name="Google Shape;327;p51"/>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Proportion Test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2"/>
          <p:cNvSpPr txBox="1">
            <a:spLocks noGrp="1"/>
          </p:cNvSpPr>
          <p:nvPr>
            <p:ph type="body" idx="2"/>
          </p:nvPr>
        </p:nvSpPr>
        <p:spPr>
          <a:xfrm>
            <a:off x="0" y="699542"/>
            <a:ext cx="9144000" cy="288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r>
              <a:rPr lang="en-US" b="1" dirty="0" err="1"/>
              <a:t>Kiểm</a:t>
            </a:r>
            <a:r>
              <a:rPr lang="en-US" b="1" dirty="0"/>
              <a:t> </a:t>
            </a:r>
            <a:r>
              <a:rPr lang="en-US" b="1" dirty="0" err="1"/>
              <a:t>định</a:t>
            </a:r>
            <a:r>
              <a:rPr lang="en-US" b="1" dirty="0"/>
              <a:t> </a:t>
            </a:r>
            <a:r>
              <a:rPr lang="en-US" b="1" dirty="0" err="1"/>
              <a:t>xấp</a:t>
            </a:r>
            <a:r>
              <a:rPr lang="en-US" b="1" dirty="0"/>
              <a:t> </a:t>
            </a:r>
            <a:r>
              <a:rPr lang="en-US" b="1" dirty="0" err="1"/>
              <a:t>xỉ</a:t>
            </a:r>
            <a:r>
              <a:rPr lang="en-US" b="1" dirty="0"/>
              <a:t> </a:t>
            </a:r>
            <a:r>
              <a:rPr lang="en-US" b="1" dirty="0" err="1"/>
              <a:t>chuẩn</a:t>
            </a:r>
            <a:endParaRPr b="1" dirty="0"/>
          </a:p>
        </p:txBody>
      </p:sp>
      <p:pic>
        <p:nvPicPr>
          <p:cNvPr id="333" name="Google Shape;333;p52"/>
          <p:cNvPicPr preferRelativeResize="0"/>
          <p:nvPr/>
        </p:nvPicPr>
        <p:blipFill>
          <a:blip r:embed="rId3">
            <a:alphaModFix/>
          </a:blip>
          <a:stretch>
            <a:fillRect/>
          </a:stretch>
        </p:blipFill>
        <p:spPr>
          <a:xfrm>
            <a:off x="2225475" y="1006542"/>
            <a:ext cx="4693040" cy="3851158"/>
          </a:xfrm>
          <a:prstGeom prst="rect">
            <a:avLst/>
          </a:prstGeom>
          <a:noFill/>
          <a:ln>
            <a:noFill/>
          </a:ln>
        </p:spPr>
      </p:pic>
      <p:sp>
        <p:nvSpPr>
          <p:cNvPr id="334" name="Google Shape;334;p52"/>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Proportion Test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3"/>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Test Results</a:t>
            </a:r>
            <a:endParaRPr/>
          </a:p>
        </p:txBody>
      </p:sp>
      <p:sp>
        <p:nvSpPr>
          <p:cNvPr id="340" name="Google Shape;340;p53"/>
          <p:cNvSpPr txBox="1">
            <a:spLocks noGrp="1"/>
          </p:cNvSpPr>
          <p:nvPr>
            <p:ph type="body" idx="2"/>
          </p:nvPr>
        </p:nvSpPr>
        <p:spPr>
          <a:xfrm>
            <a:off x="0" y="699542"/>
            <a:ext cx="9144000" cy="288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r>
              <a:rPr lang="en-US" dirty="0"/>
              <a:t>So </a:t>
            </a:r>
            <a:r>
              <a:rPr lang="en-US" dirty="0" err="1"/>
              <a:t>sánh</a:t>
            </a:r>
            <a:r>
              <a:rPr lang="en-US" dirty="0"/>
              <a:t> </a:t>
            </a:r>
            <a:r>
              <a:rPr lang="en-US" dirty="0" err="1"/>
              <a:t>kết</a:t>
            </a:r>
            <a:r>
              <a:rPr lang="en-US" dirty="0"/>
              <a:t> </a:t>
            </a:r>
            <a:r>
              <a:rPr lang="en-US" dirty="0" err="1"/>
              <a:t>quả</a:t>
            </a:r>
            <a:r>
              <a:rPr lang="en-US" dirty="0"/>
              <a:t> 2 </a:t>
            </a:r>
            <a:r>
              <a:rPr lang="en-US" dirty="0" err="1"/>
              <a:t>cách</a:t>
            </a:r>
            <a:r>
              <a:rPr lang="en-US" dirty="0"/>
              <a:t> </a:t>
            </a:r>
            <a:r>
              <a:rPr lang="en-US" dirty="0" err="1"/>
              <a:t>kiểm</a:t>
            </a:r>
            <a:r>
              <a:rPr lang="en-US" dirty="0"/>
              <a:t> </a:t>
            </a:r>
            <a:r>
              <a:rPr lang="en-US" dirty="0" err="1"/>
              <a:t>định</a:t>
            </a:r>
            <a:endParaRPr lang="en-US" dirty="0"/>
          </a:p>
        </p:txBody>
      </p:sp>
      <p:graphicFrame>
        <p:nvGraphicFramePr>
          <p:cNvPr id="341" name="Google Shape;341;p53"/>
          <p:cNvGraphicFramePr/>
          <p:nvPr/>
        </p:nvGraphicFramePr>
        <p:xfrm>
          <a:off x="952500" y="1569975"/>
          <a:ext cx="7239000" cy="2724300"/>
        </p:xfrm>
        <a:graphic>
          <a:graphicData uri="http://schemas.openxmlformats.org/drawingml/2006/table">
            <a:tbl>
              <a:tblPr>
                <a:noFill/>
                <a:tableStyleId>{9C370A1E-E82C-4BBB-9AFE-C815F493BB12}</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466950">
                <a:tc>
                  <a:txBody>
                    <a:bodyPr/>
                    <a:lstStyle/>
                    <a:p>
                      <a:pPr marL="0" lvl="0" indent="0" algn="l" rtl="0">
                        <a:spcBef>
                          <a:spcPts val="0"/>
                        </a:spcBef>
                        <a:spcAft>
                          <a:spcPts val="0"/>
                        </a:spcAft>
                        <a:buNone/>
                      </a:pPr>
                      <a:r>
                        <a:rPr lang="en-US"/>
                        <a:t>Kết quả</a:t>
                      </a:r>
                      <a:endParaRPr/>
                    </a:p>
                  </a:txBody>
                  <a:tcPr marL="91425" marR="91425" marT="91425" marB="91425"/>
                </a:tc>
                <a:tc>
                  <a:txBody>
                    <a:bodyPr/>
                    <a:lstStyle/>
                    <a:p>
                      <a:pPr marL="0" lvl="0" indent="0" algn="l" rtl="0">
                        <a:spcBef>
                          <a:spcPts val="0"/>
                        </a:spcBef>
                        <a:spcAft>
                          <a:spcPts val="0"/>
                        </a:spcAft>
                        <a:buNone/>
                      </a:pPr>
                      <a:r>
                        <a:rPr lang="en-US"/>
                        <a:t>binom.test</a:t>
                      </a:r>
                      <a:endParaRPr/>
                    </a:p>
                  </a:txBody>
                  <a:tcPr marL="91425" marR="91425" marT="91425" marB="91425"/>
                </a:tc>
                <a:tc>
                  <a:txBody>
                    <a:bodyPr/>
                    <a:lstStyle/>
                    <a:p>
                      <a:pPr marL="0" lvl="0" indent="0" algn="l" rtl="0">
                        <a:spcBef>
                          <a:spcPts val="0"/>
                        </a:spcBef>
                        <a:spcAft>
                          <a:spcPts val="0"/>
                        </a:spcAft>
                        <a:buNone/>
                      </a:pPr>
                      <a:r>
                        <a:rPr lang="en-US"/>
                        <a:t>prop.test(correct = TRUE)</a:t>
                      </a:r>
                      <a:endParaRPr/>
                    </a:p>
                  </a:txBody>
                  <a:tcPr marL="91425" marR="91425" marT="91425" marB="91425"/>
                </a:tc>
                <a:extLst>
                  <a:ext uri="{0D108BD9-81ED-4DB2-BD59-A6C34878D82A}">
                    <a16:rowId xmlns:a16="http://schemas.microsoft.com/office/drawing/2014/main" val="10000"/>
                  </a:ext>
                </a:extLst>
              </a:tr>
              <a:tr h="752450">
                <a:tc>
                  <a:txBody>
                    <a:bodyPr/>
                    <a:lstStyle/>
                    <a:p>
                      <a:pPr marL="0" lvl="0" indent="0" algn="l" rtl="0">
                        <a:spcBef>
                          <a:spcPts val="0"/>
                        </a:spcBef>
                        <a:spcAft>
                          <a:spcPts val="0"/>
                        </a:spcAft>
                        <a:buNone/>
                      </a:pPr>
                      <a:r>
                        <a:rPr lang="en-US"/>
                        <a:t>p_value</a:t>
                      </a:r>
                      <a:endParaRPr/>
                    </a:p>
                  </a:txBody>
                  <a:tcPr marL="91425" marR="91425" marT="91425" marB="91425"/>
                </a:tc>
                <a:tc>
                  <a:txBody>
                    <a:bodyPr/>
                    <a:lstStyle/>
                    <a:p>
                      <a:pPr marL="0" lvl="0" indent="0" algn="l" rtl="0">
                        <a:spcBef>
                          <a:spcPts val="0"/>
                        </a:spcBef>
                        <a:spcAft>
                          <a:spcPts val="0"/>
                        </a:spcAft>
                        <a:buNone/>
                      </a:pPr>
                      <a:r>
                        <a:rPr lang="en-US"/>
                        <a:t>0.2880566</a:t>
                      </a:r>
                      <a:endParaRPr/>
                    </a:p>
                  </a:txBody>
                  <a:tcPr marL="91425" marR="91425" marT="91425" marB="91425"/>
                </a:tc>
                <a:tc>
                  <a:txBody>
                    <a:bodyPr/>
                    <a:lstStyle/>
                    <a:p>
                      <a:pPr marL="0" lvl="0" indent="0" algn="l" rtl="0">
                        <a:spcBef>
                          <a:spcPts val="0"/>
                        </a:spcBef>
                        <a:spcAft>
                          <a:spcPts val="0"/>
                        </a:spcAft>
                        <a:buNone/>
                      </a:pPr>
                      <a:r>
                        <a:rPr lang="en-US"/>
                        <a:t>0.2635525</a:t>
                      </a:r>
                      <a:endParaRPr/>
                    </a:p>
                  </a:txBody>
                  <a:tcPr marL="91425" marR="91425" marT="91425" marB="91425"/>
                </a:tc>
                <a:extLst>
                  <a:ext uri="{0D108BD9-81ED-4DB2-BD59-A6C34878D82A}">
                    <a16:rowId xmlns:a16="http://schemas.microsoft.com/office/drawing/2014/main" val="10001"/>
                  </a:ext>
                </a:extLst>
              </a:tr>
              <a:tr h="752450">
                <a:tc>
                  <a:txBody>
                    <a:bodyPr/>
                    <a:lstStyle/>
                    <a:p>
                      <a:pPr marL="0" lvl="0" indent="0" algn="l" rtl="0">
                        <a:spcBef>
                          <a:spcPts val="0"/>
                        </a:spcBef>
                        <a:spcAft>
                          <a:spcPts val="0"/>
                        </a:spcAft>
                        <a:buNone/>
                      </a:pPr>
                      <a:r>
                        <a:rPr lang="en-US"/>
                        <a:t>Kết luận</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Không bác bỏ H0</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solidFill>
                            <a:schemeClr val="dk1"/>
                          </a:solidFill>
                        </a:rPr>
                        <a:t>Không bác bỏ H0</a:t>
                      </a: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752450">
                <a:tc>
                  <a:txBody>
                    <a:bodyPr/>
                    <a:lstStyle/>
                    <a:p>
                      <a:pPr marL="0" lvl="0" indent="0" algn="l" rtl="0">
                        <a:spcBef>
                          <a:spcPts val="0"/>
                        </a:spcBef>
                        <a:spcAft>
                          <a:spcPts val="0"/>
                        </a:spcAft>
                        <a:buNone/>
                      </a:pPr>
                      <a:r>
                        <a:rPr lang="en-US"/>
                        <a:t>Khoảng tin cậy</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[0.1473, 0.2165]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 [0.1478, 0.2171]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4"/>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Fisher’s Exact Test</a:t>
            </a:r>
            <a:endParaRPr/>
          </a:p>
        </p:txBody>
      </p:sp>
      <p:sp>
        <p:nvSpPr>
          <p:cNvPr id="348" name="Google Shape;348;p54"/>
          <p:cNvSpPr txBox="1"/>
          <p:nvPr/>
        </p:nvSpPr>
        <p:spPr>
          <a:xfrm>
            <a:off x="990600" y="1504950"/>
            <a:ext cx="73152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0000"/>
                </a:solidFill>
                <a:latin typeface="Old Standard TT"/>
                <a:ea typeface="Old Standard TT"/>
                <a:cs typeface="Old Standard TT"/>
                <a:sym typeface="Old Standard TT"/>
              </a:rPr>
              <a:t>Bài toán: Cho hai phép thử ngẫu nhiên</a:t>
            </a:r>
            <a:endParaRPr sz="1800">
              <a:solidFill>
                <a:srgbClr val="000000"/>
              </a:solidFill>
              <a:latin typeface="Old Standard TT"/>
              <a:ea typeface="Old Standard TT"/>
              <a:cs typeface="Old Standard TT"/>
              <a:sym typeface="Old Standard TT"/>
            </a:endParaRPr>
          </a:p>
          <a:p>
            <a:pPr marL="0" marR="0" lvl="0" indent="0" algn="just" rtl="0">
              <a:spcBef>
                <a:spcPts val="0"/>
              </a:spcBef>
              <a:spcAft>
                <a:spcPts val="0"/>
              </a:spcAft>
              <a:buNone/>
            </a:pPr>
            <a:r>
              <a:rPr lang="en-US" sz="1800">
                <a:solidFill>
                  <a:srgbClr val="000000"/>
                </a:solidFill>
                <a:latin typeface="Old Standard TT"/>
                <a:ea typeface="Old Standard TT"/>
                <a:cs typeface="Old Standard TT"/>
                <a:sym typeface="Old Standard TT"/>
              </a:rPr>
              <a:t>Mẫu quan sát được cho bởi bảng. Với số lượng mẫu nhỏ, không xấp xỉ, cần  kiểm định </a:t>
            </a:r>
            <a:endParaRPr sz="1800">
              <a:solidFill>
                <a:schemeClr val="dk1"/>
              </a:solidFill>
              <a:latin typeface="Arial"/>
              <a:ea typeface="Arial"/>
              <a:cs typeface="Arial"/>
              <a:sym typeface="Arial"/>
            </a:endParaRPr>
          </a:p>
        </p:txBody>
      </p:sp>
      <p:pic>
        <p:nvPicPr>
          <p:cNvPr id="349" name="Google Shape;349;p54"/>
          <p:cNvPicPr preferRelativeResize="0"/>
          <p:nvPr/>
        </p:nvPicPr>
        <p:blipFill rotWithShape="1">
          <a:blip r:embed="rId3">
            <a:alphaModFix/>
          </a:blip>
          <a:srcRect/>
          <a:stretch/>
        </p:blipFill>
        <p:spPr>
          <a:xfrm>
            <a:off x="4963115" y="1575243"/>
            <a:ext cx="1524000" cy="268546"/>
          </a:xfrm>
          <a:prstGeom prst="rect">
            <a:avLst/>
          </a:prstGeom>
          <a:noFill/>
          <a:ln>
            <a:noFill/>
          </a:ln>
        </p:spPr>
      </p:pic>
      <p:pic>
        <p:nvPicPr>
          <p:cNvPr id="350" name="Google Shape;350;p54"/>
          <p:cNvPicPr preferRelativeResize="0"/>
          <p:nvPr/>
        </p:nvPicPr>
        <p:blipFill rotWithShape="1">
          <a:blip r:embed="rId4">
            <a:alphaModFix/>
          </a:blip>
          <a:srcRect/>
          <a:stretch/>
        </p:blipFill>
        <p:spPr>
          <a:xfrm>
            <a:off x="6487115" y="1584415"/>
            <a:ext cx="1452563" cy="250202"/>
          </a:xfrm>
          <a:prstGeom prst="rect">
            <a:avLst/>
          </a:prstGeom>
          <a:noFill/>
          <a:ln>
            <a:noFill/>
          </a:ln>
        </p:spPr>
      </p:pic>
      <p:pic>
        <p:nvPicPr>
          <p:cNvPr id="351" name="Google Shape;351;p54"/>
          <p:cNvPicPr preferRelativeResize="0"/>
          <p:nvPr/>
        </p:nvPicPr>
        <p:blipFill rotWithShape="1">
          <a:blip r:embed="rId5">
            <a:alphaModFix/>
          </a:blip>
          <a:srcRect/>
          <a:stretch/>
        </p:blipFill>
        <p:spPr>
          <a:xfrm>
            <a:off x="2286000" y="2631164"/>
            <a:ext cx="4329113" cy="1818694"/>
          </a:xfrm>
          <a:prstGeom prst="rect">
            <a:avLst/>
          </a:prstGeom>
          <a:noFill/>
          <a:ln>
            <a:noFill/>
          </a:ln>
        </p:spPr>
      </p:pic>
      <p:pic>
        <p:nvPicPr>
          <p:cNvPr id="352" name="Google Shape;352;p54"/>
          <p:cNvPicPr preferRelativeResize="0"/>
          <p:nvPr/>
        </p:nvPicPr>
        <p:blipFill rotWithShape="1">
          <a:blip r:embed="rId6">
            <a:alphaModFix/>
          </a:blip>
          <a:srcRect/>
          <a:stretch/>
        </p:blipFill>
        <p:spPr>
          <a:xfrm>
            <a:off x="2057400" y="2107170"/>
            <a:ext cx="1447800" cy="316706"/>
          </a:xfrm>
          <a:prstGeom prst="rect">
            <a:avLst/>
          </a:prstGeom>
          <a:noFill/>
          <a:ln>
            <a:noFill/>
          </a:ln>
        </p:spPr>
      </p:pic>
      <p:sp>
        <p:nvSpPr>
          <p:cNvPr id="353" name="Google Shape;353;p54"/>
          <p:cNvSpPr txBox="1"/>
          <p:nvPr/>
        </p:nvSpPr>
        <p:spPr>
          <a:xfrm>
            <a:off x="1030512" y="4264088"/>
            <a:ext cx="7467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55" descr="Hypergeometric PDF plot"/>
          <p:cNvPicPr preferRelativeResize="0"/>
          <p:nvPr/>
        </p:nvPicPr>
        <p:blipFill rotWithShape="1">
          <a:blip r:embed="rId3">
            <a:alphaModFix/>
          </a:blip>
          <a:srcRect/>
          <a:stretch/>
        </p:blipFill>
        <p:spPr>
          <a:xfrm>
            <a:off x="4724399" y="3146571"/>
            <a:ext cx="2133601" cy="1831168"/>
          </a:xfrm>
          <a:prstGeom prst="rect">
            <a:avLst/>
          </a:prstGeom>
          <a:noFill/>
          <a:ln>
            <a:noFill/>
          </a:ln>
        </p:spPr>
      </p:pic>
      <p:sp>
        <p:nvSpPr>
          <p:cNvPr id="359" name="Google Shape;359;p55"/>
          <p:cNvSpPr txBox="1"/>
          <p:nvPr/>
        </p:nvSpPr>
        <p:spPr>
          <a:xfrm>
            <a:off x="914400" y="1352550"/>
            <a:ext cx="7772400" cy="203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Bài toán cần kiểm định so sánh hai tỷ lệ, ta sẽ xét mẫu đã cho trên không gian mẫu có k (tổng các phép thử thành công) là giá trị cố định.</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Với giả thuyết H</a:t>
            </a:r>
            <a:r>
              <a:rPr lang="en-US" sz="1800" baseline="-25000">
                <a:solidFill>
                  <a:schemeClr val="dk1"/>
                </a:solidFill>
                <a:latin typeface="Arial"/>
                <a:ea typeface="Arial"/>
                <a:cs typeface="Arial"/>
                <a:sym typeface="Arial"/>
              </a:rPr>
              <a:t>0 </a:t>
            </a:r>
            <a:r>
              <a:rPr lang="en-US" sz="1800">
                <a:solidFill>
                  <a:schemeClr val="dk1"/>
                </a:solidFill>
                <a:latin typeface="Arial"/>
                <a:ea typeface="Arial"/>
                <a:cs typeface="Arial"/>
                <a:sym typeface="Arial"/>
              </a:rPr>
              <a: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baseline="-25000">
                <a:solidFill>
                  <a:schemeClr val="dk1"/>
                </a:solidFill>
                <a:latin typeface="Arial"/>
                <a:ea typeface="Arial"/>
                <a:cs typeface="Arial"/>
                <a:sym typeface="Arial"/>
              </a:rPr>
              <a:t>	</a:t>
            </a:r>
            <a:endParaRPr/>
          </a:p>
        </p:txBody>
      </p:sp>
      <p:pic>
        <p:nvPicPr>
          <p:cNvPr id="360" name="Google Shape;360;p55"/>
          <p:cNvPicPr preferRelativeResize="0"/>
          <p:nvPr/>
        </p:nvPicPr>
        <p:blipFill rotWithShape="1">
          <a:blip r:embed="rId4">
            <a:alphaModFix/>
          </a:blip>
          <a:srcRect/>
          <a:stretch/>
        </p:blipFill>
        <p:spPr>
          <a:xfrm>
            <a:off x="914400" y="2322046"/>
            <a:ext cx="7772401" cy="911719"/>
          </a:xfrm>
          <a:prstGeom prst="rect">
            <a:avLst/>
          </a:prstGeom>
          <a:noFill/>
          <a:ln>
            <a:noFill/>
          </a:ln>
        </p:spPr>
      </p:pic>
      <p:sp>
        <p:nvSpPr>
          <p:cNvPr id="361" name="Google Shape;361;p55"/>
          <p:cNvSpPr txBox="1"/>
          <p:nvPr/>
        </p:nvSpPr>
        <p:spPr>
          <a:xfrm>
            <a:off x="914400" y="3233765"/>
            <a:ext cx="32754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Phân bố trên được gọi là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phân bố siêu bội Hyper(m,n,k)</a:t>
            </a:r>
            <a:endParaRPr/>
          </a:p>
        </p:txBody>
      </p:sp>
      <p:sp>
        <p:nvSpPr>
          <p:cNvPr id="362" name="Google Shape;362;p55"/>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Fisher’s Exact Test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56"/>
          <p:cNvPicPr preferRelativeResize="0"/>
          <p:nvPr/>
        </p:nvPicPr>
        <p:blipFill rotWithShape="1">
          <a:blip r:embed="rId3">
            <a:alphaModFix/>
          </a:blip>
          <a:srcRect/>
          <a:stretch/>
        </p:blipFill>
        <p:spPr>
          <a:xfrm>
            <a:off x="1447800" y="2038350"/>
            <a:ext cx="6248399" cy="2555872"/>
          </a:xfrm>
          <a:prstGeom prst="rect">
            <a:avLst/>
          </a:prstGeom>
          <a:noFill/>
          <a:ln>
            <a:noFill/>
          </a:ln>
        </p:spPr>
      </p:pic>
      <p:sp>
        <p:nvSpPr>
          <p:cNvPr id="368" name="Google Shape;368;p56"/>
          <p:cNvSpPr txBox="1"/>
          <p:nvPr/>
        </p:nvSpPr>
        <p:spPr>
          <a:xfrm>
            <a:off x="685800" y="1275606"/>
            <a:ext cx="520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Với x là số phép thử thành công từ mẫu quan sát</a:t>
            </a:r>
            <a:endParaRPr/>
          </a:p>
        </p:txBody>
      </p:sp>
      <p:sp>
        <p:nvSpPr>
          <p:cNvPr id="369" name="Google Shape;369;p56"/>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Fisher’s Exact Test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57"/>
          <p:cNvPicPr preferRelativeResize="0"/>
          <p:nvPr/>
        </p:nvPicPr>
        <p:blipFill rotWithShape="1">
          <a:blip r:embed="rId3">
            <a:alphaModFix/>
          </a:blip>
          <a:srcRect/>
          <a:stretch/>
        </p:blipFill>
        <p:spPr>
          <a:xfrm>
            <a:off x="914400" y="2435424"/>
            <a:ext cx="6966568" cy="2110278"/>
          </a:xfrm>
          <a:prstGeom prst="rect">
            <a:avLst/>
          </a:prstGeom>
          <a:noFill/>
          <a:ln>
            <a:noFill/>
          </a:ln>
        </p:spPr>
      </p:pic>
      <p:sp>
        <p:nvSpPr>
          <p:cNvPr id="375" name="Google Shape;375;p57"/>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solidFill>
                  <a:schemeClr val="hlink"/>
                </a:solidFill>
              </a:rPr>
              <a:t>Fisher’s Exact Test</a:t>
            </a:r>
            <a:endParaRPr>
              <a:solidFill>
                <a:schemeClr val="hlink"/>
              </a:solidFill>
            </a:endParaRPr>
          </a:p>
        </p:txBody>
      </p:sp>
      <p:sp>
        <p:nvSpPr>
          <p:cNvPr id="376" name="Google Shape;376;p57"/>
          <p:cNvSpPr txBox="1">
            <a:spLocks noGrp="1"/>
          </p:cNvSpPr>
          <p:nvPr>
            <p:ph type="body" idx="2"/>
          </p:nvPr>
        </p:nvSpPr>
        <p:spPr>
          <a:xfrm>
            <a:off x="0" y="699542"/>
            <a:ext cx="9144000" cy="288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endParaRPr dirty="0"/>
          </a:p>
        </p:txBody>
      </p:sp>
      <p:sp>
        <p:nvSpPr>
          <p:cNvPr id="377" name="Google Shape;377;p57"/>
          <p:cNvSpPr txBox="1"/>
          <p:nvPr/>
        </p:nvSpPr>
        <p:spPr>
          <a:xfrm>
            <a:off x="990600" y="1504950"/>
            <a:ext cx="77220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Một</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nhà</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nghiên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cứu</a:t>
            </a:r>
            <a:r>
              <a:rPr lang="en-US" sz="1800" dirty="0">
                <a:solidFill>
                  <a:schemeClr val="dk1"/>
                </a:solidFill>
                <a:latin typeface="Arial"/>
                <a:ea typeface="Arial"/>
                <a:cs typeface="Arial"/>
                <a:sym typeface="Arial"/>
              </a:rPr>
              <a:t> so </a:t>
            </a:r>
            <a:r>
              <a:rPr lang="en-US" sz="1800" dirty="0" err="1">
                <a:solidFill>
                  <a:schemeClr val="dk1"/>
                </a:solidFill>
                <a:latin typeface="Arial"/>
                <a:ea typeface="Arial"/>
                <a:cs typeface="Arial"/>
                <a:sym typeface="Arial"/>
              </a:rPr>
              <a:t>sánh</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tỷ</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lệ</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số</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người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đeo</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kính</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trong</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2 </a:t>
            </a:r>
            <a:r>
              <a:rPr lang="en-US" sz="1800" dirty="0" err="1">
                <a:solidFill>
                  <a:schemeClr val="dk1"/>
                </a:solidFill>
                <a:latin typeface="Arial"/>
                <a:ea typeface="Arial"/>
                <a:cs typeface="Arial"/>
                <a:sym typeface="Arial"/>
              </a:rPr>
              <a:t>nhóm</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tội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phạm</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và</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không</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phải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là</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tội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phạm</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Cần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kiểm</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định</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giả</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thuyết</a:t>
            </a:r>
            <a:r>
              <a:rPr lang="en-US" sz="1800" dirty="0">
                <a:solidFill>
                  <a:schemeClr val="dk1"/>
                </a:solidFill>
                <a:latin typeface="Arial"/>
                <a:ea typeface="Arial"/>
                <a:cs typeface="Arial"/>
                <a:sym typeface="Arial"/>
              </a:rPr>
              <a:t> 2 </a:t>
            </a:r>
            <a:r>
              <a:rPr lang="en-US" sz="1800" dirty="0" err="1">
                <a:solidFill>
                  <a:schemeClr val="dk1"/>
                </a:solidFill>
                <a:latin typeface="Arial"/>
                <a:ea typeface="Arial"/>
                <a:cs typeface="Arial"/>
                <a:sym typeface="Arial"/>
              </a:rPr>
              <a:t>tỷ</a:t>
            </a:r>
            <a:endParaRPr dirty="0"/>
          </a:p>
          <a:p>
            <a:pPr marL="0" marR="0" lvl="0" indent="0" algn="l" rtl="0">
              <a:spcBef>
                <a:spcPts val="0"/>
              </a:spcBef>
              <a:spcAft>
                <a:spcPts val="0"/>
              </a:spcAft>
              <a:buNone/>
            </a:pPr>
            <a:r>
              <a:rPr lang="en-US" sz="1800" dirty="0" err="1">
                <a:solidFill>
                  <a:schemeClr val="dk1"/>
                </a:solidFill>
                <a:latin typeface="Arial"/>
                <a:ea typeface="Arial"/>
                <a:cs typeface="Arial"/>
                <a:sym typeface="Arial"/>
              </a:rPr>
              <a:t>lệ</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này</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có</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khác</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nhau</a:t>
            </a:r>
            <a:r>
              <a:rPr lang="en-US" sz="1800" dirty="0">
                <a:solidFill>
                  <a:schemeClr val="dk1"/>
                </a:solidFill>
                <a:latin typeface="Arial"/>
                <a:ea typeface="Arial"/>
                <a:cs typeface="Arial"/>
                <a:sym typeface="Arial"/>
              </a:rPr>
              <a:t> hay </a:t>
            </a:r>
            <a:r>
              <a:rPr lang="en-US" sz="1800" dirty="0" err="1">
                <a:solidFill>
                  <a:schemeClr val="dk1"/>
                </a:solidFill>
                <a:latin typeface="Arial"/>
                <a:ea typeface="Arial"/>
                <a:cs typeface="Arial"/>
                <a:sym typeface="Arial"/>
              </a:rPr>
              <a:t>không</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với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mức</a:t>
            </a:r>
            <a:r>
              <a:rPr lang="en-US" sz="1800" dirty="0">
                <a:solidFill>
                  <a:schemeClr val="dk1"/>
                </a:solidFill>
                <a:latin typeface="Arial"/>
                <a:ea typeface="Arial"/>
                <a:cs typeface="Arial"/>
                <a:sym typeface="Arial"/>
              </a:rPr>
              <a:t> ý </a:t>
            </a:r>
            <a:r>
              <a:rPr lang="en-US" sz="1800" dirty="0" err="1">
                <a:solidFill>
                  <a:schemeClr val="dk1"/>
                </a:solidFill>
                <a:latin typeface="Arial"/>
                <a:ea typeface="Arial"/>
                <a:cs typeface="Arial"/>
                <a:sym typeface="Arial"/>
              </a:rPr>
              <a:t>nghĩa</a:t>
            </a:r>
            <a:r>
              <a:rPr lang="en-US" sz="1800" dirty="0">
                <a:solidFill>
                  <a:schemeClr val="dk1"/>
                </a:solidFill>
                <a:latin typeface="Arial"/>
                <a:ea typeface="Arial"/>
                <a:cs typeface="Arial"/>
                <a:sym typeface="Arial"/>
              </a:rPr>
              <a:t> 5%</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5" name="Google Shape;395;p59"/>
          <p:cNvPicPr preferRelativeResize="0"/>
          <p:nvPr/>
        </p:nvPicPr>
        <p:blipFill rotWithShape="1">
          <a:blip r:embed="rId3">
            <a:alphaModFix/>
          </a:blip>
          <a:srcRect/>
          <a:stretch/>
        </p:blipFill>
        <p:spPr>
          <a:xfrm>
            <a:off x="2035968" y="797847"/>
            <a:ext cx="4808018" cy="33023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0"/>
          <p:cNvSpPr txBox="1"/>
          <p:nvPr/>
        </p:nvSpPr>
        <p:spPr>
          <a:xfrm>
            <a:off x="762000" y="1352550"/>
            <a:ext cx="7734900" cy="6465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Với số mẫu lớn, việc tính tổng các xác suất rời rạc mất nhiều thời gian</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Có thể xấp xỉ về phân bố chuẩn với sai số nhỏ (do kích cỡ mẫu lớn)</a:t>
            </a:r>
            <a:endParaRPr/>
          </a:p>
        </p:txBody>
      </p:sp>
      <p:sp>
        <p:nvSpPr>
          <p:cNvPr id="409" name="Google Shape;409;p60"/>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Proportion Test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414" name="Google Shape;414;p61"/>
          <p:cNvPicPr preferRelativeResize="0"/>
          <p:nvPr/>
        </p:nvPicPr>
        <p:blipFill rotWithShape="1">
          <a:blip r:embed="rId3">
            <a:alphaModFix/>
          </a:blip>
          <a:srcRect/>
          <a:stretch/>
        </p:blipFill>
        <p:spPr>
          <a:xfrm>
            <a:off x="91709" y="1428750"/>
            <a:ext cx="4374357" cy="2669000"/>
          </a:xfrm>
          <a:prstGeom prst="rect">
            <a:avLst/>
          </a:prstGeom>
          <a:noFill/>
          <a:ln>
            <a:noFill/>
          </a:ln>
        </p:spPr>
      </p:pic>
      <p:pic>
        <p:nvPicPr>
          <p:cNvPr id="415" name="Google Shape;415;p61"/>
          <p:cNvPicPr preferRelativeResize="0"/>
          <p:nvPr/>
        </p:nvPicPr>
        <p:blipFill rotWithShape="1">
          <a:blip r:embed="rId4">
            <a:alphaModFix/>
          </a:blip>
          <a:srcRect/>
          <a:stretch/>
        </p:blipFill>
        <p:spPr>
          <a:xfrm>
            <a:off x="4542329" y="2078020"/>
            <a:ext cx="4343400" cy="2019730"/>
          </a:xfrm>
          <a:prstGeom prst="rect">
            <a:avLst/>
          </a:prstGeom>
          <a:noFill/>
          <a:ln>
            <a:noFill/>
          </a:ln>
        </p:spPr>
      </p:pic>
      <p:sp>
        <p:nvSpPr>
          <p:cNvPr id="416" name="Google Shape;416;p61"/>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Proportion Test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2"/>
          <p:cNvSpPr txBox="1">
            <a:spLocks noGrp="1"/>
          </p:cNvSpPr>
          <p:nvPr>
            <p:ph type="body" idx="2"/>
          </p:nvPr>
        </p:nvSpPr>
        <p:spPr>
          <a:xfrm>
            <a:off x="0" y="699542"/>
            <a:ext cx="9144000" cy="288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r>
              <a:rPr lang="en-US"/>
              <a:t>Example</a:t>
            </a:r>
            <a:endParaRPr/>
          </a:p>
        </p:txBody>
      </p:sp>
      <p:sp>
        <p:nvSpPr>
          <p:cNvPr id="422" name="Google Shape;422;p62"/>
          <p:cNvSpPr txBox="1"/>
          <p:nvPr/>
        </p:nvSpPr>
        <p:spPr>
          <a:xfrm>
            <a:off x="457200" y="1352550"/>
            <a:ext cx="88314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err="1">
                <a:solidFill>
                  <a:schemeClr val="dk1"/>
                </a:solidFill>
                <a:latin typeface="Arial"/>
                <a:ea typeface="Arial"/>
                <a:cs typeface="Arial"/>
                <a:sym typeface="Arial"/>
              </a:rPr>
              <a:t>Để</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kiểm</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định</a:t>
            </a:r>
            <a:r>
              <a:rPr lang="en-US" sz="1800" dirty="0">
                <a:solidFill>
                  <a:schemeClr val="dk1"/>
                </a:solidFill>
                <a:latin typeface="Arial"/>
                <a:ea typeface="Arial"/>
                <a:cs typeface="Arial"/>
                <a:sym typeface="Arial"/>
              </a:rPr>
              <a:t> aspirin </a:t>
            </a:r>
            <a:r>
              <a:rPr lang="en-US" sz="1800" dirty="0" err="1">
                <a:solidFill>
                  <a:schemeClr val="dk1"/>
                </a:solidFill>
                <a:latin typeface="Arial"/>
                <a:ea typeface="Arial"/>
                <a:cs typeface="Arial"/>
                <a:sym typeface="Arial"/>
              </a:rPr>
              <a:t>có</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thể</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chống</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lại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đau</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tim</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một</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nghiên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cứu</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được</a:t>
            </a:r>
            <a:endParaRPr dirty="0"/>
          </a:p>
          <a:p>
            <a:pPr marL="0" marR="0" lvl="0" indent="0" algn="l" rtl="0">
              <a:spcBef>
                <a:spcPts val="0"/>
              </a:spcBef>
              <a:spcAft>
                <a:spcPts val="0"/>
              </a:spcAft>
              <a:buNone/>
            </a:pPr>
            <a:r>
              <a:rPr lang="en-US" sz="1800" dirty="0" err="1">
                <a:solidFill>
                  <a:schemeClr val="dk1"/>
                </a:solidFill>
                <a:latin typeface="Arial"/>
                <a:ea typeface="Arial"/>
                <a:cs typeface="Arial"/>
                <a:sym typeface="Arial"/>
              </a:rPr>
              <a:t>thực</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hiện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và</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cho</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kết</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quả</a:t>
            </a:r>
            <a:r>
              <a:rPr lang="en-US" sz="1800" dirty="0">
                <a:solidFill>
                  <a:schemeClr val="dk1"/>
                </a:solidFill>
                <a:latin typeface="Arial"/>
                <a:ea typeface="Arial"/>
                <a:cs typeface="Arial"/>
                <a:sym typeface="Arial"/>
              </a:rPr>
              <a:t> ở </a:t>
            </a:r>
            <a:r>
              <a:rPr lang="en-US" sz="1800" dirty="0" err="1">
                <a:solidFill>
                  <a:schemeClr val="dk1"/>
                </a:solidFill>
                <a:latin typeface="Arial"/>
                <a:ea typeface="Arial"/>
                <a:cs typeface="Arial"/>
                <a:sym typeface="Arial"/>
              </a:rPr>
              <a:t>bảng</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Hỏi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với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mức</a:t>
            </a:r>
            <a:r>
              <a:rPr lang="en-US" sz="1800" dirty="0">
                <a:solidFill>
                  <a:schemeClr val="dk1"/>
                </a:solidFill>
                <a:latin typeface="Arial"/>
                <a:ea typeface="Arial"/>
                <a:cs typeface="Arial"/>
                <a:sym typeface="Arial"/>
              </a:rPr>
              <a:t> ý </a:t>
            </a:r>
            <a:r>
              <a:rPr lang="en-US" sz="1800" dirty="0" err="1">
                <a:solidFill>
                  <a:schemeClr val="dk1"/>
                </a:solidFill>
                <a:latin typeface="Arial"/>
                <a:ea typeface="Arial"/>
                <a:cs typeface="Arial"/>
                <a:sym typeface="Arial"/>
              </a:rPr>
              <a:t>nghĩa</a:t>
            </a:r>
            <a:r>
              <a:rPr lang="en-US" sz="1800" dirty="0">
                <a:solidFill>
                  <a:schemeClr val="dk1"/>
                </a:solidFill>
                <a:latin typeface="Arial"/>
                <a:ea typeface="Arial"/>
                <a:cs typeface="Arial"/>
                <a:sym typeface="Arial"/>
              </a:rPr>
              <a:t> 5% </a:t>
            </a:r>
            <a:r>
              <a:rPr lang="en-US" sz="1800" dirty="0" err="1">
                <a:solidFill>
                  <a:schemeClr val="dk1"/>
                </a:solidFill>
                <a:latin typeface="Arial"/>
                <a:ea typeface="Arial"/>
                <a:cs typeface="Arial"/>
                <a:sym typeface="Arial"/>
              </a:rPr>
              <a:t>có</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thể</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kết</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luận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được</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giả</a:t>
            </a:r>
            <a:endParaRPr dirty="0"/>
          </a:p>
          <a:p>
            <a:pPr marL="0" marR="0" lvl="0" indent="0" algn="l" rtl="0">
              <a:spcBef>
                <a:spcPts val="0"/>
              </a:spcBef>
              <a:spcAft>
                <a:spcPts val="0"/>
              </a:spcAft>
              <a:buNone/>
            </a:pPr>
            <a:r>
              <a:rPr lang="en-US" sz="1800" dirty="0" err="1">
                <a:solidFill>
                  <a:schemeClr val="dk1"/>
                </a:solidFill>
                <a:latin typeface="Arial"/>
                <a:ea typeface="Arial"/>
                <a:cs typeface="Arial"/>
                <a:sym typeface="Arial"/>
              </a:rPr>
              <a:t>thuyết</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đó</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không</a:t>
            </a:r>
            <a:r>
              <a:rPr lang="en-US" sz="1800" dirty="0">
                <a:solidFill>
                  <a:schemeClr val="dk1"/>
                </a:solidFill>
                <a:latin typeface="Arial"/>
                <a:ea typeface="Arial"/>
                <a:cs typeface="Arial"/>
                <a:sym typeface="Arial"/>
              </a:rPr>
              <a:t>.  )&lt; / &gt;=(h0)</a:t>
            </a:r>
            <a:endParaRPr dirty="0"/>
          </a:p>
        </p:txBody>
      </p:sp>
      <p:pic>
        <p:nvPicPr>
          <p:cNvPr id="423" name="Google Shape;423;p62"/>
          <p:cNvPicPr preferRelativeResize="0"/>
          <p:nvPr/>
        </p:nvPicPr>
        <p:blipFill rotWithShape="1">
          <a:blip r:embed="rId3">
            <a:alphaModFix/>
          </a:blip>
          <a:srcRect/>
          <a:stretch/>
        </p:blipFill>
        <p:spPr>
          <a:xfrm>
            <a:off x="2247900" y="2666312"/>
            <a:ext cx="4648200" cy="1944730"/>
          </a:xfrm>
          <a:prstGeom prst="rect">
            <a:avLst/>
          </a:prstGeom>
          <a:noFill/>
          <a:ln>
            <a:noFill/>
          </a:ln>
        </p:spPr>
      </p:pic>
      <p:sp>
        <p:nvSpPr>
          <p:cNvPr id="424" name="Google Shape;424;p62"/>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hlink"/>
              </a:buClr>
              <a:buSzPts val="3600"/>
              <a:buNone/>
            </a:pPr>
            <a:r>
              <a:rPr lang="en-US">
                <a:solidFill>
                  <a:schemeClr val="hlink"/>
                </a:solidFill>
              </a:rPr>
              <a:t>Proportion Test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3"/>
          <p:cNvSpPr txBox="1"/>
          <p:nvPr/>
        </p:nvSpPr>
        <p:spPr>
          <a:xfrm>
            <a:off x="488894" y="616589"/>
            <a:ext cx="2211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Bài toán kiểm định:</a:t>
            </a:r>
            <a:endParaRPr/>
          </a:p>
        </p:txBody>
      </p:sp>
      <p:pic>
        <p:nvPicPr>
          <p:cNvPr id="430" name="Google Shape;430;p63"/>
          <p:cNvPicPr preferRelativeResize="0"/>
          <p:nvPr/>
        </p:nvPicPr>
        <p:blipFill rotWithShape="1">
          <a:blip r:embed="rId3">
            <a:alphaModFix/>
          </a:blip>
          <a:srcRect/>
          <a:stretch/>
        </p:blipFill>
        <p:spPr>
          <a:xfrm>
            <a:off x="2545234" y="557025"/>
            <a:ext cx="3962400" cy="423333"/>
          </a:xfrm>
          <a:prstGeom prst="rect">
            <a:avLst/>
          </a:prstGeom>
          <a:noFill/>
          <a:ln>
            <a:noFill/>
          </a:ln>
        </p:spPr>
      </p:pic>
      <p:pic>
        <p:nvPicPr>
          <p:cNvPr id="431" name="Google Shape;431;p63"/>
          <p:cNvPicPr preferRelativeResize="0"/>
          <p:nvPr/>
        </p:nvPicPr>
        <p:blipFill rotWithShape="1">
          <a:blip r:embed="rId4">
            <a:alphaModFix/>
          </a:blip>
          <a:srcRect/>
          <a:stretch/>
        </p:blipFill>
        <p:spPr>
          <a:xfrm>
            <a:off x="2584634" y="1181839"/>
            <a:ext cx="2012991" cy="698724"/>
          </a:xfrm>
          <a:prstGeom prst="rect">
            <a:avLst/>
          </a:prstGeom>
          <a:noFill/>
          <a:ln>
            <a:noFill/>
          </a:ln>
        </p:spPr>
      </p:pic>
      <p:sp>
        <p:nvSpPr>
          <p:cNvPr id="432" name="Google Shape;432;p63"/>
          <p:cNvSpPr txBox="1"/>
          <p:nvPr/>
        </p:nvSpPr>
        <p:spPr>
          <a:xfrm>
            <a:off x="482825" y="1407140"/>
            <a:ext cx="1095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Đổi biến:</a:t>
            </a:r>
            <a:endParaRPr/>
          </a:p>
        </p:txBody>
      </p:sp>
      <p:pic>
        <p:nvPicPr>
          <p:cNvPr id="433" name="Google Shape;433;p63"/>
          <p:cNvPicPr preferRelativeResize="0"/>
          <p:nvPr/>
        </p:nvPicPr>
        <p:blipFill rotWithShape="1">
          <a:blip r:embed="rId5">
            <a:alphaModFix/>
          </a:blip>
          <a:srcRect/>
          <a:stretch/>
        </p:blipFill>
        <p:spPr>
          <a:xfrm>
            <a:off x="495637" y="2014479"/>
            <a:ext cx="3549706" cy="1978319"/>
          </a:xfrm>
          <a:prstGeom prst="rect">
            <a:avLst/>
          </a:prstGeom>
          <a:noFill/>
          <a:ln>
            <a:noFill/>
          </a:ln>
        </p:spPr>
      </p:pic>
      <p:pic>
        <p:nvPicPr>
          <p:cNvPr id="434" name="Google Shape;434;p63"/>
          <p:cNvPicPr preferRelativeResize="0"/>
          <p:nvPr/>
        </p:nvPicPr>
        <p:blipFill rotWithShape="1">
          <a:blip r:embed="rId6">
            <a:alphaModFix/>
          </a:blip>
          <a:srcRect/>
          <a:stretch/>
        </p:blipFill>
        <p:spPr>
          <a:xfrm>
            <a:off x="4558127" y="1908449"/>
            <a:ext cx="3284019" cy="1993661"/>
          </a:xfrm>
          <a:prstGeom prst="rect">
            <a:avLst/>
          </a:prstGeom>
          <a:noFill/>
          <a:ln>
            <a:noFill/>
          </a:ln>
        </p:spPr>
      </p:pic>
      <p:sp>
        <p:nvSpPr>
          <p:cNvPr id="435" name="Google Shape;435;p63"/>
          <p:cNvSpPr txBox="1"/>
          <p:nvPr/>
        </p:nvSpPr>
        <p:spPr>
          <a:xfrm>
            <a:off x="1586233" y="4126714"/>
            <a:ext cx="6414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z</a:t>
            </a:r>
            <a:r>
              <a:rPr lang="en-US" sz="1800" baseline="-25000">
                <a:solidFill>
                  <a:schemeClr val="dk1"/>
                </a:solidFill>
                <a:latin typeface="Arial"/>
                <a:ea typeface="Arial"/>
                <a:cs typeface="Arial"/>
                <a:sym typeface="Arial"/>
              </a:rPr>
              <a:t>obs</a:t>
            </a:r>
            <a:r>
              <a:rPr lang="en-US" sz="1800">
                <a:solidFill>
                  <a:schemeClr val="dk1"/>
                </a:solidFill>
                <a:latin typeface="Arial"/>
                <a:ea typeface="Arial"/>
                <a:cs typeface="Arial"/>
                <a:sym typeface="Arial"/>
              </a:rPr>
              <a:t>&lt; z</a:t>
            </a:r>
            <a:r>
              <a:rPr lang="en-US" sz="1800" baseline="-25000">
                <a:solidFill>
                  <a:schemeClr val="dk1"/>
                </a:solidFill>
                <a:latin typeface="Arial"/>
                <a:ea typeface="Arial"/>
                <a:cs typeface="Arial"/>
                <a:sym typeface="Arial"/>
              </a:rPr>
              <a:t>0.05</a:t>
            </a:r>
            <a:r>
              <a:rPr lang="en-US" sz="1800">
                <a:solidFill>
                  <a:schemeClr val="dk1"/>
                </a:solidFill>
                <a:latin typeface="Arial"/>
                <a:ea typeface="Arial"/>
                <a:cs typeface="Arial"/>
                <a:sym typeface="Arial"/>
              </a:rPr>
              <a:t>, p-value ~ 10</a:t>
            </a:r>
            <a:r>
              <a:rPr lang="en-US" sz="1800" baseline="30000">
                <a:solidFill>
                  <a:schemeClr val="dk1"/>
                </a:solidFill>
                <a:latin typeface="Arial"/>
                <a:ea typeface="Arial"/>
                <a:cs typeface="Arial"/>
                <a:sym typeface="Arial"/>
              </a:rPr>
              <a:t>-7 </a:t>
            </a:r>
            <a:r>
              <a:rPr lang="en-US" sz="1800">
                <a:solidFill>
                  <a:schemeClr val="dk1"/>
                </a:solidFill>
                <a:latin typeface="Arial"/>
                <a:ea typeface="Arial"/>
                <a:cs typeface="Arial"/>
                <a:sym typeface="Arial"/>
              </a:rPr>
              <a:t>nên có thể bác bỏ H</a:t>
            </a:r>
            <a:r>
              <a:rPr lang="en-US" sz="1800" baseline="-25000">
                <a:solidFill>
                  <a:schemeClr val="dk1"/>
                </a:solidFill>
                <a:latin typeface="Arial"/>
                <a:ea typeface="Arial"/>
                <a:cs typeface="Arial"/>
                <a:sym typeface="Arial"/>
              </a:rPr>
              <a:t>0</a:t>
            </a:r>
            <a:r>
              <a:rPr lang="en-US" sz="1800">
                <a:solidFill>
                  <a:schemeClr val="dk1"/>
                </a:solidFill>
                <a:latin typeface="Arial"/>
                <a:ea typeface="Arial"/>
                <a:cs typeface="Arial"/>
                <a:sym typeface="Arial"/>
              </a:rPr>
              <a:t>, chấp nhận H</a:t>
            </a:r>
            <a:r>
              <a:rPr lang="en-US" sz="1800" baseline="-25000">
                <a:solidFill>
                  <a:schemeClr val="dk1"/>
                </a:solidFill>
                <a:latin typeface="Arial"/>
                <a:ea typeface="Arial"/>
                <a:cs typeface="Arial"/>
                <a:sym typeface="Arial"/>
              </a:rPr>
              <a:t>1</a:t>
            </a:r>
            <a:endParaRPr sz="1800">
              <a:solidFill>
                <a:schemeClr val="dk1"/>
              </a:solidFill>
              <a:latin typeface="Arial"/>
              <a:ea typeface="Arial"/>
              <a:cs typeface="Arial"/>
              <a:sym typeface="Arial"/>
            </a:endParaRPr>
          </a:p>
        </p:txBody>
      </p:sp>
      <p:sp>
        <p:nvSpPr>
          <p:cNvPr id="436" name="Google Shape;436;p63"/>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hlink"/>
              </a:buClr>
              <a:buSzPts val="3600"/>
              <a:buNone/>
            </a:pPr>
            <a:r>
              <a:rPr lang="en-US">
                <a:solidFill>
                  <a:schemeClr val="hlink"/>
                </a:solidFill>
              </a:rPr>
              <a:t>Proportion Test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a:stretch/>
        </p:blipFill>
        <p:spPr>
          <a:xfrm>
            <a:off x="1371599" y="1123950"/>
            <a:ext cx="6711974" cy="3287232"/>
          </a:xfrm>
          <a:prstGeom prst="rect">
            <a:avLst/>
          </a:prstGeom>
          <a:noFill/>
          <a:ln>
            <a:noFill/>
          </a:ln>
        </p:spPr>
      </p:pic>
      <p:sp>
        <p:nvSpPr>
          <p:cNvPr id="442" name="Google Shape;442;p64"/>
          <p:cNvSpPr txBox="1">
            <a:spLocks noGrp="1"/>
          </p:cNvSpPr>
          <p:nvPr>
            <p:ph type="body" idx="1"/>
          </p:nvPr>
        </p:nvSpPr>
        <p:spPr>
          <a:xfrm>
            <a:off x="0" y="123478"/>
            <a:ext cx="9144000" cy="576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hlink"/>
              </a:buClr>
              <a:buSzPts val="3600"/>
              <a:buNone/>
            </a:pPr>
            <a:r>
              <a:rPr lang="en-US">
                <a:solidFill>
                  <a:schemeClr val="hlink"/>
                </a:solidFill>
              </a:rPr>
              <a:t>Proportion Test</a:t>
            </a:r>
            <a:endParaRPr/>
          </a:p>
        </p:txBody>
      </p:sp>
    </p:spTree>
  </p:cSld>
  <p:clrMapOvr>
    <a:masterClrMapping/>
  </p:clrMapOvr>
</p:sld>
</file>

<file path=ppt/theme/theme1.xml><?xml version="1.0" encoding="utf-8"?>
<a:theme xmlns:a="http://schemas.openxmlformats.org/drawingml/2006/main" name="Contents Slide Master">
  <a:themeElements>
    <a:clrScheme name="ALLPPT-COLOR-A23">
      <a:dk1>
        <a:srgbClr val="000000"/>
      </a:dk1>
      <a:lt1>
        <a:srgbClr val="FFFFFF"/>
      </a:lt1>
      <a:dk2>
        <a:srgbClr val="1F497D"/>
      </a:dk2>
      <a:lt2>
        <a:srgbClr val="EEECE1"/>
      </a:lt2>
      <a:accent1>
        <a:srgbClr val="F8B2A3"/>
      </a:accent1>
      <a:accent2>
        <a:srgbClr val="A4B4EA"/>
      </a:accent2>
      <a:accent3>
        <a:srgbClr val="9AD3E9"/>
      </a:accent3>
      <a:accent4>
        <a:srgbClr val="98DFBB"/>
      </a:accent4>
      <a:accent5>
        <a:srgbClr val="CBCBCB"/>
      </a:accent5>
      <a:accent6>
        <a:srgbClr val="576868"/>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920</Words>
  <Application>Microsoft Office PowerPoint</Application>
  <PresentationFormat>On-screen Show (16:9)</PresentationFormat>
  <Paragraphs>110</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Trebuchet MS</vt:lpstr>
      <vt:lpstr>Malgun Gothic</vt:lpstr>
      <vt:lpstr>Wingdings 3</vt:lpstr>
      <vt:lpstr>Old Standard TT</vt:lpstr>
      <vt:lpstr>Contents Slide Master</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6</cp:revision>
  <dcterms:modified xsi:type="dcterms:W3CDTF">2026-03-16T13:57:30Z</dcterms:modified>
</cp:coreProperties>
</file>