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694591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433389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95561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BB9728-C4B3-41A6-B21C-D8AE535A74E0}"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564386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BB9728-C4B3-41A6-B21C-D8AE535A74E0}"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6203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BB9728-C4B3-41A6-B21C-D8AE535A74E0}"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292258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BB9728-C4B3-41A6-B21C-D8AE535A74E0}"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348468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FBB9728-C4B3-41A6-B21C-D8AE535A74E0}"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65056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FBB9728-C4B3-41A6-B21C-D8AE535A74E0}"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997913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482504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665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401213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8147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3756231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3939317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BB9728-C4B3-41A6-B21C-D8AE535A74E0}"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120B7-7B53-479E-8F50-752AACEEC931}" type="slidenum">
              <a:rPr lang="en-US" smtClean="0"/>
              <a:t>‹#›</a:t>
            </a:fld>
            <a:endParaRPr lang="en-US"/>
          </a:p>
        </p:txBody>
      </p:sp>
    </p:spTree>
    <p:extLst>
      <p:ext uri="{BB962C8B-B14F-4D97-AF65-F5344CB8AC3E}">
        <p14:creationId xmlns:p14="http://schemas.microsoft.com/office/powerpoint/2010/main" val="1018889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FBB9728-C4B3-41A6-B21C-D8AE535A74E0}" type="datetimeFigureOut">
              <a:rPr lang="en-US" smtClean="0"/>
              <a:t>3/16/2026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98120B7-7B53-479E-8F50-752AACEEC931}" type="slidenum">
              <a:rPr lang="en-US" smtClean="0"/>
              <a:t>‹#›</a:t>
            </a:fld>
            <a:endParaRPr lang="en-US"/>
          </a:p>
        </p:txBody>
      </p:sp>
    </p:spTree>
    <p:extLst>
      <p:ext uri="{BB962C8B-B14F-4D97-AF65-F5344CB8AC3E}">
        <p14:creationId xmlns:p14="http://schemas.microsoft.com/office/powerpoint/2010/main" val="238616945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63903-52C9-4B27-83AB-53C4505B2C31}"/>
              </a:ext>
            </a:extLst>
          </p:cNvPr>
          <p:cNvSpPr>
            <a:spLocks noGrp="1"/>
          </p:cNvSpPr>
          <p:nvPr>
            <p:ph type="ctrTitle"/>
          </p:nvPr>
        </p:nvSpPr>
        <p:spPr/>
        <p:txBody>
          <a:bodyPr>
            <a:normAutofit fontScale="90000"/>
          </a:bodyPr>
          <a:lstStyle/>
          <a:p>
            <a:br>
              <a:rPr lang="en-US" b="1" dirty="0">
                <a:solidFill>
                  <a:srgbClr val="0070C0"/>
                </a:solidFill>
                <a:latin typeface="Times New Roman" panose="02020603050405020304" pitchFamily="18" charset="0"/>
                <a:cs typeface="Times New Roman" panose="02020603050405020304" pitchFamily="18" charset="0"/>
              </a:rPr>
            </a:br>
            <a:br>
              <a:rPr lang="en-US" b="1" dirty="0">
                <a:solidFill>
                  <a:srgbClr val="0070C0"/>
                </a:solidFill>
                <a:latin typeface="Times New Roman" panose="02020603050405020304" pitchFamily="18" charset="0"/>
                <a:cs typeface="Times New Roman" panose="02020603050405020304" pitchFamily="18" charset="0"/>
              </a:rPr>
            </a:br>
            <a:br>
              <a:rPr lang="en-US" b="1" dirty="0">
                <a:solidFill>
                  <a:srgbClr val="0070C0"/>
                </a:solidFill>
                <a:latin typeface="Times New Roman" panose="02020603050405020304" pitchFamily="18" charset="0"/>
                <a:cs typeface="Times New Roman" panose="02020603050405020304" pitchFamily="18" charset="0"/>
              </a:rPr>
            </a:br>
            <a:br>
              <a:rPr lang="en-US" b="1" dirty="0">
                <a:solidFill>
                  <a:srgbClr val="0070C0"/>
                </a:solidFill>
                <a:latin typeface="Times New Roman" panose="02020603050405020304" pitchFamily="18" charset="0"/>
                <a:cs typeface="Times New Roman" panose="02020603050405020304" pitchFamily="18" charset="0"/>
              </a:rPr>
            </a:br>
            <a:br>
              <a:rPr lang="en-US" b="1" dirty="0">
                <a:solidFill>
                  <a:srgbClr val="0070C0"/>
                </a:solidFill>
                <a:latin typeface="Times New Roman" panose="02020603050405020304" pitchFamily="18" charset="0"/>
                <a:cs typeface="Times New Roman" panose="02020603050405020304" pitchFamily="18" charset="0"/>
              </a:rPr>
            </a:br>
            <a:r>
              <a:rPr lang="en-US" b="1" dirty="0">
                <a:solidFill>
                  <a:srgbClr val="0070C0"/>
                </a:solidFill>
                <a:latin typeface="Times New Roman" panose="02020603050405020304" pitchFamily="18" charset="0"/>
                <a:cs typeface="Times New Roman" panose="02020603050405020304" pitchFamily="18" charset="0"/>
              </a:rPr>
              <a:t>PHÂN TÍCH PH</a:t>
            </a:r>
            <a:r>
              <a:rPr lang="vi-VN" b="1" dirty="0">
                <a:solidFill>
                  <a:srgbClr val="0070C0"/>
                </a:solidFill>
                <a:latin typeface="Times New Roman" panose="02020603050405020304" pitchFamily="18" charset="0"/>
                <a:cs typeface="Times New Roman" panose="02020603050405020304" pitchFamily="18" charset="0"/>
              </a:rPr>
              <a:t>Ư</a:t>
            </a:r>
            <a:r>
              <a:rPr lang="en-US" b="1" dirty="0">
                <a:solidFill>
                  <a:srgbClr val="0070C0"/>
                </a:solidFill>
                <a:latin typeface="Times New Roman" panose="02020603050405020304" pitchFamily="18" charset="0"/>
                <a:cs typeface="Times New Roman" panose="02020603050405020304" pitchFamily="18" charset="0"/>
              </a:rPr>
              <a:t>ƠNG SAI</a:t>
            </a:r>
            <a:br>
              <a:rPr lang="en-US" b="1" dirty="0">
                <a:solidFill>
                  <a:srgbClr val="0070C0"/>
                </a:solidFill>
                <a:latin typeface="Times New Roman" panose="02020603050405020304" pitchFamily="18" charset="0"/>
                <a:cs typeface="Times New Roman" panose="02020603050405020304" pitchFamily="18" charset="0"/>
              </a:rPr>
            </a:br>
            <a:r>
              <a:rPr lang="en-US" b="1" dirty="0">
                <a:solidFill>
                  <a:srgbClr val="0070C0"/>
                </a:solidFill>
                <a:latin typeface="Times New Roman" panose="02020603050405020304" pitchFamily="18" charset="0"/>
                <a:cs typeface="Times New Roman" panose="02020603050405020304" pitchFamily="18" charset="0"/>
              </a:rPr>
              <a:t>SO SÁNH NHIỀU PH</a:t>
            </a:r>
            <a:r>
              <a:rPr lang="vi-VN" b="1" dirty="0">
                <a:solidFill>
                  <a:srgbClr val="0070C0"/>
                </a:solidFill>
                <a:latin typeface="Times New Roman" panose="02020603050405020304" pitchFamily="18" charset="0"/>
                <a:cs typeface="Times New Roman" panose="02020603050405020304" pitchFamily="18" charset="0"/>
              </a:rPr>
              <a:t>Ư</a:t>
            </a:r>
            <a:r>
              <a:rPr lang="en-US" b="1" dirty="0">
                <a:solidFill>
                  <a:srgbClr val="0070C0"/>
                </a:solidFill>
                <a:latin typeface="Times New Roman" panose="02020603050405020304" pitchFamily="18" charset="0"/>
                <a:cs typeface="Times New Roman" panose="02020603050405020304" pitchFamily="18" charset="0"/>
              </a:rPr>
              <a:t>ƠNG SAI</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05AD325-86BD-4935-87D5-8FA6BB927293}"/>
              </a:ext>
            </a:extLst>
          </p:cNvPr>
          <p:cNvSpPr>
            <a:spLocks noGrp="1"/>
          </p:cNvSpPr>
          <p:nvPr>
            <p:ph type="subTitle" idx="1"/>
          </p:nvPr>
        </p:nvSpPr>
        <p:spPr/>
        <p:txBody>
          <a:bodyPr/>
          <a:lstStyle/>
          <a:p>
            <a:endParaRPr lang="en-US" dirty="0">
              <a:solidFill>
                <a:srgbClr val="0070C0"/>
              </a:solidFill>
            </a:endParaRPr>
          </a:p>
        </p:txBody>
      </p:sp>
    </p:spTree>
    <p:extLst>
      <p:ext uri="{BB962C8B-B14F-4D97-AF65-F5344CB8AC3E}">
        <p14:creationId xmlns:p14="http://schemas.microsoft.com/office/powerpoint/2010/main" val="3887341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B28D9-212B-4D31-93EC-A5CB1537B1D2}"/>
              </a:ext>
            </a:extLst>
          </p:cNvPr>
          <p:cNvSpPr>
            <a:spLocks noGrp="1"/>
          </p:cNvSpPr>
          <p:nvPr>
            <p:ph type="title"/>
          </p:nvPr>
        </p:nvSpPr>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PHÂN TÍCH PH</a:t>
            </a:r>
            <a:r>
              <a:rPr lang="vi-VN" b="1" dirty="0">
                <a:solidFill>
                  <a:srgbClr val="0070C0"/>
                </a:solidFill>
                <a:latin typeface="Times New Roman" panose="02020603050405020304" pitchFamily="18" charset="0"/>
                <a:cs typeface="Times New Roman" panose="02020603050405020304" pitchFamily="18" charset="0"/>
              </a:rPr>
              <a:t>Ư</a:t>
            </a:r>
            <a:r>
              <a:rPr lang="en-US" b="1" dirty="0">
                <a:solidFill>
                  <a:srgbClr val="0070C0"/>
                </a:solidFill>
                <a:latin typeface="Times New Roman" panose="02020603050405020304" pitchFamily="18" charset="0"/>
                <a:cs typeface="Times New Roman" panose="02020603050405020304" pitchFamily="18" charset="0"/>
              </a:rPr>
              <a:t>ƠNG SAI: So </a:t>
            </a:r>
            <a:r>
              <a:rPr lang="en-US" b="1" dirty="0" err="1">
                <a:solidFill>
                  <a:srgbClr val="0070C0"/>
                </a:solidFill>
                <a:latin typeface="Times New Roman" panose="02020603050405020304" pitchFamily="18" charset="0"/>
                <a:cs typeface="Times New Roman" panose="02020603050405020304" pitchFamily="18" charset="0"/>
              </a:rPr>
              <a:t>sánh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nhiều</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giá</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trị</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trung</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bình</a:t>
            </a:r>
            <a:br>
              <a:rPr lang="en-US" b="1" dirty="0">
                <a:solidFill>
                  <a:srgbClr val="0070C0"/>
                </a:solidFill>
                <a:latin typeface="Times New Roman" panose="02020603050405020304" pitchFamily="18" charset="0"/>
                <a:cs typeface="Times New Roman" panose="02020603050405020304" pitchFamily="18" charset="0"/>
              </a:rPr>
            </a:br>
            <a:r>
              <a:rPr lang="en-US" b="1" dirty="0" err="1"/>
              <a:t>phân</a:t>
            </a:r>
            <a:r>
              <a:rPr lang="en-US" b="1" dirty="0"/>
              <a:t> </a:t>
            </a:r>
            <a:r>
              <a:rPr lang="en-US" b="1" dirty="0" err="1"/>
              <a:t>bố</a:t>
            </a:r>
            <a:r>
              <a:rPr lang="en-US" b="1" dirty="0"/>
              <a:t> </a:t>
            </a:r>
            <a:r>
              <a:rPr lang="en-US" b="1" dirty="0" err="1"/>
              <a:t>chuẩn</a:t>
            </a:r>
            <a:r>
              <a:rPr lang="en-US" b="1" dirty="0"/>
              <a:t>, </a:t>
            </a:r>
            <a:r>
              <a:rPr lang="en-US" b="1" dirty="0" err="1"/>
              <a:t>ph</a:t>
            </a:r>
            <a:r>
              <a:rPr lang="vi-VN" b="1" dirty="0"/>
              <a:t>ư</a:t>
            </a:r>
            <a:r>
              <a:rPr lang="en-US" b="1" dirty="0" err="1"/>
              <a:t>ơng</a:t>
            </a:r>
            <a:r>
              <a:rPr lang="en-US" b="1" dirty="0"/>
              <a:t> </a:t>
            </a:r>
            <a:r>
              <a:rPr lang="en-US" b="1" dirty="0" err="1"/>
              <a:t>sai</a:t>
            </a:r>
            <a:r>
              <a:rPr lang="en-US" b="1" dirty="0"/>
              <a:t> </a:t>
            </a:r>
            <a:r>
              <a:rPr lang="en-US" b="1" dirty="0" err="1"/>
              <a:t>nh</a:t>
            </a:r>
            <a:r>
              <a:rPr lang="vi-VN" b="1" dirty="0"/>
              <a:t>ư</a:t>
            </a:r>
            <a:r>
              <a:rPr lang="en-US" b="1" dirty="0"/>
              <a:t> </a:t>
            </a:r>
            <a:r>
              <a:rPr lang="en-US" b="1" dirty="0" err="1"/>
              <a:t>nhau</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3528ED-2177-43B7-8773-F02752BFAD3F}"/>
              </a:ext>
            </a:extLst>
          </p:cNvPr>
          <p:cNvSpPr>
            <a:spLocks noGrp="1"/>
          </p:cNvSpPr>
          <p:nvPr>
            <p:ph idx="1"/>
          </p:nvPr>
        </p:nvSpPr>
        <p:spPr/>
        <p:txBody>
          <a:bodyPr/>
          <a:lstStyle/>
          <a:p>
            <a:r>
              <a:rPr lang="en-US" dirty="0"/>
              <a:t>VD: </a:t>
            </a:r>
            <a:r>
              <a:rPr lang="en-US" dirty="0" err="1"/>
              <a:t>Năng</a:t>
            </a:r>
            <a:r>
              <a:rPr lang="en-US" dirty="0"/>
              <a:t> </a:t>
            </a:r>
            <a:r>
              <a:rPr lang="en-US" dirty="0" err="1"/>
              <a:t>suất</a:t>
            </a:r>
            <a:r>
              <a:rPr lang="en-US" dirty="0"/>
              <a:t> </a:t>
            </a:r>
            <a:r>
              <a:rPr lang="en-US" dirty="0" err="1"/>
              <a:t>của</a:t>
            </a:r>
            <a:r>
              <a:rPr lang="en-US" dirty="0"/>
              <a:t> 3 </a:t>
            </a:r>
            <a:r>
              <a:rPr lang="en-US" dirty="0" err="1"/>
              <a:t>giống</a:t>
            </a:r>
            <a:r>
              <a:rPr lang="en-US" dirty="0"/>
              <a:t> </a:t>
            </a:r>
            <a:r>
              <a:rPr lang="en-US" dirty="0" err="1"/>
              <a:t>lúa</a:t>
            </a:r>
            <a:r>
              <a:rPr lang="en-US" dirty="0"/>
              <a:t> </a:t>
            </a:r>
          </a:p>
          <a:p>
            <a:r>
              <a:rPr lang="en-US" dirty="0" err="1"/>
              <a:t>Giống</a:t>
            </a:r>
            <a:r>
              <a:rPr lang="en-US" dirty="0"/>
              <a:t> </a:t>
            </a:r>
            <a:r>
              <a:rPr lang="en-US" dirty="0" err="1"/>
              <a:t>lúa</a:t>
            </a:r>
            <a:r>
              <a:rPr lang="en-US" dirty="0"/>
              <a:t> </a:t>
            </a:r>
            <a:r>
              <a:rPr lang="en-US" dirty="0" err="1"/>
              <a:t>thứ</a:t>
            </a:r>
            <a:r>
              <a:rPr lang="en-US" dirty="0"/>
              <a:t> </a:t>
            </a:r>
            <a:r>
              <a:rPr lang="en-US" dirty="0" err="1"/>
              <a:t>nhất</a:t>
            </a:r>
            <a:r>
              <a:rPr lang="en-US" dirty="0"/>
              <a:t>: 5.8, 6.2, 5.4, 6.0</a:t>
            </a:r>
          </a:p>
          <a:p>
            <a:r>
              <a:rPr lang="en-US" dirty="0" err="1"/>
              <a:t>Giống</a:t>
            </a:r>
            <a:r>
              <a:rPr lang="en-US" dirty="0"/>
              <a:t> </a:t>
            </a:r>
            <a:r>
              <a:rPr lang="en-US" dirty="0" err="1"/>
              <a:t>lúa</a:t>
            </a:r>
            <a:r>
              <a:rPr lang="en-US" dirty="0"/>
              <a:t> </a:t>
            </a:r>
            <a:r>
              <a:rPr lang="en-US" dirty="0" err="1"/>
              <a:t>thứ</a:t>
            </a:r>
            <a:r>
              <a:rPr lang="en-US" dirty="0"/>
              <a:t> </a:t>
            </a:r>
            <a:r>
              <a:rPr lang="en-US" dirty="0" err="1"/>
              <a:t>hai</a:t>
            </a:r>
            <a:r>
              <a:rPr lang="en-US" dirty="0"/>
              <a:t>: 5.2, 5.3, 5.4, 5.6</a:t>
            </a:r>
          </a:p>
          <a:p>
            <a:r>
              <a:rPr lang="en-US" dirty="0" err="1"/>
              <a:t>Giống</a:t>
            </a:r>
            <a:r>
              <a:rPr lang="en-US" dirty="0"/>
              <a:t> </a:t>
            </a:r>
            <a:r>
              <a:rPr lang="en-US" dirty="0" err="1"/>
              <a:t>lúa</a:t>
            </a:r>
            <a:r>
              <a:rPr lang="en-US" dirty="0"/>
              <a:t> </a:t>
            </a:r>
            <a:r>
              <a:rPr lang="en-US" dirty="0" err="1"/>
              <a:t>thứ</a:t>
            </a:r>
            <a:r>
              <a:rPr lang="en-US" dirty="0"/>
              <a:t> </a:t>
            </a:r>
            <a:r>
              <a:rPr lang="en-US" dirty="0" err="1"/>
              <a:t>ba</a:t>
            </a:r>
            <a:r>
              <a:rPr lang="en-US" dirty="0"/>
              <a:t>: 6.2, 5.7, 5.5, 6.1</a:t>
            </a:r>
          </a:p>
          <a:p>
            <a:r>
              <a:rPr lang="en-US" dirty="0" err="1"/>
              <a:t>Giả</a:t>
            </a:r>
            <a:r>
              <a:rPr lang="en-US" dirty="0"/>
              <a:t> </a:t>
            </a:r>
            <a:r>
              <a:rPr lang="en-US" dirty="0" err="1"/>
              <a:t>sử</a:t>
            </a:r>
            <a:r>
              <a:rPr lang="en-US" dirty="0"/>
              <a:t>: </a:t>
            </a:r>
            <a:r>
              <a:rPr lang="en-US" dirty="0" err="1"/>
              <a:t>năng</a:t>
            </a:r>
            <a:r>
              <a:rPr lang="en-US" dirty="0"/>
              <a:t> </a:t>
            </a:r>
            <a:r>
              <a:rPr lang="en-US" dirty="0" err="1"/>
              <a:t>suất</a:t>
            </a:r>
            <a:r>
              <a:rPr lang="en-US" dirty="0"/>
              <a:t> </a:t>
            </a:r>
            <a:r>
              <a:rPr lang="en-US" dirty="0" err="1"/>
              <a:t>lúa</a:t>
            </a:r>
            <a:r>
              <a:rPr lang="en-US" dirty="0"/>
              <a:t> </a:t>
            </a:r>
            <a:r>
              <a:rPr lang="en-US" dirty="0" err="1"/>
              <a:t>tuân</a:t>
            </a:r>
            <a:r>
              <a:rPr lang="en-US" dirty="0"/>
              <a:t> </a:t>
            </a:r>
            <a:r>
              <a:rPr lang="en-US" dirty="0" err="1"/>
              <a:t>theo</a:t>
            </a:r>
            <a:r>
              <a:rPr lang="en-US" dirty="0"/>
              <a:t> </a:t>
            </a:r>
            <a:r>
              <a:rPr lang="en-US" b="1" dirty="0" err="1"/>
              <a:t>phân</a:t>
            </a:r>
            <a:r>
              <a:rPr lang="en-US" b="1" dirty="0"/>
              <a:t> </a:t>
            </a:r>
            <a:r>
              <a:rPr lang="en-US" b="1" dirty="0" err="1"/>
              <a:t>bố</a:t>
            </a:r>
            <a:r>
              <a:rPr lang="en-US" b="1" dirty="0"/>
              <a:t> </a:t>
            </a:r>
            <a:r>
              <a:rPr lang="en-US" b="1" dirty="0" err="1"/>
              <a:t>chuẩn</a:t>
            </a:r>
            <a:r>
              <a:rPr lang="en-US" b="1" dirty="0"/>
              <a:t>, </a:t>
            </a:r>
            <a:r>
              <a:rPr lang="en-US" b="1" dirty="0" err="1"/>
              <a:t>ph</a:t>
            </a:r>
            <a:r>
              <a:rPr lang="vi-VN" b="1" dirty="0"/>
              <a:t>ư</a:t>
            </a:r>
            <a:r>
              <a:rPr lang="en-US" b="1" dirty="0" err="1"/>
              <a:t>ơng</a:t>
            </a:r>
            <a:r>
              <a:rPr lang="en-US" b="1" dirty="0"/>
              <a:t> </a:t>
            </a:r>
            <a:r>
              <a:rPr lang="en-US" b="1" dirty="0" err="1"/>
              <a:t>sai</a:t>
            </a:r>
            <a:r>
              <a:rPr lang="en-US" b="1" dirty="0"/>
              <a:t> </a:t>
            </a:r>
            <a:r>
              <a:rPr lang="en-US" b="1" dirty="0" err="1"/>
              <a:t>nh</a:t>
            </a:r>
            <a:r>
              <a:rPr lang="vi-VN" b="1" dirty="0"/>
              <a:t>ư</a:t>
            </a:r>
            <a:r>
              <a:rPr lang="en-US" b="1" dirty="0"/>
              <a:t> </a:t>
            </a:r>
            <a:r>
              <a:rPr lang="en-US" b="1" dirty="0" err="1"/>
              <a:t>nhau</a:t>
            </a:r>
            <a:endParaRPr lang="en-US" b="1" dirty="0"/>
          </a:p>
          <a:p>
            <a:r>
              <a:rPr lang="en-US" dirty="0"/>
              <a:t>So </a:t>
            </a:r>
            <a:r>
              <a:rPr lang="en-US" dirty="0" err="1"/>
              <a:t>sánh</a:t>
            </a:r>
            <a:r>
              <a:rPr lang="en-US" dirty="0"/>
              <a:t> </a:t>
            </a:r>
            <a:r>
              <a:rPr lang="en-US" dirty="0" err="1"/>
              <a:t>năng</a:t>
            </a:r>
            <a:r>
              <a:rPr lang="en-US" dirty="0"/>
              <a:t> </a:t>
            </a:r>
            <a:r>
              <a:rPr lang="en-US" dirty="0" err="1"/>
              <a:t>suất</a:t>
            </a:r>
            <a:r>
              <a:rPr lang="en-US" dirty="0"/>
              <a:t> </a:t>
            </a:r>
            <a:r>
              <a:rPr lang="en-US" dirty="0" err="1"/>
              <a:t>lúa</a:t>
            </a:r>
            <a:r>
              <a:rPr lang="en-US" dirty="0"/>
              <a:t> TB </a:t>
            </a:r>
            <a:r>
              <a:rPr lang="en-US" dirty="0" err="1"/>
              <a:t>có</a:t>
            </a:r>
            <a:r>
              <a:rPr lang="en-US" dirty="0"/>
              <a:t> </a:t>
            </a:r>
            <a:r>
              <a:rPr lang="en-US" dirty="0" err="1"/>
              <a:t>nh</a:t>
            </a:r>
            <a:r>
              <a:rPr lang="vi-VN" dirty="0"/>
              <a:t>ư</a:t>
            </a:r>
            <a:r>
              <a:rPr lang="en-US" dirty="0"/>
              <a:t> </a:t>
            </a:r>
            <a:r>
              <a:rPr lang="en-US" dirty="0" err="1"/>
              <a:t>nhau</a:t>
            </a:r>
            <a:r>
              <a:rPr lang="en-US" dirty="0"/>
              <a:t> </a:t>
            </a:r>
            <a:r>
              <a:rPr lang="en-US" dirty="0" err="1"/>
              <a:t>không</a:t>
            </a:r>
            <a:r>
              <a:rPr lang="en-US" dirty="0"/>
              <a:t>?</a:t>
            </a:r>
          </a:p>
          <a:p>
            <a:endParaRPr lang="en-US" dirty="0"/>
          </a:p>
        </p:txBody>
      </p:sp>
    </p:spTree>
    <p:extLst>
      <p:ext uri="{BB962C8B-B14F-4D97-AF65-F5344CB8AC3E}">
        <p14:creationId xmlns:p14="http://schemas.microsoft.com/office/powerpoint/2010/main" val="112155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43B3-0012-4B18-BA9C-C2ED48D69344}"/>
              </a:ext>
            </a:extLst>
          </p:cNvPr>
          <p:cNvSpPr>
            <a:spLocks noGrp="1"/>
          </p:cNvSpPr>
          <p:nvPr>
            <p:ph type="title"/>
          </p:nvPr>
        </p:nvSpPr>
        <p:spPr/>
        <p:txBody>
          <a:bodyPr/>
          <a:lstStyle/>
          <a:p>
            <a:r>
              <a:rPr lang="en-US" b="1" dirty="0" err="1"/>
              <a:t>Một</a:t>
            </a:r>
            <a:r>
              <a:rPr lang="en-US" b="1" dirty="0"/>
              <a:t> </a:t>
            </a:r>
            <a:r>
              <a:rPr lang="en-US" b="1" dirty="0" err="1"/>
              <a:t>nhân</a:t>
            </a:r>
            <a:r>
              <a:rPr lang="en-US" b="1" dirty="0"/>
              <a:t> </a:t>
            </a:r>
            <a:r>
              <a:rPr lang="en-US" b="1" dirty="0" err="1"/>
              <a:t>tố</a:t>
            </a:r>
            <a:r>
              <a:rPr lang="en-US" b="1" dirty="0"/>
              <a:t> </a:t>
            </a:r>
          </a:p>
        </p:txBody>
      </p:sp>
      <p:sp>
        <p:nvSpPr>
          <p:cNvPr id="3" name="Content Placeholder 2">
            <a:extLst>
              <a:ext uri="{FF2B5EF4-FFF2-40B4-BE49-F238E27FC236}">
                <a16:creationId xmlns:a16="http://schemas.microsoft.com/office/drawing/2014/main" id="{36A4DADB-A678-432C-8C2B-2E25CE34E006}"/>
              </a:ext>
            </a:extLst>
          </p:cNvPr>
          <p:cNvSpPr>
            <a:spLocks noGrp="1"/>
          </p:cNvSpPr>
          <p:nvPr>
            <p:ph idx="1"/>
          </p:nvPr>
        </p:nvSpPr>
        <p:spPr/>
        <p:txBody>
          <a:bodyPr>
            <a:normAutofit/>
          </a:bodyPr>
          <a:lstStyle/>
          <a:p>
            <a:r>
              <a:rPr lang="en-US" dirty="0"/>
              <a:t>Mau= c(5.8, 6.2, 5.4, 6.0, 5.2, 5.3, 5.4, 5.6, 6.2, 5.7, 5.5, 6.1)</a:t>
            </a:r>
          </a:p>
          <a:p>
            <a:r>
              <a:rPr lang="en-US" dirty="0" err="1"/>
              <a:t>Phân</a:t>
            </a:r>
            <a:r>
              <a:rPr lang="en-US" dirty="0"/>
              <a:t> </a:t>
            </a:r>
            <a:r>
              <a:rPr lang="en-US" dirty="0" err="1"/>
              <a:t>nhóm</a:t>
            </a:r>
            <a:r>
              <a:rPr lang="en-US" dirty="0"/>
              <a:t>:</a:t>
            </a:r>
          </a:p>
          <a:p>
            <a:r>
              <a:rPr lang="en-US" dirty="0" err="1"/>
              <a:t>PhanNhomA</a:t>
            </a:r>
            <a:r>
              <a:rPr lang="en-US" dirty="0"/>
              <a:t> = rep(c(1, 2, 3), c(4, 4, 4))</a:t>
            </a:r>
          </a:p>
          <a:p>
            <a:r>
              <a:rPr lang="en-US" dirty="0" err="1"/>
              <a:t>PhanNhomA</a:t>
            </a:r>
            <a:r>
              <a:rPr lang="en-US" dirty="0"/>
              <a:t> = </a:t>
            </a:r>
            <a:r>
              <a:rPr lang="en-US" dirty="0" err="1"/>
              <a:t>as.factor</a:t>
            </a:r>
            <a:r>
              <a:rPr lang="en-US" dirty="0"/>
              <a:t>(</a:t>
            </a:r>
            <a:r>
              <a:rPr lang="en-US" dirty="0" err="1"/>
              <a:t>PhanNhomA</a:t>
            </a:r>
            <a:r>
              <a:rPr lang="en-US" dirty="0"/>
              <a:t>)</a:t>
            </a:r>
          </a:p>
          <a:p>
            <a:r>
              <a:rPr lang="en-US" dirty="0" err="1"/>
              <a:t>anova</a:t>
            </a:r>
            <a:r>
              <a:rPr lang="en-US" dirty="0"/>
              <a:t>(</a:t>
            </a:r>
            <a:r>
              <a:rPr lang="en-US" dirty="0" err="1"/>
              <a:t>lm</a:t>
            </a:r>
            <a:r>
              <a:rPr lang="en-US" dirty="0"/>
              <a:t>(Mau ∼ </a:t>
            </a:r>
            <a:r>
              <a:rPr lang="en-US" dirty="0" err="1"/>
              <a:t>PhanNhomA</a:t>
            </a:r>
            <a:r>
              <a:rPr lang="en-US" dirty="0"/>
              <a:t>))</a:t>
            </a:r>
          </a:p>
        </p:txBody>
      </p:sp>
    </p:spTree>
    <p:extLst>
      <p:ext uri="{BB962C8B-B14F-4D97-AF65-F5344CB8AC3E}">
        <p14:creationId xmlns:p14="http://schemas.microsoft.com/office/powerpoint/2010/main" val="1926664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9415F-903C-488E-B0CF-851F1E5997CD}"/>
              </a:ext>
            </a:extLst>
          </p:cNvPr>
          <p:cNvSpPr>
            <a:spLocks noGrp="1"/>
          </p:cNvSpPr>
          <p:nvPr>
            <p:ph type="title"/>
          </p:nvPr>
        </p:nvSpPr>
        <p:spPr>
          <a:xfrm>
            <a:off x="677334" y="609600"/>
            <a:ext cx="9282454" cy="1320800"/>
          </a:xfrm>
        </p:spPr>
        <p:txBody>
          <a:bodyPr>
            <a:normAutofit fontScale="90000"/>
          </a:bodyPr>
          <a:lstStyle/>
          <a:p>
            <a:r>
              <a:rPr lang="en-US" b="1" dirty="0">
                <a:latin typeface="Times New Roman" panose="02020603050405020304" pitchFamily="18" charset="0"/>
                <a:cs typeface="Times New Roman" panose="02020603050405020304" pitchFamily="18" charset="0"/>
              </a:rPr>
              <a:t>Hai </a:t>
            </a:r>
            <a:r>
              <a:rPr lang="en-US" b="1" dirty="0" err="1">
                <a:latin typeface="Times New Roman" panose="02020603050405020304" pitchFamily="18" charset="0"/>
                <a:cs typeface="Times New Roman" panose="02020603050405020304" pitchFamily="18" charset="0"/>
              </a:rPr>
              <a:t>nhân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tố</a:t>
            </a:r>
            <a:br>
              <a:rPr lang="en-US" dirty="0"/>
            </a:br>
            <a:r>
              <a:rPr lang="en-US" sz="2400" b="1" dirty="0" err="1">
                <a:solidFill>
                  <a:schemeClr val="tx1"/>
                </a:solidFill>
                <a:latin typeface="Times New Roman" panose="02020603050405020304" pitchFamily="18" charset="0"/>
                <a:cs typeface="Times New Roman" panose="02020603050405020304" pitchFamily="18" charset="0"/>
              </a:rPr>
              <a:t>Bài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toán</a:t>
            </a:r>
            <a:r>
              <a:rPr lang="en-US" sz="2400" b="1" dirty="0">
                <a:solidFill>
                  <a:schemeClr val="tx1"/>
                </a:solidFill>
                <a:latin typeface="Times New Roman" panose="02020603050405020304" pitchFamily="18" charset="0"/>
                <a:cs typeface="Times New Roman" panose="02020603050405020304" pitchFamily="18" charset="0"/>
              </a:rPr>
              <a:t>: So </a:t>
            </a:r>
            <a:r>
              <a:rPr lang="en-US" sz="2400" b="1" dirty="0" err="1">
                <a:solidFill>
                  <a:schemeClr val="tx1"/>
                </a:solidFill>
                <a:latin typeface="Times New Roman" panose="02020603050405020304" pitchFamily="18" charset="0"/>
                <a:cs typeface="Times New Roman" panose="02020603050405020304" pitchFamily="18" charset="0"/>
              </a:rPr>
              <a:t>sánh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năng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suất</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trung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bình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của</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giống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lúa</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có</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a:t>
            </a:r>
            <a:r>
              <a:rPr lang="vi-VN" sz="2400" b="1" dirty="0">
                <a:solidFill>
                  <a:schemeClr val="tx1"/>
                </a:solidFill>
                <a:latin typeface="Times New Roman" panose="02020603050405020304" pitchFamily="18" charset="0"/>
                <a:cs typeface="Times New Roman" panose="02020603050405020304" pitchFamily="18" charset="0"/>
              </a:rPr>
              <a:t>ư</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nhau</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không</a:t>
            </a:r>
            <a:r>
              <a:rPr lang="en-US" sz="2400" b="1" dirty="0">
                <a:solidFill>
                  <a:schemeClr val="tx1"/>
                </a:solidFill>
                <a:latin typeface="Times New Roman" panose="02020603050405020304" pitchFamily="18" charset="0"/>
                <a:cs typeface="Times New Roman" panose="02020603050405020304" pitchFamily="18" charset="0"/>
              </a:rPr>
              <a:t>?</a:t>
            </a:r>
            <a:br>
              <a:rPr lang="en-US" sz="2400" b="1" dirty="0">
                <a:solidFill>
                  <a:schemeClr val="tx1"/>
                </a:solidFill>
                <a:latin typeface="Times New Roman" panose="02020603050405020304" pitchFamily="18" charset="0"/>
                <a:cs typeface="Times New Roman" panose="02020603050405020304" pitchFamily="18" charset="0"/>
              </a:rPr>
            </a:br>
            <a:r>
              <a:rPr lang="en-US" sz="2400" b="1" dirty="0">
                <a:solidFill>
                  <a:schemeClr val="tx1"/>
                </a:solidFill>
                <a:latin typeface="Times New Roman" panose="02020603050405020304" pitchFamily="18" charset="0"/>
                <a:cs typeface="Times New Roman" panose="02020603050405020304" pitchFamily="18" charset="0"/>
              </a:rPr>
              <a:t>                So </a:t>
            </a:r>
            <a:r>
              <a:rPr lang="en-US" sz="2400" b="1" dirty="0" err="1">
                <a:solidFill>
                  <a:schemeClr val="tx1"/>
                </a:solidFill>
                <a:latin typeface="Times New Roman" panose="02020603050405020304" pitchFamily="18" charset="0"/>
                <a:cs typeface="Times New Roman" panose="02020603050405020304" pitchFamily="18" charset="0"/>
              </a:rPr>
              <a:t>sánh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năng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suất</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trung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bình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có</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a:t>
            </a:r>
            <a:r>
              <a:rPr lang="vi-VN" sz="2400" b="1" dirty="0">
                <a:solidFill>
                  <a:schemeClr val="tx1"/>
                </a:solidFill>
                <a:latin typeface="Times New Roman" panose="02020603050405020304" pitchFamily="18" charset="0"/>
                <a:cs typeface="Times New Roman" panose="02020603050405020304" pitchFamily="18" charset="0"/>
              </a:rPr>
              <a:t>ư</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nhau</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khi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bón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hai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loại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phân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không</a:t>
            </a:r>
            <a:r>
              <a:rPr lang="en-US" sz="2400" b="1" dirty="0">
                <a:solidFill>
                  <a:schemeClr val="tx1"/>
                </a:solidFill>
                <a:latin typeface="Times New Roman" panose="02020603050405020304" pitchFamily="18" charset="0"/>
                <a:cs typeface="Times New Roman" panose="02020603050405020304" pitchFamily="18" charset="0"/>
              </a:rPr>
              <a:t>?</a:t>
            </a:r>
            <a:br>
              <a:rPr lang="en-US" sz="2400" b="1" dirty="0">
                <a:solidFill>
                  <a:schemeClr val="tx1"/>
                </a:solidFill>
                <a:latin typeface="Times New Roman" panose="02020603050405020304" pitchFamily="18" charset="0"/>
                <a:cs typeface="Times New Roman" panose="02020603050405020304" pitchFamily="18" charset="0"/>
              </a:rPr>
            </a:b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Có</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sự</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tư</a:t>
            </a:r>
            <a:r>
              <a:rPr lang="vi-VN" sz="2400" b="1" dirty="0">
                <a:solidFill>
                  <a:schemeClr val="tx1"/>
                </a:solidFill>
                <a:latin typeface="Times New Roman" panose="02020603050405020304" pitchFamily="18" charset="0"/>
                <a:cs typeface="Times New Roman" panose="02020603050405020304" pitchFamily="18" charset="0"/>
              </a:rPr>
              <a:t>ơ</a:t>
            </a:r>
            <a:r>
              <a:rPr lang="en-US" sz="2400" b="1" dirty="0">
                <a:solidFill>
                  <a:schemeClr val="tx1"/>
                </a:solidFill>
                <a:latin typeface="Times New Roman" panose="02020603050405020304" pitchFamily="18" charset="0"/>
                <a:cs typeface="Times New Roman" panose="02020603050405020304" pitchFamily="18" charset="0"/>
              </a:rPr>
              <a:t>ng </a:t>
            </a:r>
            <a:r>
              <a:rPr lang="en-US" sz="2400" b="1" dirty="0" err="1">
                <a:solidFill>
                  <a:schemeClr val="tx1"/>
                </a:solidFill>
                <a:latin typeface="Times New Roman" panose="02020603050405020304" pitchFamily="18" charset="0"/>
                <a:cs typeface="Times New Roman" panose="02020603050405020304" pitchFamily="18" charset="0"/>
              </a:rPr>
              <a:t>tác</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giữa</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năng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suất</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và</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loại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phân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bón</a:t>
            </a:r>
            <a:r>
              <a:rPr lang="en-US" sz="2400" b="1" dirty="0">
                <a:solidFill>
                  <a:schemeClr val="tx1"/>
                </a:solidFill>
                <a:latin typeface="Times New Roman" panose="02020603050405020304" pitchFamily="18" charset="0"/>
                <a:cs typeface="Times New Roman" panose="02020603050405020304" pitchFamily="18" charset="0"/>
              </a:rPr>
              <a:t> hay </a:t>
            </a:r>
            <a:r>
              <a:rPr lang="en-US" sz="2400" b="1" dirty="0" err="1">
                <a:solidFill>
                  <a:schemeClr val="tx1"/>
                </a:solidFill>
                <a:latin typeface="Times New Roman" panose="02020603050405020304" pitchFamily="18" charset="0"/>
                <a:cs typeface="Times New Roman" panose="02020603050405020304" pitchFamily="18" charset="0"/>
              </a:rPr>
              <a:t>không</a:t>
            </a:r>
            <a:r>
              <a:rPr lang="en-US" sz="2400" b="1" dirty="0">
                <a:solidFill>
                  <a:schemeClr val="tx1"/>
                </a:solidFill>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1930E415-9DE5-47F3-9B3D-BDF330C8E726}"/>
              </a:ext>
            </a:extLst>
          </p:cNvPr>
          <p:cNvGraphicFramePr>
            <a:graphicFrameLocks noGrp="1"/>
          </p:cNvGraphicFramePr>
          <p:nvPr>
            <p:ph idx="1"/>
            <p:extLst>
              <p:ext uri="{D42A27DB-BD31-4B8C-83A1-F6EECF244321}">
                <p14:modId xmlns:p14="http://schemas.microsoft.com/office/powerpoint/2010/main" val="573325299"/>
              </p:ext>
            </p:extLst>
          </p:nvPr>
        </p:nvGraphicFramePr>
        <p:xfrm>
          <a:off x="838200" y="4272990"/>
          <a:ext cx="10515600" cy="13817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315043562"/>
                    </a:ext>
                  </a:extLst>
                </a:gridCol>
                <a:gridCol w="2628900">
                  <a:extLst>
                    <a:ext uri="{9D8B030D-6E8A-4147-A177-3AD203B41FA5}">
                      <a16:colId xmlns:a16="http://schemas.microsoft.com/office/drawing/2014/main" val="2401091489"/>
                    </a:ext>
                  </a:extLst>
                </a:gridCol>
                <a:gridCol w="2628900">
                  <a:extLst>
                    <a:ext uri="{9D8B030D-6E8A-4147-A177-3AD203B41FA5}">
                      <a16:colId xmlns:a16="http://schemas.microsoft.com/office/drawing/2014/main" val="2818324102"/>
                    </a:ext>
                  </a:extLst>
                </a:gridCol>
                <a:gridCol w="2628900">
                  <a:extLst>
                    <a:ext uri="{9D8B030D-6E8A-4147-A177-3AD203B41FA5}">
                      <a16:colId xmlns:a16="http://schemas.microsoft.com/office/drawing/2014/main" val="2526026216"/>
                    </a:ext>
                  </a:extLst>
                </a:gridCol>
              </a:tblGrid>
              <a:tr h="370840">
                <a:tc>
                  <a:txBody>
                    <a:bodyPr/>
                    <a:lstStyle/>
                    <a:p>
                      <a:endParaRPr lang="en-US" dirty="0"/>
                    </a:p>
                  </a:txBody>
                  <a:tcPr/>
                </a:tc>
                <a:tc>
                  <a:txBody>
                    <a:bodyPr/>
                    <a:lstStyle/>
                    <a:p>
                      <a:r>
                        <a:rPr lang="en-US" dirty="0" err="1"/>
                        <a:t>Giống</a:t>
                      </a:r>
                      <a:r>
                        <a:rPr lang="en-US" dirty="0"/>
                        <a:t> </a:t>
                      </a:r>
                      <a:r>
                        <a:rPr lang="en-US" dirty="0" err="1"/>
                        <a:t>lúa</a:t>
                      </a:r>
                      <a:r>
                        <a:rPr lang="en-US" dirty="0"/>
                        <a:t> 1</a:t>
                      </a:r>
                    </a:p>
                  </a:txBody>
                  <a:tcPr/>
                </a:tc>
                <a:tc>
                  <a:txBody>
                    <a:bodyPr/>
                    <a:lstStyle/>
                    <a:p>
                      <a:r>
                        <a:rPr lang="en-US" dirty="0" err="1"/>
                        <a:t>Giống</a:t>
                      </a:r>
                      <a:r>
                        <a:rPr lang="en-US" dirty="0"/>
                        <a:t> </a:t>
                      </a:r>
                      <a:r>
                        <a:rPr lang="en-US" dirty="0" err="1"/>
                        <a:t>lúa</a:t>
                      </a:r>
                      <a:r>
                        <a:rPr lang="en-US" dirty="0"/>
                        <a:t> 2</a:t>
                      </a:r>
                    </a:p>
                    <a:p>
                      <a:endParaRPr lang="en-US" dirty="0"/>
                    </a:p>
                  </a:txBody>
                  <a:tcPr/>
                </a:tc>
                <a:tc>
                  <a:txBody>
                    <a:bodyPr/>
                    <a:lstStyle/>
                    <a:p>
                      <a:r>
                        <a:rPr lang="en-US" dirty="0" err="1"/>
                        <a:t>Giống</a:t>
                      </a:r>
                      <a:r>
                        <a:rPr lang="en-US" dirty="0"/>
                        <a:t> </a:t>
                      </a:r>
                      <a:r>
                        <a:rPr lang="en-US" dirty="0" err="1"/>
                        <a:t>lúa</a:t>
                      </a:r>
                      <a:r>
                        <a:rPr lang="en-US" dirty="0"/>
                        <a:t> 3</a:t>
                      </a:r>
                    </a:p>
                  </a:txBody>
                  <a:tcPr/>
                </a:tc>
                <a:extLst>
                  <a:ext uri="{0D108BD9-81ED-4DB2-BD59-A6C34878D82A}">
                    <a16:rowId xmlns:a16="http://schemas.microsoft.com/office/drawing/2014/main" val="3520430455"/>
                  </a:ext>
                </a:extLst>
              </a:tr>
              <a:tr h="370840">
                <a:tc>
                  <a:txBody>
                    <a:bodyPr/>
                    <a:lstStyle/>
                    <a:p>
                      <a:r>
                        <a:rPr lang="en-US" dirty="0" err="1"/>
                        <a:t>Phân</a:t>
                      </a:r>
                      <a:r>
                        <a:rPr lang="en-US" dirty="0"/>
                        <a:t> </a:t>
                      </a:r>
                      <a:r>
                        <a:rPr lang="en-US" dirty="0" err="1"/>
                        <a:t>bón</a:t>
                      </a:r>
                      <a:r>
                        <a:rPr lang="en-US" dirty="0"/>
                        <a:t> 1</a:t>
                      </a:r>
                    </a:p>
                  </a:txBody>
                  <a:tcPr/>
                </a:tc>
                <a:tc>
                  <a:txBody>
                    <a:bodyPr/>
                    <a:lstStyle/>
                    <a:p>
                      <a:r>
                        <a:rPr lang="en-US" dirty="0"/>
                        <a:t>65</a:t>
                      </a:r>
                    </a:p>
                  </a:txBody>
                  <a:tcPr/>
                </a:tc>
                <a:tc>
                  <a:txBody>
                    <a:bodyPr/>
                    <a:lstStyle/>
                    <a:p>
                      <a:r>
                        <a:rPr lang="en-US" dirty="0"/>
                        <a:t>66</a:t>
                      </a:r>
                    </a:p>
                  </a:txBody>
                  <a:tcPr/>
                </a:tc>
                <a:tc>
                  <a:txBody>
                    <a:bodyPr/>
                    <a:lstStyle/>
                    <a:p>
                      <a:r>
                        <a:rPr lang="en-US" dirty="0"/>
                        <a:t>70</a:t>
                      </a:r>
                    </a:p>
                  </a:txBody>
                  <a:tcPr/>
                </a:tc>
                <a:extLst>
                  <a:ext uri="{0D108BD9-81ED-4DB2-BD59-A6C34878D82A}">
                    <a16:rowId xmlns:a16="http://schemas.microsoft.com/office/drawing/2014/main" val="3754530281"/>
                  </a:ext>
                </a:extLst>
              </a:tr>
              <a:tr h="370840">
                <a:tc>
                  <a:txBody>
                    <a:bodyPr/>
                    <a:lstStyle/>
                    <a:p>
                      <a:r>
                        <a:rPr lang="en-US" dirty="0" err="1"/>
                        <a:t>Phân</a:t>
                      </a:r>
                      <a:r>
                        <a:rPr lang="en-US" dirty="0"/>
                        <a:t> </a:t>
                      </a:r>
                      <a:r>
                        <a:rPr lang="en-US" dirty="0" err="1"/>
                        <a:t>bón</a:t>
                      </a:r>
                      <a:r>
                        <a:rPr lang="en-US" dirty="0"/>
                        <a:t> 2</a:t>
                      </a:r>
                    </a:p>
                  </a:txBody>
                  <a:tcPr/>
                </a:tc>
                <a:tc>
                  <a:txBody>
                    <a:bodyPr/>
                    <a:lstStyle/>
                    <a:p>
                      <a:r>
                        <a:rPr lang="en-US" dirty="0"/>
                        <a:t>59</a:t>
                      </a:r>
                    </a:p>
                  </a:txBody>
                  <a:tcPr/>
                </a:tc>
                <a:tc>
                  <a:txBody>
                    <a:bodyPr/>
                    <a:lstStyle/>
                    <a:p>
                      <a:r>
                        <a:rPr lang="en-US" dirty="0"/>
                        <a:t>60</a:t>
                      </a:r>
                    </a:p>
                  </a:txBody>
                  <a:tcPr/>
                </a:tc>
                <a:tc>
                  <a:txBody>
                    <a:bodyPr/>
                    <a:lstStyle/>
                    <a:p>
                      <a:r>
                        <a:rPr lang="en-US" dirty="0"/>
                        <a:t>55</a:t>
                      </a:r>
                    </a:p>
                  </a:txBody>
                  <a:tcPr/>
                </a:tc>
                <a:extLst>
                  <a:ext uri="{0D108BD9-81ED-4DB2-BD59-A6C34878D82A}">
                    <a16:rowId xmlns:a16="http://schemas.microsoft.com/office/drawing/2014/main" val="3509482588"/>
                  </a:ext>
                </a:extLst>
              </a:tr>
            </a:tbl>
          </a:graphicData>
        </a:graphic>
      </p:graphicFrame>
    </p:spTree>
    <p:extLst>
      <p:ext uri="{BB962C8B-B14F-4D97-AF65-F5344CB8AC3E}">
        <p14:creationId xmlns:p14="http://schemas.microsoft.com/office/powerpoint/2010/main" val="418292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66A14-3E76-4D1D-94A1-F68EC1EAC7F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C942972-2974-4449-93D4-422DC2EF7BB1}"/>
              </a:ext>
            </a:extLst>
          </p:cNvPr>
          <p:cNvSpPr>
            <a:spLocks noGrp="1"/>
          </p:cNvSpPr>
          <p:nvPr>
            <p:ph idx="1"/>
          </p:nvPr>
        </p:nvSpPr>
        <p:spPr/>
        <p:txBody>
          <a:bodyPr/>
          <a:lstStyle/>
          <a:p>
            <a:r>
              <a:rPr lang="en-US" dirty="0"/>
              <a:t>Mau=c(</a:t>
            </a:r>
            <a:r>
              <a:rPr lang="en-US" dirty="0">
                <a:latin typeface="Times New Roman" panose="02020603050405020304" pitchFamily="18" charset="0"/>
                <a:cs typeface="Times New Roman" panose="02020603050405020304" pitchFamily="18" charset="0"/>
              </a:rPr>
              <a:t>65,66,70,59,60,55)</a:t>
            </a:r>
            <a:endParaRPr lang="en-US" dirty="0"/>
          </a:p>
          <a:p>
            <a:r>
              <a:rPr lang="en-US" dirty="0" err="1"/>
              <a:t>PhanNhomA</a:t>
            </a:r>
            <a:r>
              <a:rPr lang="en-US" dirty="0"/>
              <a:t> = rep(c(1, 2), c(3,3))</a:t>
            </a:r>
          </a:p>
          <a:p>
            <a:r>
              <a:rPr lang="en-US" dirty="0" err="1"/>
              <a:t>PhanNhomA</a:t>
            </a:r>
            <a:r>
              <a:rPr lang="en-US" dirty="0"/>
              <a:t> = </a:t>
            </a:r>
            <a:r>
              <a:rPr lang="en-US" dirty="0" err="1"/>
              <a:t>as.factor</a:t>
            </a:r>
            <a:r>
              <a:rPr lang="en-US" dirty="0"/>
              <a:t>(</a:t>
            </a:r>
            <a:r>
              <a:rPr lang="en-US" dirty="0" err="1"/>
              <a:t>PhanNhomA</a:t>
            </a:r>
            <a:r>
              <a:rPr lang="en-US" dirty="0"/>
              <a:t>)</a:t>
            </a:r>
          </a:p>
          <a:p>
            <a:r>
              <a:rPr lang="en-US" dirty="0" err="1"/>
              <a:t>PhanNhomB</a:t>
            </a:r>
            <a:r>
              <a:rPr lang="en-US" dirty="0"/>
              <a:t> = rep(c(1, 2, 3), each = 2, length = 6)</a:t>
            </a:r>
          </a:p>
          <a:p>
            <a:r>
              <a:rPr lang="en-US" dirty="0" err="1"/>
              <a:t>PhanNhomB</a:t>
            </a:r>
            <a:r>
              <a:rPr lang="en-US" dirty="0"/>
              <a:t>= </a:t>
            </a:r>
            <a:r>
              <a:rPr lang="en-US" dirty="0" err="1"/>
              <a:t>as.factor</a:t>
            </a:r>
            <a:r>
              <a:rPr lang="en-US" dirty="0"/>
              <a:t>(</a:t>
            </a:r>
            <a:r>
              <a:rPr lang="en-US" dirty="0" err="1"/>
              <a:t>PhanNhomB</a:t>
            </a:r>
            <a:r>
              <a:rPr lang="en-US" dirty="0"/>
              <a:t>)</a:t>
            </a:r>
          </a:p>
          <a:p>
            <a:r>
              <a:rPr lang="en-US" dirty="0" err="1"/>
              <a:t>anova</a:t>
            </a:r>
            <a:r>
              <a:rPr lang="en-US" dirty="0"/>
              <a:t>(</a:t>
            </a:r>
            <a:r>
              <a:rPr lang="en-US" dirty="0" err="1"/>
              <a:t>lm</a:t>
            </a:r>
            <a:r>
              <a:rPr lang="en-US" dirty="0"/>
              <a:t>(Mau ∼ </a:t>
            </a:r>
            <a:r>
              <a:rPr lang="en-US" dirty="0" err="1"/>
              <a:t>PhanNhomA</a:t>
            </a:r>
            <a:r>
              <a:rPr lang="en-US" dirty="0"/>
              <a:t> + </a:t>
            </a:r>
            <a:r>
              <a:rPr lang="en-US" dirty="0" err="1"/>
              <a:t>PhanNhomB</a:t>
            </a:r>
            <a:r>
              <a:rPr lang="en-US" dirty="0"/>
              <a:t>))</a:t>
            </a:r>
          </a:p>
          <a:p>
            <a:r>
              <a:rPr lang="en-US" dirty="0" err="1"/>
              <a:t>anova</a:t>
            </a:r>
            <a:r>
              <a:rPr lang="en-US" dirty="0"/>
              <a:t>(</a:t>
            </a:r>
            <a:r>
              <a:rPr lang="en-US" dirty="0" err="1"/>
              <a:t>lm</a:t>
            </a:r>
            <a:r>
              <a:rPr lang="en-US" dirty="0"/>
              <a:t>(Mau ∼ </a:t>
            </a:r>
            <a:r>
              <a:rPr lang="en-US" dirty="0" err="1"/>
              <a:t>PhanNhomA</a:t>
            </a:r>
            <a:r>
              <a:rPr lang="en-US" dirty="0"/>
              <a:t> + </a:t>
            </a:r>
            <a:r>
              <a:rPr lang="en-US" dirty="0" err="1"/>
              <a:t>PhanNhomB+PhanNhomA</a:t>
            </a:r>
            <a:r>
              <a:rPr lang="en-US" dirty="0"/>
              <a:t>*</a:t>
            </a:r>
            <a:r>
              <a:rPr lang="en-US" dirty="0" err="1"/>
              <a:t>PhanNhomB</a:t>
            </a:r>
            <a:r>
              <a:rPr lang="en-US" dirty="0"/>
              <a:t>))</a:t>
            </a:r>
          </a:p>
        </p:txBody>
      </p:sp>
    </p:spTree>
    <p:extLst>
      <p:ext uri="{BB962C8B-B14F-4D97-AF65-F5344CB8AC3E}">
        <p14:creationId xmlns:p14="http://schemas.microsoft.com/office/powerpoint/2010/main" val="894231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59EC-5AA5-4373-9AF7-B8838795FC26}"/>
              </a:ext>
            </a:extLst>
          </p:cNvPr>
          <p:cNvSpPr>
            <a:spLocks noGrp="1"/>
          </p:cNvSpPr>
          <p:nvPr>
            <p:ph type="title"/>
          </p:nvPr>
        </p:nvSpPr>
        <p:spPr/>
        <p:txBody>
          <a:bodyPr/>
          <a:lstStyle/>
          <a:p>
            <a:r>
              <a:rPr lang="en-US" b="1" dirty="0" err="1">
                <a:solidFill>
                  <a:srgbClr val="0070C0"/>
                </a:solidFill>
              </a:rPr>
              <a:t>Phân</a:t>
            </a:r>
            <a:r>
              <a:rPr lang="en-US" b="1" dirty="0">
                <a:solidFill>
                  <a:srgbClr val="0070C0"/>
                </a:solidFill>
              </a:rPr>
              <a:t> </a:t>
            </a:r>
            <a:r>
              <a:rPr lang="en-US" b="1" dirty="0" err="1">
                <a:solidFill>
                  <a:srgbClr val="0070C0"/>
                </a:solidFill>
              </a:rPr>
              <a:t>tích</a:t>
            </a:r>
            <a:r>
              <a:rPr lang="en-US" b="1" dirty="0">
                <a:solidFill>
                  <a:srgbClr val="0070C0"/>
                </a:solidFill>
              </a:rPr>
              <a:t> </a:t>
            </a:r>
            <a:r>
              <a:rPr lang="en-US" b="1" dirty="0" err="1">
                <a:solidFill>
                  <a:srgbClr val="0070C0"/>
                </a:solidFill>
              </a:rPr>
              <a:t>sâu</a:t>
            </a:r>
            <a:endParaRPr lang="en-US" b="1" dirty="0">
              <a:solidFill>
                <a:srgbClr val="0070C0"/>
              </a:solidFill>
            </a:endParaRPr>
          </a:p>
        </p:txBody>
      </p:sp>
      <p:sp>
        <p:nvSpPr>
          <p:cNvPr id="3" name="Content Placeholder 2">
            <a:extLst>
              <a:ext uri="{FF2B5EF4-FFF2-40B4-BE49-F238E27FC236}">
                <a16:creationId xmlns:a16="http://schemas.microsoft.com/office/drawing/2014/main" id="{D2DD08F8-E930-435C-B9E5-0F71E51FC542}"/>
              </a:ext>
            </a:extLst>
          </p:cNvPr>
          <p:cNvSpPr>
            <a:spLocks noGrp="1"/>
          </p:cNvSpPr>
          <p:nvPr>
            <p:ph idx="1"/>
          </p:nvPr>
        </p:nvSpPr>
        <p:spPr/>
        <p:txBody>
          <a:bodyPr>
            <a:normAutofit/>
          </a:bodyPr>
          <a:lstStyle/>
          <a:p>
            <a:r>
              <a:rPr lang="vi-VN" dirty="0"/>
              <a:t>Ta dùng hàm TukeyHSD() để thực hiện phân tích sâu Two-way ANOVA</a:t>
            </a:r>
            <a:r>
              <a:rPr lang="en-US" dirty="0"/>
              <a:t> </a:t>
            </a:r>
            <a:r>
              <a:rPr lang="vi-VN" dirty="0"/>
              <a:t>trong R.</a:t>
            </a:r>
          </a:p>
          <a:p>
            <a:r>
              <a:rPr lang="vi-VN" dirty="0"/>
              <a:t>TukeyHSD (aov (Mau ∼ PhanNhomA + PhanNhomB ))</a:t>
            </a:r>
          </a:p>
          <a:p>
            <a:r>
              <a:rPr lang="vi-VN" dirty="0"/>
              <a:t>Minh họa bằng hình vẽ:</a:t>
            </a:r>
          </a:p>
          <a:p>
            <a:pPr marL="0" indent="0">
              <a:buNone/>
            </a:pPr>
            <a:r>
              <a:rPr lang="en-US" dirty="0"/>
              <a:t>	</a:t>
            </a:r>
            <a:r>
              <a:rPr lang="vi-VN" dirty="0"/>
              <a:t>plot (TukeyHSD (aov (Mau ∼ PhanNhomA)))</a:t>
            </a:r>
          </a:p>
          <a:p>
            <a:pPr marL="0" indent="0">
              <a:buNone/>
            </a:pPr>
            <a:r>
              <a:rPr lang="en-US" dirty="0"/>
              <a:t>	</a:t>
            </a:r>
            <a:r>
              <a:rPr lang="vi-VN" dirty="0"/>
              <a:t>plot (TukeyHSD (aov (Mau ∼ PhanNhomB )))</a:t>
            </a:r>
          </a:p>
          <a:p>
            <a:pPr marL="0" indent="0">
              <a:buNone/>
            </a:pPr>
            <a:r>
              <a:rPr lang="en-US" dirty="0"/>
              <a:t>	</a:t>
            </a:r>
            <a:r>
              <a:rPr lang="vi-VN" dirty="0"/>
              <a:t>plot(TukeyHSD(aov(MauGop s PhanKhoi))) Minh họa sự tương tác ta</a:t>
            </a:r>
            <a:r>
              <a:rPr lang="en-US" dirty="0"/>
              <a:t> </a:t>
            </a:r>
            <a:r>
              <a:rPr lang="vi-VN" dirty="0"/>
              <a:t>dùng hàm:</a:t>
            </a:r>
          </a:p>
          <a:p>
            <a:r>
              <a:rPr lang="vi-VN" dirty="0"/>
              <a:t>interaction.plot (PhanNhomA, PhanNhomB , Mau)</a:t>
            </a:r>
            <a:endParaRPr lang="en-US" dirty="0"/>
          </a:p>
        </p:txBody>
      </p:sp>
    </p:spTree>
    <p:extLst>
      <p:ext uri="{BB962C8B-B14F-4D97-AF65-F5344CB8AC3E}">
        <p14:creationId xmlns:p14="http://schemas.microsoft.com/office/powerpoint/2010/main" val="2753675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2BFA9-80BC-44D8-91F9-CF6904C04337}"/>
              </a:ext>
            </a:extLst>
          </p:cNvPr>
          <p:cNvSpPr>
            <a:spLocks noGrp="1"/>
          </p:cNvSpPr>
          <p:nvPr>
            <p:ph type="title"/>
          </p:nvPr>
        </p:nvSpPr>
        <p:spPr>
          <a:xfrm>
            <a:off x="838200" y="329266"/>
            <a:ext cx="10515600" cy="1325563"/>
          </a:xfrm>
        </p:spPr>
        <p:txBody>
          <a:bodyPr/>
          <a:lstStyle/>
          <a:p>
            <a:r>
              <a:rPr lang="en-US" b="1" dirty="0">
                <a:solidFill>
                  <a:srgbClr val="0070C0"/>
                </a:solidFill>
                <a:latin typeface="Times New Roman" panose="02020603050405020304" pitchFamily="18" charset="0"/>
                <a:cs typeface="Times New Roman" panose="02020603050405020304" pitchFamily="18" charset="0"/>
              </a:rPr>
              <a:t>So </a:t>
            </a:r>
            <a:r>
              <a:rPr lang="en-US" b="1" dirty="0" err="1">
                <a:solidFill>
                  <a:srgbClr val="0070C0"/>
                </a:solidFill>
                <a:latin typeface="Times New Roman" panose="02020603050405020304" pitchFamily="18" charset="0"/>
                <a:cs typeface="Times New Roman" panose="02020603050405020304" pitchFamily="18" charset="0"/>
              </a:rPr>
              <a:t>sánh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các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ph</a:t>
            </a:r>
            <a:r>
              <a:rPr lang="vi-VN" b="1" dirty="0">
                <a:solidFill>
                  <a:srgbClr val="0070C0"/>
                </a:solidFill>
                <a:latin typeface="Times New Roman" panose="02020603050405020304" pitchFamily="18" charset="0"/>
                <a:cs typeface="Times New Roman" panose="02020603050405020304" pitchFamily="18" charset="0"/>
              </a:rPr>
              <a:t>ư</a:t>
            </a:r>
            <a:r>
              <a:rPr lang="en-US" b="1" dirty="0" err="1">
                <a:solidFill>
                  <a:srgbClr val="0070C0"/>
                </a:solidFill>
                <a:latin typeface="Times New Roman" panose="02020603050405020304" pitchFamily="18" charset="0"/>
                <a:cs typeface="Times New Roman" panose="02020603050405020304" pitchFamily="18" charset="0"/>
              </a:rPr>
              <a:t>ơng</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sai</a:t>
            </a:r>
            <a:br>
              <a:rPr lang="en-US" b="1" dirty="0">
                <a:solidFill>
                  <a:srgbClr val="0070C0"/>
                </a:solidFill>
                <a:latin typeface="Times New Roman" panose="02020603050405020304" pitchFamily="18" charset="0"/>
                <a:cs typeface="Times New Roman" panose="02020603050405020304" pitchFamily="18" charset="0"/>
              </a:rPr>
            </a:br>
            <a:r>
              <a:rPr lang="en-US" sz="3000" b="1" dirty="0" err="1">
                <a:solidFill>
                  <a:srgbClr val="0070C0"/>
                </a:solidFill>
                <a:latin typeface="Times New Roman" panose="02020603050405020304" pitchFamily="18" charset="0"/>
                <a:cs typeface="Times New Roman" panose="02020603050405020304" pitchFamily="18" charset="0"/>
              </a:rPr>
              <a:t>Dùng</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khi</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dữ</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liệu</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có</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phân</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bố</a:t>
            </a:r>
            <a:r>
              <a:rPr lang="en-US" sz="3000" b="1" dirty="0">
                <a:solidFill>
                  <a:srgbClr val="0070C0"/>
                </a:solidFill>
                <a:latin typeface="Times New Roman" panose="02020603050405020304" pitchFamily="18" charset="0"/>
                <a:cs typeface="Times New Roman" panose="02020603050405020304" pitchFamily="18" charset="0"/>
              </a:rPr>
              <a:t> </a:t>
            </a:r>
            <a:r>
              <a:rPr lang="en-US" sz="3000" b="1" dirty="0" err="1">
                <a:solidFill>
                  <a:srgbClr val="0070C0"/>
                </a:solidFill>
                <a:latin typeface="Times New Roman" panose="02020603050405020304" pitchFamily="18" charset="0"/>
                <a:cs typeface="Times New Roman" panose="02020603050405020304" pitchFamily="18" charset="0"/>
              </a:rPr>
              <a:t>chuẩn</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81F9B5-23F3-4CCF-A26F-9E1CC9A82112}"/>
              </a:ext>
            </a:extLst>
          </p:cNvPr>
          <p:cNvSpPr>
            <a:spLocks noGrp="1"/>
          </p:cNvSpPr>
          <p:nvPr>
            <p:ph idx="1"/>
          </p:nvPr>
        </p:nvSpPr>
        <p:spPr/>
        <p:txBody>
          <a:bodyPr>
            <a:normAutofit fontScale="92500" lnSpcReduction="10000"/>
          </a:bodyPr>
          <a:lstStyle/>
          <a:p>
            <a:r>
              <a:rPr lang="en-US" b="1" dirty="0" err="1"/>
              <a:t>bartlett.test</a:t>
            </a:r>
            <a:r>
              <a:rPr lang="en-US" dirty="0"/>
              <a:t>(Mau ~ </a:t>
            </a:r>
            <a:r>
              <a:rPr lang="en-US" dirty="0" err="1"/>
              <a:t>PhanNhom</a:t>
            </a:r>
            <a:r>
              <a:rPr lang="en-US" dirty="0"/>
              <a:t>)</a:t>
            </a:r>
          </a:p>
          <a:p>
            <a:r>
              <a:rPr lang="en-US" dirty="0"/>
              <a:t>VD: </a:t>
            </a:r>
            <a:r>
              <a:rPr lang="en-US" dirty="0" err="1"/>
              <a:t>Có</a:t>
            </a:r>
            <a:r>
              <a:rPr lang="en-US" dirty="0"/>
              <a:t> 3 </a:t>
            </a:r>
            <a:r>
              <a:rPr lang="en-US" dirty="0" err="1"/>
              <a:t>máy</a:t>
            </a:r>
            <a:r>
              <a:rPr lang="en-US" dirty="0"/>
              <a:t> </a:t>
            </a:r>
            <a:r>
              <a:rPr lang="en-US" dirty="0" err="1"/>
              <a:t>sản</a:t>
            </a:r>
            <a:r>
              <a:rPr lang="en-US" dirty="0"/>
              <a:t> </a:t>
            </a:r>
            <a:r>
              <a:rPr lang="en-US" dirty="0" err="1"/>
              <a:t>xuất</a:t>
            </a:r>
            <a:r>
              <a:rPr lang="en-US" dirty="0"/>
              <a:t> </a:t>
            </a:r>
            <a:r>
              <a:rPr lang="en-US" dirty="0" err="1"/>
              <a:t>cùng</a:t>
            </a:r>
            <a:r>
              <a:rPr lang="en-US" dirty="0"/>
              <a:t> </a:t>
            </a:r>
            <a:r>
              <a:rPr lang="en-US" dirty="0" err="1"/>
              <a:t>một</a:t>
            </a:r>
            <a:r>
              <a:rPr lang="en-US" dirty="0"/>
              <a:t> </a:t>
            </a:r>
            <a:r>
              <a:rPr lang="en-US" dirty="0" err="1"/>
              <a:t>loại</a:t>
            </a:r>
            <a:r>
              <a:rPr lang="en-US" dirty="0"/>
              <a:t> </a:t>
            </a:r>
            <a:r>
              <a:rPr lang="en-US" dirty="0" err="1"/>
              <a:t>linh</a:t>
            </a:r>
            <a:r>
              <a:rPr lang="en-US" dirty="0"/>
              <a:t> </a:t>
            </a:r>
            <a:r>
              <a:rPr lang="en-US" dirty="0" err="1"/>
              <a:t>kiện</a:t>
            </a:r>
            <a:r>
              <a:rPr lang="en-US" dirty="0"/>
              <a:t> </a:t>
            </a:r>
            <a:r>
              <a:rPr lang="en-US" dirty="0" err="1"/>
              <a:t>điện</a:t>
            </a:r>
            <a:r>
              <a:rPr lang="en-US" dirty="0"/>
              <a:t> </a:t>
            </a:r>
            <a:r>
              <a:rPr lang="en-US" dirty="0" err="1"/>
              <a:t>tử</a:t>
            </a:r>
            <a:r>
              <a:rPr lang="en-US" dirty="0"/>
              <a:t>. </a:t>
            </a:r>
            <a:r>
              <a:rPr lang="en-US" dirty="0" err="1"/>
              <a:t>Thời</a:t>
            </a:r>
            <a:r>
              <a:rPr lang="en-US" dirty="0"/>
              <a:t> </a:t>
            </a:r>
            <a:r>
              <a:rPr lang="en-US" dirty="0" err="1"/>
              <a:t>gian</a:t>
            </a:r>
            <a:r>
              <a:rPr lang="en-US" dirty="0"/>
              <a:t> </a:t>
            </a:r>
            <a:r>
              <a:rPr lang="en-US" dirty="0" err="1"/>
              <a:t>sản</a:t>
            </a:r>
            <a:r>
              <a:rPr lang="en-US" dirty="0"/>
              <a:t> </a:t>
            </a:r>
            <a:r>
              <a:rPr lang="en-US" dirty="0" err="1"/>
              <a:t>xuất</a:t>
            </a:r>
            <a:r>
              <a:rPr lang="en-US" dirty="0"/>
              <a:t> </a:t>
            </a:r>
            <a:r>
              <a:rPr lang="en-US" dirty="0" err="1"/>
              <a:t>nh</a:t>
            </a:r>
            <a:r>
              <a:rPr lang="vi-VN" dirty="0"/>
              <a:t>ư</a:t>
            </a:r>
            <a:r>
              <a:rPr lang="en-US" dirty="0"/>
              <a:t> </a:t>
            </a:r>
            <a:r>
              <a:rPr lang="en-US" dirty="0" err="1"/>
              <a:t>sau</a:t>
            </a:r>
            <a:r>
              <a:rPr lang="en-US" dirty="0"/>
              <a:t>:</a:t>
            </a:r>
          </a:p>
          <a:p>
            <a:r>
              <a:rPr lang="en-US" dirty="0" err="1"/>
              <a:t>Máy</a:t>
            </a:r>
            <a:r>
              <a:rPr lang="en-US" dirty="0"/>
              <a:t> 1: 5.8, 6.2, 5.4, 6.0</a:t>
            </a:r>
          </a:p>
          <a:p>
            <a:r>
              <a:rPr lang="en-US" dirty="0" err="1"/>
              <a:t>Máy</a:t>
            </a:r>
            <a:r>
              <a:rPr lang="en-US" dirty="0"/>
              <a:t> 2: 5.2, 5.3, 5.4, 5.6</a:t>
            </a:r>
          </a:p>
          <a:p>
            <a:r>
              <a:rPr lang="en-US" dirty="0" err="1"/>
              <a:t>Máy</a:t>
            </a:r>
            <a:r>
              <a:rPr lang="en-US" dirty="0"/>
              <a:t> 3: 6.2, 5.7, 5.5, 6.1</a:t>
            </a:r>
          </a:p>
          <a:p>
            <a:r>
              <a:rPr lang="en-US" dirty="0"/>
              <a:t>Mau = c(5.8, 6.2, 5.4, 6.0,</a:t>
            </a:r>
            <a:br>
              <a:rPr lang="en-US" dirty="0"/>
            </a:br>
            <a:r>
              <a:rPr lang="en-US" dirty="0"/>
              <a:t>5.2, 5.3, 5.4, 5.6,</a:t>
            </a:r>
            <a:br>
              <a:rPr lang="en-US" dirty="0"/>
            </a:br>
            <a:r>
              <a:rPr lang="en-US" dirty="0"/>
              <a:t>6.2, 5.7, 5.5, 6.1)</a:t>
            </a:r>
            <a:br>
              <a:rPr lang="en-US" dirty="0"/>
            </a:br>
            <a:br>
              <a:rPr lang="en-US" dirty="0"/>
            </a:br>
            <a:r>
              <a:rPr lang="en-US" dirty="0" err="1"/>
              <a:t>PhanMay</a:t>
            </a:r>
            <a:r>
              <a:rPr lang="en-US" dirty="0"/>
              <a:t> = rep(c(1,2,3), c(4,4,4))</a:t>
            </a:r>
            <a:br>
              <a:rPr lang="en-US" dirty="0"/>
            </a:br>
            <a:r>
              <a:rPr lang="en-US" dirty="0" err="1"/>
              <a:t>PhanMay</a:t>
            </a:r>
            <a:r>
              <a:rPr lang="en-US" dirty="0"/>
              <a:t> = </a:t>
            </a:r>
            <a:r>
              <a:rPr lang="en-US" dirty="0" err="1"/>
              <a:t>as.factor</a:t>
            </a:r>
            <a:r>
              <a:rPr lang="en-US" dirty="0"/>
              <a:t>(</a:t>
            </a:r>
            <a:r>
              <a:rPr lang="en-US" dirty="0" err="1"/>
              <a:t>PhanMay</a:t>
            </a:r>
            <a:r>
              <a:rPr lang="en-US" dirty="0"/>
              <a:t>)</a:t>
            </a:r>
            <a:br>
              <a:rPr lang="en-US" dirty="0"/>
            </a:br>
            <a:br>
              <a:rPr lang="en-US" dirty="0"/>
            </a:br>
            <a:r>
              <a:rPr lang="en-US" dirty="0" err="1"/>
              <a:t>bartlett.test</a:t>
            </a:r>
            <a:r>
              <a:rPr lang="en-US" dirty="0"/>
              <a:t>(Mau ~ </a:t>
            </a:r>
            <a:r>
              <a:rPr lang="en-US" dirty="0" err="1"/>
              <a:t>PhanMay</a:t>
            </a:r>
            <a:r>
              <a:rPr lang="en-US" dirty="0"/>
              <a:t>)</a:t>
            </a:r>
          </a:p>
          <a:p>
            <a:endParaRPr lang="en-US" dirty="0"/>
          </a:p>
        </p:txBody>
      </p:sp>
    </p:spTree>
    <p:extLst>
      <p:ext uri="{BB962C8B-B14F-4D97-AF65-F5344CB8AC3E}">
        <p14:creationId xmlns:p14="http://schemas.microsoft.com/office/powerpoint/2010/main" val="801848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887A-7568-4656-B6B4-1EA460CFBD91}"/>
              </a:ext>
            </a:extLst>
          </p:cNvPr>
          <p:cNvSpPr>
            <a:spLocks noGrp="1"/>
          </p:cNvSpPr>
          <p:nvPr>
            <p:ph type="title"/>
          </p:nvPr>
        </p:nvSpPr>
        <p:spPr/>
        <p:txBody>
          <a:bodyPr/>
          <a:lstStyle/>
          <a:p>
            <a:r>
              <a:rPr lang="en-US" dirty="0" err="1"/>
              <a:t>Khi</a:t>
            </a:r>
            <a:r>
              <a:rPr lang="en-US" dirty="0"/>
              <a:t> </a:t>
            </a:r>
            <a:r>
              <a:rPr lang="en-US" dirty="0" err="1"/>
              <a:t>dữ</a:t>
            </a:r>
            <a:r>
              <a:rPr lang="en-US" dirty="0"/>
              <a:t> </a:t>
            </a:r>
            <a:r>
              <a:rPr lang="en-US" dirty="0" err="1"/>
              <a:t>liệu</a:t>
            </a:r>
            <a:r>
              <a:rPr lang="en-US" dirty="0"/>
              <a:t> </a:t>
            </a:r>
            <a:r>
              <a:rPr lang="en-US" dirty="0" err="1"/>
              <a:t>không</a:t>
            </a:r>
            <a:r>
              <a:rPr lang="en-US" dirty="0"/>
              <a:t> </a:t>
            </a:r>
            <a:r>
              <a:rPr lang="en-US" dirty="0" err="1"/>
              <a:t>có</a:t>
            </a:r>
            <a:r>
              <a:rPr lang="en-US" dirty="0"/>
              <a:t> </a:t>
            </a:r>
            <a:r>
              <a:rPr lang="en-US" dirty="0" err="1"/>
              <a:t>phân</a:t>
            </a:r>
            <a:r>
              <a:rPr lang="en-US" dirty="0"/>
              <a:t> </a:t>
            </a:r>
            <a:r>
              <a:rPr lang="en-US" dirty="0" err="1"/>
              <a:t>bố</a:t>
            </a:r>
            <a:r>
              <a:rPr lang="en-US" dirty="0"/>
              <a:t> </a:t>
            </a:r>
            <a:r>
              <a:rPr lang="en-US" dirty="0" err="1"/>
              <a:t>chuẩn</a:t>
            </a:r>
            <a:endParaRPr lang="en-US" dirty="0"/>
          </a:p>
        </p:txBody>
      </p:sp>
      <p:sp>
        <p:nvSpPr>
          <p:cNvPr id="3" name="Content Placeholder 2">
            <a:extLst>
              <a:ext uri="{FF2B5EF4-FFF2-40B4-BE49-F238E27FC236}">
                <a16:creationId xmlns:a16="http://schemas.microsoft.com/office/drawing/2014/main" id="{8976DB1C-FC0F-4F2E-9A83-6D4EF5BA8985}"/>
              </a:ext>
            </a:extLst>
          </p:cNvPr>
          <p:cNvSpPr>
            <a:spLocks noGrp="1"/>
          </p:cNvSpPr>
          <p:nvPr>
            <p:ph idx="1"/>
          </p:nvPr>
        </p:nvSpPr>
        <p:spPr/>
        <p:txBody>
          <a:bodyPr/>
          <a:lstStyle/>
          <a:p>
            <a:pPr marL="0" indent="0">
              <a:buNone/>
            </a:pPr>
            <a:r>
              <a:rPr lang="en-US" dirty="0"/>
              <a:t>library(car)</a:t>
            </a:r>
            <a:br>
              <a:rPr lang="en-US" dirty="0"/>
            </a:br>
            <a:r>
              <a:rPr lang="en-US" dirty="0" err="1"/>
              <a:t>leveneTest</a:t>
            </a:r>
            <a:r>
              <a:rPr lang="en-US" dirty="0"/>
              <a:t>(Mau ~ </a:t>
            </a:r>
            <a:r>
              <a:rPr lang="en-US" dirty="0" err="1"/>
              <a:t>PhanMayA</a:t>
            </a:r>
            <a:r>
              <a:rPr lang="en-US" dirty="0"/>
              <a:t>)</a:t>
            </a:r>
          </a:p>
        </p:txBody>
      </p:sp>
    </p:spTree>
    <p:extLst>
      <p:ext uri="{BB962C8B-B14F-4D97-AF65-F5344CB8AC3E}">
        <p14:creationId xmlns:p14="http://schemas.microsoft.com/office/powerpoint/2010/main" val="3681172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137</TotalTime>
  <Words>390</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Tahoma</vt:lpstr>
      <vt:lpstr>Times New Roman</vt:lpstr>
      <vt:lpstr>Trebuchet MS</vt:lpstr>
      <vt:lpstr>Wingdings 3</vt:lpstr>
      <vt:lpstr>Facet</vt:lpstr>
      <vt:lpstr>     PHÂN TÍCH PHƯƠNG SAI SO SÁNH NHIỀU PHƯƠNG SAI </vt:lpstr>
      <vt:lpstr>PHÂN TÍCH PHƯƠNG SAI: So sánh nhiều giá trị trung bình phân bố chuẩn, phương sai như nhau</vt:lpstr>
      <vt:lpstr>Một nhân tố </vt:lpstr>
      <vt:lpstr>Hai nhân tố Bài toán: So sánh năng suất trung bình của giống lúa có như nhau không?                 So sánh năng suất trung bình có như nhau khi bón hai loại phân không?                 Có sự tương tác giữa năng suất và loại phân bón hay không?  </vt:lpstr>
      <vt:lpstr>PowerPoint Presentation</vt:lpstr>
      <vt:lpstr>Phân tích sâu</vt:lpstr>
      <vt:lpstr>So sánh các phương sai Dùng khi dữ liệu có phân bố chuẩn</vt:lpstr>
      <vt:lpstr>Khi dữ liệu không có phân bố chuẩn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PHƯƠNG SAI SO SÁNH NHIỀU PHƯƠNG SAI</dc:title>
  <dc:creator>Admin</dc:creator>
  <cp:lastModifiedBy>Admin</cp:lastModifiedBy>
  <cp:revision>9</cp:revision>
  <dcterms:created xsi:type="dcterms:W3CDTF">2026-03-15T09:11:22Z</dcterms:created>
  <dcterms:modified xsi:type="dcterms:W3CDTF">2026-03-16T13:35:47Z</dcterms:modified>
</cp:coreProperties>
</file>